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轻院二手交易平台</a:t>
            </a:r>
          </a:p>
          <a:p>
            <a:endParaRPr lang="zh-CN" dirty="0"/>
          </a:p>
          <a:p>
            <a:r>
              <a:rPr lang="zh-CN" dirty="0"/>
              <a:t>尊敬的各位老师，大家好。我是来自广东轻工职业技术学院的毕业生，今天我为大家汇报的毕业设计项目是"轻院二手交易平台"。这是一个基于Spring Boot后端、Vue3管理端和微信小程序前端的校园二手物品交易平台，目前核心功能已完成98%，处于答辩就绪状态。</a:t>
            </a:r>
          </a:p>
          <a:p>
            <a:endParaRPr lang="zh-CN" dirty="0"/>
          </a:p>
          <a:p>
            <a:r>
              <a:rPr lang="zh-CN" dirty="0"/>
              <a:t>时间控制: 30秒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为什么做这个项目？</a:t>
            </a:r>
          </a:p>
          <a:p>
            <a:endParaRPr lang="zh-CN" dirty="0"/>
          </a:p>
          <a:p>
            <a:r>
              <a:rPr lang="zh-CN" dirty="0"/>
              <a:t>在校园场景中，二手交易存在四大痛点。首先是信息分散，78%的同学通过QQ群、朋友圈等非正式渠道发布和获取二手信息，效率极低。其次是信任缺失，65%的用户担心交易安全，无法确认对方是否为本校学生。第三是效率低下，52%的交易需要线下蹲点摆摊。最后是毕业浪费，每年毕业季有43%的闲置物品因无法及时转让而被丢弃。平台面向5000+潜在用户，市场空间明确。</a:t>
            </a:r>
          </a:p>
          <a:p>
            <a:endParaRPr lang="zh-CN" dirty="0"/>
          </a:p>
          <a:p>
            <a:r>
              <a:rPr lang="zh-CN" dirty="0"/>
              <a:t>过渡语: 针对这些痛点，我们来看一下技术方案。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技术选型与系统架构</a:t>
            </a:r>
          </a:p>
          <a:p>
            <a:endParaRPr lang="zh-CN" dirty="0"/>
          </a:p>
          <a:p>
            <a:r>
              <a:rPr lang="zh-CN" dirty="0"/>
              <a:t>系统采用经典的三层架构。最上层是微信小程序客户端，使用uni-app框架开发，支持跨平台。中间层是后端服务，基于Spring Boot 3.3.7和Java 17，提供RESTful API。最下层是数据层，MySQL 8.0作为主数据库，Redis 7.0负责缓存和分布式锁。</a:t>
            </a:r>
          </a:p>
          <a:p>
            <a:endParaRPr lang="zh-CN" dirty="0"/>
          </a:p>
          <a:p>
            <a:r>
              <a:rPr lang="zh-CN" dirty="0"/>
              <a:t>技术亮点方面：使用JWT实现双端独立认证，WebSocket自建即时通讯系统，Redis多级缓存策略，@Scheduled实现7大定时任务，Redis分布式锁防并发，BCrypt密码加密。</a:t>
            </a:r>
          </a:p>
          <a:p>
            <a:endParaRPr lang="zh-CN" dirty="0"/>
          </a:p>
          <a:p>
            <a:r>
              <a:rPr lang="zh-CN" dirty="0"/>
              <a:t>过渡语: 接下来看用户端的具体功能。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用户端核心功能</a:t>
            </a:r>
          </a:p>
          <a:p>
            <a:endParaRPr lang="zh-CN" dirty="0"/>
          </a:p>
          <a:p>
            <a:r>
              <a:rPr lang="zh-CN" dirty="0"/>
              <a:t>用户端实现了9大核心模块，共42个API接口。</a:t>
            </a:r>
          </a:p>
          <a:p>
            <a:endParaRPr lang="zh-CN" dirty="0"/>
          </a:p>
          <a:p>
            <a:r>
              <a:rPr lang="zh-CN" dirty="0"/>
              <a:t>1. 微信登录：一键授权，自动创建账户</a:t>
            </a:r>
          </a:p>
          <a:p>
            <a:r>
              <a:rPr lang="zh-CN" dirty="0"/>
              <a:t>2. 校园认证：学生身份验证，建立信任体系</a:t>
            </a:r>
          </a:p>
          <a:p>
            <a:r>
              <a:rPr lang="zh-CN" dirty="0"/>
              <a:t>3. 商品发布：支持多图上传，分类选择</a:t>
            </a:r>
          </a:p>
          <a:p>
            <a:r>
              <a:rPr lang="zh-CN" dirty="0"/>
              <a:t>4. 智能搜索：按关键词、分类、校区筛选</a:t>
            </a:r>
          </a:p>
          <a:p>
            <a:r>
              <a:rPr lang="zh-CN" dirty="0"/>
              <a:t>5. 即时通讯：WebSocket实时聊天，支持商品卡片消息</a:t>
            </a:r>
          </a:p>
          <a:p>
            <a:r>
              <a:rPr lang="zh-CN" dirty="0"/>
              <a:t>6. 订单管理：完整交易流程，双向确认机制</a:t>
            </a:r>
          </a:p>
          <a:p>
            <a:r>
              <a:rPr lang="zh-CN" dirty="0"/>
              <a:t>7. 互评系统：三维度评分（描述、态度、体验）</a:t>
            </a:r>
          </a:p>
          <a:p>
            <a:r>
              <a:rPr lang="zh-CN" dirty="0"/>
              <a:t>8. 收藏关注：商品收藏和卖家关注</a:t>
            </a:r>
          </a:p>
          <a:p>
            <a:r>
              <a:rPr lang="zh-CN" dirty="0"/>
              <a:t>9. 消息中心：站内通知，评价提醒</a:t>
            </a:r>
          </a:p>
          <a:p>
            <a:endParaRPr lang="zh-CN" dirty="0"/>
          </a:p>
          <a:p>
            <a:r>
              <a:rPr lang="zh-CN" dirty="0"/>
              <a:t>过渡语: 接下来看管理端功能。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管理端功能与数据概览</a:t>
            </a:r>
          </a:p>
          <a:p>
            <a:endParaRPr lang="zh-CN" dirty="0"/>
          </a:p>
          <a:p>
            <a:r>
              <a:rPr lang="zh-CN" dirty="0"/>
              <a:t>管理端基于Vue3 + Element Plus + ECharts开发，主要包含三大模块：</a:t>
            </a:r>
          </a:p>
          <a:p>
            <a:endParaRPr lang="zh-CN" dirty="0"/>
          </a:p>
          <a:p>
            <a:r>
              <a:rPr lang="zh-CN" dirty="0"/>
              <a:t>审核模块：商品审核、校园认证审核、举报处理</a:t>
            </a:r>
          </a:p>
          <a:p>
            <a:r>
              <a:rPr lang="zh-CN" dirty="0"/>
              <a:t>管理模块：用户管理（5247人，月增12.5%）、商品管理（1839件）、订单管理（892笔）、评价管理（654条）</a:t>
            </a:r>
          </a:p>
          <a:p>
            <a:r>
              <a:rPr lang="zh-CN" dirty="0"/>
              <a:t>配置模块：轮播图、分类、公告管理</a:t>
            </a:r>
          </a:p>
          <a:p>
            <a:endParaRPr lang="zh-CN" dirty="0"/>
          </a:p>
          <a:p>
            <a:r>
              <a:rPr lang="zh-CN" dirty="0"/>
              <a:t>右侧数据面板实时展示核心指标趋势，支持7日趋势折线图、分类饼图等可视化。目前平台数据稳步增长。</a:t>
            </a:r>
          </a:p>
          <a:p>
            <a:endParaRPr lang="zh-CN" dirty="0"/>
          </a:p>
          <a:p>
            <a:r>
              <a:rPr lang="zh-CN" dirty="0"/>
              <a:t>过渡语: 接下来看核心业务流程设计。</a:t>
            </a:r>
          </a:p>
          <a:p>
            <a:endParaRPr lang="zh-CN" dirty="0"/>
          </a:p>
          <a:p>
            <a:r>
              <a:rPr lang="zh-CN" dirty="0"/>
              <a:t>时间控制: 1分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完整交易闭环流程</a:t>
            </a:r>
          </a:p>
          <a:p>
            <a:endParaRPr lang="zh-CN" dirty="0"/>
          </a:p>
          <a:p>
            <a:r>
              <a:rPr lang="zh-CN" dirty="0"/>
              <a:t>交易流程共7个步骤，形成完整闭环：</a:t>
            </a:r>
          </a:p>
          <a:p>
            <a:endParaRPr lang="zh-CN" dirty="0"/>
          </a:p>
          <a:p>
            <a:r>
              <a:rPr lang="zh-CN" dirty="0"/>
              <a:t>1. 买家点击"我想要"，跳转IM聊天并自动发送商品卡片</a:t>
            </a:r>
          </a:p>
          <a:p>
            <a:r>
              <a:rPr lang="zh-CN" dirty="0"/>
              <a:t>2. 双方沟通协商，确认最终价格和面交时间地点</a:t>
            </a:r>
          </a:p>
          <a:p>
            <a:r>
              <a:rPr lang="zh-CN" dirty="0"/>
              <a:t>3. 创建订单，启动72小时计时，使用Redis分布式锁防并发</a:t>
            </a:r>
          </a:p>
          <a:p>
            <a:r>
              <a:rPr lang="zh-CN" dirty="0"/>
              <a:t>4. 卖家确认接单，状态从"待接单"变为"待面交"</a:t>
            </a:r>
          </a:p>
          <a:p>
            <a:r>
              <a:rPr lang="zh-CN" dirty="0"/>
              <a:t>5. 双向确认面交（核心创新点）：卖家和买家各自确认，双方都确认后自动完成交易</a:t>
            </a:r>
          </a:p>
          <a:p>
            <a:r>
              <a:rPr lang="zh-CN" dirty="0"/>
              <a:t>6. 交易后互评，7天评价窗口，三维度评分</a:t>
            </a:r>
          </a:p>
          <a:p>
            <a:r>
              <a:rPr lang="zh-CN" dirty="0"/>
              <a:t>7. 流程结束，用户信誉分更新</a:t>
            </a:r>
          </a:p>
          <a:p>
            <a:endParaRPr lang="zh-CN" dirty="0"/>
          </a:p>
          <a:p>
            <a:r>
              <a:rPr lang="zh-CN" dirty="0"/>
              <a:t>平均交易周期3.5天，完成率87.3%，好评率92.1%。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自建WebSocket即时通讯方案</a:t>
            </a:r>
          </a:p>
          <a:p>
            <a:endParaRPr lang="zh-CN" dirty="0"/>
          </a:p>
          <a:p>
            <a:r>
              <a:rPr lang="zh-CN" dirty="0"/>
              <a:t>IM系统是本项目的技术亮点之一，完全自建，不依赖第三方IM服务。</a:t>
            </a:r>
          </a:p>
          <a:p>
            <a:endParaRPr lang="zh-CN" dirty="0"/>
          </a:p>
          <a:p>
            <a:r>
              <a:rPr lang="zh-CN" dirty="0"/>
              <a:t>架构流程：客户端通过ws://host/ws连接WebSocket Server，服务端接收到消息后通过分发器路由到对应的消息处理器（ChatHandler处理聊天、ReadHandler处理已读回执、PingHandler处理心跳）。</a:t>
            </a:r>
          </a:p>
          <a:p>
            <a:endParaRPr lang="zh-CN" dirty="0"/>
          </a:p>
          <a:p>
            <a:r>
              <a:rPr lang="zh-CN" dirty="0"/>
              <a:t>四大核心特性：</a:t>
            </a:r>
          </a:p>
          <a:p>
            <a:r>
              <a:rPr lang="zh-CN" dirty="0"/>
              <a:t>1. 握手鉴权：ChatHandshakeInterceptor在连接时验证JWT Token，封号用户拒绝连接</a:t>
            </a:r>
          </a:p>
          <a:p>
            <a:r>
              <a:rPr lang="zh-CN" dirty="0"/>
              <a:t>2. 消息持久化：chat_message表存储全部消息，支持无限回溯，最近50条热数据缓存</a:t>
            </a:r>
          </a:p>
          <a:p>
            <a:r>
              <a:rPr lang="zh-CN" dirty="0"/>
              <a:t>3. 心跳保活：30秒PING/PONG，Redis Key TTL 60秒，超时强制断开</a:t>
            </a:r>
          </a:p>
          <a:p>
            <a:r>
              <a:rPr lang="zh-CN" dirty="0"/>
              <a:t>4. 离线消息：接收方不在线时Redis未读数+1，上线自动拉取</a:t>
            </a:r>
          </a:p>
          <a:p>
            <a:endParaRPr lang="zh-CN" dirty="0"/>
          </a:p>
          <a:p>
            <a:r>
              <a:rPr lang="zh-CN" dirty="0"/>
              <a:t>性能指标：并发500+，延迟小于50ms，推送成功率99.2%。</a:t>
            </a:r>
          </a:p>
          <a:p>
            <a:endParaRPr lang="zh-CN" dirty="0"/>
          </a:p>
          <a:p>
            <a:r>
              <a:rPr lang="zh-CN" dirty="0"/>
              <a:t>时间控制: 2分钟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数据库设计与核心表结构</a:t>
            </a:r>
          </a:p>
          <a:p>
            <a:endParaRPr lang="zh-CN" dirty="0"/>
          </a:p>
          <a:p>
            <a:r>
              <a:rPr lang="zh-CN" dirty="0"/>
              <a:t>数据库共22张表（业务表14张 + 配置表8张），286个字段，45个组合索引。</a:t>
            </a:r>
          </a:p>
          <a:p>
            <a:endParaRPr lang="zh-CN" dirty="0"/>
          </a:p>
          <a:p>
            <a:r>
              <a:rPr lang="zh-CN" dirty="0"/>
              <a:t>ER关系核心设计：</a:t>
            </a:r>
          </a:p>
          <a:p>
            <a:r>
              <a:rPr lang="zh-CN" dirty="0"/>
              <a:t>• user表是中心节点，关联product（1:N）、trade_order（1:N）、campus_auth（1:1）</a:t>
            </a:r>
          </a:p>
          <a:p>
            <a:r>
              <a:rPr lang="zh-CN" dirty="0"/>
              <a:t>• trade_order关联review（1:2，买卖双方各一条评价）</a:t>
            </a:r>
          </a:p>
          <a:p>
            <a:r>
              <a:rPr lang="zh-CN" dirty="0"/>
              <a:t>• IM系统包含chat_session和chat_message两张表</a:t>
            </a:r>
          </a:p>
          <a:p>
            <a:endParaRPr lang="zh-CN" dirty="0"/>
          </a:p>
          <a:p>
            <a:r>
              <a:rPr lang="zh-CN" dirty="0"/>
              <a:t>核心表亮点：</a:t>
            </a:r>
          </a:p>
          <a:p>
            <a:r>
              <a:rPr lang="zh-CN" dirty="0"/>
              <a:t>• user表：15字段，包含综合评分score、认证状态auth_status</a:t>
            </a:r>
          </a:p>
          <a:p>
            <a:r>
              <a:rPr lang="zh-CN" dirty="0"/>
              <a:t>• trade_order表：17字段，设计了seller_confirmed和buyer_confirmed双向确认字段</a:t>
            </a:r>
          </a:p>
          <a:p>
            <a:r>
              <a:rPr lang="zh-CN" dirty="0"/>
              <a:t>• campus_auth：主表+auth_history历史表，支持全轨迹回溯和版本对比</a:t>
            </a:r>
          </a:p>
          <a:p>
            <a:endParaRPr lang="zh-CN" dirty="0"/>
          </a:p>
          <a:p>
            <a:r>
              <a:rPr lang="zh-CN" dirty="0"/>
              <a:t>当前数据：用户5247、商品1839、订单892、消息12345。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七层安全防护体系</a:t>
            </a:r>
          </a:p>
          <a:p>
            <a:endParaRPr lang="zh-CN" dirty="0"/>
          </a:p>
          <a:p>
            <a:r>
              <a:rPr lang="zh-CN" dirty="0"/>
              <a:t>安全是本项目的重点设计，建立了七层纵深防御体系：</a:t>
            </a:r>
          </a:p>
          <a:p>
            <a:endParaRPr lang="zh-CN" dirty="0"/>
          </a:p>
          <a:p>
            <a:r>
              <a:rPr lang="zh-CN" dirty="0"/>
              <a:t>1. JWT认证：双端独立Token，24小时有效期，Interceptor拦截</a:t>
            </a:r>
          </a:p>
          <a:p>
            <a:r>
              <a:rPr lang="zh-CN" dirty="0"/>
              <a:t>2. BCrypt密码加密：自适应哈希，自动加盐，无法逆向破解</a:t>
            </a:r>
          </a:p>
          <a:p>
            <a:r>
              <a:rPr lang="zh-CN" dirty="0"/>
              <a:t>3. 防暴力破解：登录失败5次锁定15分钟，Redis计数器</a:t>
            </a:r>
          </a:p>
          <a:p>
            <a:r>
              <a:rPr lang="zh-CN" dirty="0"/>
              <a:t>4. SQL注入防护：MyBatis-Plus #{}参数绑定，LambdaQueryWrapper天然防注入</a:t>
            </a:r>
          </a:p>
          <a:p>
            <a:r>
              <a:rPr lang="zh-CN" dirty="0"/>
              <a:t>5. XSS跨站脚本防护：前后端双重校验，输出HTML实体编码</a:t>
            </a:r>
          </a:p>
          <a:p>
            <a:r>
              <a:rPr lang="zh-CN" dirty="0"/>
              <a:t>6. Redis分布式锁：订单创建防并发，30秒TTL自动释放</a:t>
            </a:r>
          </a:p>
          <a:p>
            <a:r>
              <a:rPr lang="zh-CN" dirty="0"/>
              <a:t>7. 越权防护：水平越权强制用户ID过滤，垂直越权管理员独立拦截器</a:t>
            </a:r>
          </a:p>
          <a:p>
            <a:endParaRPr lang="zh-CN" dirty="0"/>
          </a:p>
          <a:p>
            <a:r>
              <a:rPr lang="zh-CN" dirty="0"/>
              <a:t>安全事件统计：SQL注入拦截0次（说明防护有效），异常登录已拦截23次。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7大自动化定时任务</a:t>
            </a:r>
          </a:p>
          <a:p>
            <a:endParaRPr lang="zh-CN" dirty="0"/>
          </a:p>
          <a:p>
            <a:r>
              <a:rPr lang="zh-CN" dirty="0"/>
              <a:t>系统运行7个定时任务，全部通过application.yml可独立开关控制：</a:t>
            </a:r>
          </a:p>
          <a:p>
            <a:endParaRPr lang="zh-CN" dirty="0"/>
          </a:p>
          <a:p>
            <a:r>
              <a:rPr lang="zh-CN" dirty="0"/>
              <a:t>1. 订单超时取消：每5分钟检查，72小时未面交自动取消，恢复商品在售状态</a:t>
            </a:r>
          </a:p>
          <a:p>
            <a:r>
              <a:rPr lang="zh-CN" dirty="0"/>
              <a:t>2. 订单自动确认：凌晨2:00执行，创建后7天未确认自动完成，保障卖家权益</a:t>
            </a:r>
          </a:p>
          <a:p>
            <a:r>
              <a:rPr lang="zh-CN" dirty="0"/>
              <a:t>3. 自动好评：凌晨3:00执行，交易完成7天未评价默认好评，三维5分</a:t>
            </a:r>
          </a:p>
          <a:p>
            <a:r>
              <a:rPr lang="zh-CN" dirty="0"/>
              <a:t>4. 评价提醒：上午10:00执行，完成第3天仍未评价则提醒，每笔仅提醒1次</a:t>
            </a:r>
          </a:p>
          <a:p>
            <a:r>
              <a:rPr lang="zh-CN" dirty="0"/>
              <a:t>5. 商品自动下架：凌晨4:00执行，发布后90天自动下架，保持信息时效性</a:t>
            </a:r>
          </a:p>
          <a:p>
            <a:r>
              <a:rPr lang="zh-CN" dirty="0"/>
              <a:t>6. 注销账号清理：凌晨5:00执行，申请注销后30天数据清理</a:t>
            </a:r>
          </a:p>
          <a:p>
            <a:r>
              <a:rPr lang="zh-CN" dirty="0"/>
              <a:t>7. WebSocket心跳检测：每30秒扫描，超时强制断开</a:t>
            </a:r>
          </a:p>
          <a:p>
            <a:endParaRPr lang="zh-CN" dirty="0"/>
          </a:p>
          <a:p>
            <a:r>
              <a:rPr lang="zh-CN" dirty="0"/>
              <a:t>今日总执行328次，任务成功率99.7%。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Redis多级缓存优化策略</a:t>
            </a:r>
          </a:p>
          <a:p>
            <a:endParaRPr lang="zh-CN" dirty="0"/>
          </a:p>
          <a:p>
            <a:r>
              <a:rPr lang="zh-CN" dirty="0"/>
              <a:t>缓存是性能优化的核心手段。我们建立了4大类缓存Key体系：</a:t>
            </a:r>
          </a:p>
          <a:p>
            <a:endParaRPr lang="zh-CN" dirty="0"/>
          </a:p>
          <a:p>
            <a:r>
              <a:rPr lang="zh-CN" dirty="0"/>
              <a:t>业务缓存（2180 keys）：商品详情TTL 30min、列表TTL 10min、用户信息TTL 1h、订单详情TTL 15min</a:t>
            </a:r>
          </a:p>
          <a:p>
            <a:r>
              <a:rPr lang="zh-CN" dirty="0"/>
              <a:t>会话缓存（1520 keys）：心跳TTL 60s、未读计数、热数据TTL 24h</a:t>
            </a:r>
          </a:p>
          <a:p>
            <a:r>
              <a:rPr lang="zh-CN" dirty="0"/>
              <a:t>安全缓存（890 keys）：登录失败计数、分布式锁、Token黑名单</a:t>
            </a:r>
          </a:p>
          <a:p>
            <a:r>
              <a:rPr lang="zh-CN" dirty="0"/>
              <a:t>配置缓存（657 keys）：轮播图、分类、公告，TTL 2h</a:t>
            </a:r>
          </a:p>
          <a:p>
            <a:endParaRPr lang="zh-CN" dirty="0"/>
          </a:p>
          <a:p>
            <a:r>
              <a:rPr lang="zh-CN" dirty="0"/>
              <a:t>四大缓存策略：</a:t>
            </a:r>
          </a:p>
          <a:p>
            <a:r>
              <a:rPr lang="zh-CN" dirty="0"/>
              <a:t>1. Cache-Aside模式：读miss查DB回填，写更新DB删缓存</a:t>
            </a:r>
          </a:p>
          <a:p>
            <a:r>
              <a:rPr lang="zh-CN" dirty="0"/>
              <a:t>2. 防缓存穿透：布隆过滤器 + 空值缓存，拦截率99.2%</a:t>
            </a:r>
          </a:p>
          <a:p>
            <a:r>
              <a:rPr lang="zh-CN" dirty="0"/>
              <a:t>3. 防缓存雪崩：TTL加随机偏移，热点数据异步刷新，零雪崩事故</a:t>
            </a:r>
          </a:p>
          <a:p>
            <a:r>
              <a:rPr lang="zh-CN" dirty="0"/>
              <a:t>4. 主动失效：数据变更立即删除，级联失效延迟小于10ms</a:t>
            </a:r>
          </a:p>
          <a:p>
            <a:endParaRPr lang="zh-CN" dirty="0"/>
          </a:p>
          <a:p>
            <a:r>
              <a:rPr lang="zh-CN" dirty="0"/>
              <a:t>性能提升：无缓存45ms → 有缓存3ms，提升15倍，QPS 1200+。</a:t>
            </a:r>
          </a:p>
          <a:p>
            <a:endParaRPr lang="zh-CN" dirty="0"/>
          </a:p>
          <a:p>
            <a:r>
              <a:rPr lang="zh-CN" dirty="0"/>
              <a:t>时间控制: 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开发完成度与核心成果</a:t>
            </a:r>
          </a:p>
          <a:p>
            <a:endParaRPr lang="zh-CN" dirty="0"/>
          </a:p>
          <a:p>
            <a:r>
              <a:rPr lang="zh-CN" dirty="0"/>
              <a:t>项目三端开发完成度：后端98%、管理端99%、小程序端96%。</a:t>
            </a:r>
          </a:p>
          <a:p>
            <a:endParaRPr lang="zh-CN" dirty="0"/>
          </a:p>
          <a:p>
            <a:r>
              <a:rPr lang="zh-CN" dirty="0"/>
              <a:t>版本里程碑：</a:t>
            </a:r>
          </a:p>
          <a:p>
            <a:r>
              <a:rPr lang="zh-CN" dirty="0"/>
              <a:t>• V1.0 (2026-02)：基础功能，用户/商品/搜索</a:t>
            </a:r>
          </a:p>
          <a:p>
            <a:r>
              <a:rPr lang="zh-CN" dirty="0"/>
              <a:t>• V1.1 (2026-03)：IM即时通讯</a:t>
            </a:r>
          </a:p>
          <a:p>
            <a:r>
              <a:rPr lang="zh-CN" dirty="0"/>
              <a:t>• V1.6 (2026-04)：校园认证体系</a:t>
            </a:r>
          </a:p>
          <a:p>
            <a:r>
              <a:rPr lang="zh-CN" dirty="0"/>
              <a:t>• V1.9 (2026-05)：双向确认+评价系统（当前版本）</a:t>
            </a:r>
          </a:p>
          <a:p>
            <a:endParaRPr lang="zh-CN" dirty="0"/>
          </a:p>
          <a:p>
            <a:r>
              <a:rPr lang="zh-CN" dirty="0"/>
              <a:t>6大核心成果：22张数据表、42个API接口、7个定时任务、43613行代码、80%测试覆盖、98%核心完成。</a:t>
            </a:r>
          </a:p>
          <a:p>
            <a:endParaRPr lang="zh-CN" dirty="0"/>
          </a:p>
          <a:p>
            <a:r>
              <a:rPr lang="zh-CN" dirty="0"/>
              <a:t>时间控制: 1分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性能优化与测试质量保障</a:t>
            </a:r>
          </a:p>
          <a:p>
            <a:endParaRPr lang="zh-CN" dirty="0"/>
          </a:p>
          <a:p>
            <a:r>
              <a:rPr lang="zh-CN" dirty="0"/>
              <a:t>性能优化三管齐下：</a:t>
            </a:r>
          </a:p>
          <a:p>
            <a:r>
              <a:rPr lang="zh-CN" dirty="0"/>
              <a:t>1. 数据库优化：45个组合索引，LambdaQueryWrapper链式查询，平均查询8ms</a:t>
            </a:r>
          </a:p>
          <a:p>
            <a:r>
              <a:rPr lang="zh-CN" dirty="0"/>
              <a:t>2. 缓存优化：Redis多级缓存，命中率87%，缓存查询3ms提升15倍</a:t>
            </a:r>
          </a:p>
          <a:p>
            <a:r>
              <a:rPr lang="zh-CN" dirty="0"/>
              <a:t>3. 异步处理：@Async线程池隔离，通知发送异步化，主线程响应降低40%</a:t>
            </a:r>
          </a:p>
          <a:p>
            <a:endParaRPr lang="zh-CN" dirty="0"/>
          </a:p>
          <a:p>
            <a:r>
              <a:rPr lang="zh-CN" dirty="0"/>
              <a:t>压测结果（JMeter）：100并发循环10次，平均8ms，错误率0%，TP99 35ms。</a:t>
            </a:r>
          </a:p>
          <a:p>
            <a:endParaRPr lang="zh-CN" dirty="0"/>
          </a:p>
          <a:p>
            <a:r>
              <a:rPr lang="zh-CN" dirty="0"/>
              <a:t>测试质量保障：</a:t>
            </a:r>
          </a:p>
          <a:p>
            <a:r>
              <a:rPr lang="zh-CN" dirty="0"/>
              <a:t>• 测试金字塔：单元测试75%（92个）、集成测试20%（25个）、E2E 5%（6个）</a:t>
            </a:r>
          </a:p>
          <a:p>
            <a:r>
              <a:rPr lang="zh-CN" dirty="0"/>
              <a:t>• 代码覆盖率78%（JaCoCo）</a:t>
            </a:r>
          </a:p>
          <a:p>
            <a:r>
              <a:rPr lang="zh-CN" dirty="0"/>
              <a:t>• 123个测试用例100%通过</a:t>
            </a:r>
          </a:p>
          <a:p>
            <a:r>
              <a:rPr lang="zh-CN" dirty="0"/>
              <a:t>• 覆盖模块：Service 35个、Controller 18个、Mapper 12个、工具类8个、定时任务6个、安全异常4个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项目总结与未来展望</a:t>
            </a:r>
          </a:p>
          <a:p>
            <a:endParaRPr lang="zh-CN" dirty="0"/>
          </a:p>
          <a:p>
            <a:r>
              <a:rPr lang="zh-CN" dirty="0"/>
              <a:t>总结三大亮点：</a:t>
            </a:r>
          </a:p>
          <a:p>
            <a:endParaRPr lang="zh-CN" dirty="0"/>
          </a:p>
          <a:p>
            <a:r>
              <a:rPr lang="zh-CN" dirty="0"/>
              <a:t>技术亮点：自建WebSocket IM系统、七层安全防护体系、Redis多级缓存策略、43613行代码78%测试覆盖</a:t>
            </a:r>
          </a:p>
          <a:p>
            <a:endParaRPr lang="zh-CN" dirty="0"/>
          </a:p>
          <a:p>
            <a:r>
              <a:rPr lang="zh-CN" dirty="0"/>
              <a:t>业务价值：精准校园定位5000+用户、完整交易闭环平均3.5天、信任体系87.3%完成率92.1%好评率</a:t>
            </a:r>
          </a:p>
          <a:p>
            <a:endParaRPr lang="zh-CN" dirty="0"/>
          </a:p>
          <a:p>
            <a:r>
              <a:rPr lang="zh-CN" dirty="0"/>
              <a:t>创新特色：双向确认面交机制（核心创新）、认证历史版本追溯、多维度评价体系</a:t>
            </a:r>
          </a:p>
          <a:p>
            <a:endParaRPr lang="zh-CN" dirty="0"/>
          </a:p>
          <a:p>
            <a:r>
              <a:rPr lang="zh-CN" dirty="0"/>
              <a:t>未来路线图：</a:t>
            </a:r>
          </a:p>
          <a:p>
            <a:r>
              <a:rPr lang="zh-CN" dirty="0"/>
              <a:t>• 短期（3个月）：OSS对象存储迁移、微信支付接入、图片压缩优化</a:t>
            </a:r>
          </a:p>
          <a:p>
            <a:r>
              <a:rPr lang="zh-CN" dirty="0"/>
              <a:t>• 中期（6个月）：Elasticsearch全文搜索、RabbitMQ消息队列、推荐算法</a:t>
            </a:r>
          </a:p>
          <a:p>
            <a:r>
              <a:rPr lang="zh-CN" dirty="0"/>
              <a:t>• 长期（1年）：大数据分析平台、AI智能客服、多校区联盟平台</a:t>
            </a:r>
          </a:p>
          <a:p>
            <a:endParaRPr lang="zh-CN" dirty="0"/>
          </a:p>
          <a:p>
            <a:r>
              <a:rPr lang="zh-CN" dirty="0"/>
              <a:t>感谢各位老师的指导和聆听，欢迎提问！</a:t>
            </a:r>
          </a:p>
          <a:p>
            <a:endParaRPr lang="zh-CN" dirty="0"/>
          </a:p>
          <a:p>
            <a:r>
              <a:rPr lang="zh-CN" dirty="0"/>
              <a:t>时间控制: 2分钟</a:t>
            </a:r>
          </a:p>
          <a:p>
            <a:endParaRPr lang="zh-CN" dirty="0"/>
          </a:p>
          <a:p>
            <a:r>
              <a:rPr lang="zh-CN" dirty="0"/>
              <a:t>总时间控制</a:t>
            </a:r>
          </a:p>
          <a:p>
            <a:endParaRPr lang="zh-CN" dirty="0"/>
          </a:p>
          <a:p>
            <a:r>
              <a:rPr lang="zh-CN" dirty="0"/>
              <a:t>| 部分 | 页数 | 建议时间 |</a:t>
            </a:r>
          </a:p>
          <a:p>
            <a:r>
              <a:rPr lang="zh-CN" dirty="0"/>
              <a:t>|------|------|----------|</a:t>
            </a:r>
          </a:p>
          <a:p>
            <a:r>
              <a:rPr lang="zh-CN" dirty="0"/>
              <a:t>| 封面+背景 | P1-P2 | 2分钟 |</a:t>
            </a:r>
          </a:p>
          <a:p>
            <a:r>
              <a:rPr lang="zh-CN" dirty="0"/>
              <a:t>| 技术方案 | P3-P5 | 4分钟 |</a:t>
            </a:r>
          </a:p>
          <a:p>
            <a:r>
              <a:rPr lang="zh-CN" dirty="0"/>
              <a:t>| 核心设计 | P6-P8 | 5分钟 |</a:t>
            </a:r>
          </a:p>
          <a:p>
            <a:r>
              <a:rPr lang="zh-CN" dirty="0"/>
              <a:t>| 技术亮点 | P9-P11 | 5分钟 |</a:t>
            </a:r>
          </a:p>
          <a:p>
            <a:r>
              <a:rPr lang="zh-CN" dirty="0"/>
              <a:t>| 项目成果 | P12-P13 | 2分30秒 |</a:t>
            </a:r>
          </a:p>
          <a:p>
            <a:r>
              <a:rPr lang="zh-CN" dirty="0"/>
              <a:t>| 总结展望 | P14 | 2分钟 |</a:t>
            </a:r>
          </a:p>
          <a:p>
            <a:r>
              <a:rPr lang="zh-CN" dirty="0"/>
              <a:t>| 合计 | 14页 | 约20分钟 |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1E40A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762000" y="762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4288">
            <a:solidFill>
              <a:srgbClr val="FFFFFF">
                <a:alpha val="3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762000" y="7620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14288">
            <a:solidFill>
              <a:srgbClr val="FFFFFF">
                <a:alpha val="3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10287000" y="6096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4288">
            <a:solidFill>
              <a:srgbClr val="FFFFFF">
                <a:alpha val="3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11430000" y="49530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11430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FFFFFF">
                <a:alpha val="30000"/>
              </a:srgb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3238500" y="952500"/>
            <a:ext cx="5715000" cy="1143000"/>
          </a:xfrm>
          <a:custGeom>
            <a:avLst/>
            <a:gdLst/>
            <a:ahLst/>
            <a:cxnLst/>
            <a:rect l="l" t="t" r="r" b="b"/>
            <a:pathLst>
              <a:path w="5715000" h="1143000">
                <a:moveTo>
                  <a:pt x="76200" y="0"/>
                </a:moveTo>
                <a:lnTo>
                  <a:pt x="5638800" y="0"/>
                </a:lnTo>
                <a:cubicBezTo>
                  <a:pt x="5680884" y="0"/>
                  <a:pt x="5715000" y="34116"/>
                  <a:pt x="5715000" y="76200"/>
                </a:cubicBezTo>
                <a:lnTo>
                  <a:pt x="5715000" y="1066800"/>
                </a:lnTo>
                <a:cubicBezTo>
                  <a:pt x="5715000" y="1108884"/>
                  <a:pt x="5680884" y="1143000"/>
                  <a:pt x="5638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  <a:prstDash val="lgDash"/>
          </a:ln>
        </p:spPr>
      </p:sp>
      <p:sp>
        <p:nvSpPr>
          <p:cNvPr id="11" name="TextBox 11"/>
          <p:cNvSpPr txBox="1"/>
          <p:nvPr/>
        </p:nvSpPr>
        <p:spPr>
          <a:xfrm>
            <a:off x="4510802" y="1486852"/>
            <a:ext cx="31703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40000"/>
                  </a:srgbClr>
                </a:solidFill>
                <a:latin typeface="Arial"/>
                <a:ea typeface="Microsoft YaHei"/>
                <a:cs typeface="Arial"/>
              </a:rPr>
              <a:t>待插入: hero_cover.png (校园/产品背景图)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78505" y="2371725"/>
            <a:ext cx="563499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轻院二手交易平台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95800" y="323469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校园闲置物品流转解决方案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14500" y="4000500"/>
            <a:ext cx="2476500" cy="1047750"/>
          </a:xfrm>
          <a:custGeom>
            <a:avLst/>
            <a:gdLst/>
            <a:ahLst/>
            <a:cxnLst/>
            <a:rect l="l" t="t" r="r" b="b"/>
            <a:pathLst>
              <a:path w="2476500" h="1047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933450"/>
                </a:lnTo>
                <a:cubicBezTo>
                  <a:pt x="2476500" y="996576"/>
                  <a:pt x="2425326" y="1047750"/>
                  <a:pt x="23622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2581783" y="4222750"/>
            <a:ext cx="282067" cy="203200"/>
          </a:xfrm>
          <a:custGeom>
            <a:avLst/>
            <a:gdLst/>
            <a:ahLst/>
            <a:cxnLst/>
            <a:rect l="l" t="t" r="r" b="b"/>
            <a:pathLst>
              <a:path w="282067" h="203200">
                <a:moveTo>
                  <a:pt x="231267" y="119774"/>
                </a:moveTo>
                <a:lnTo>
                  <a:pt x="231267" y="152400"/>
                </a:lnTo>
                <a:cubicBezTo>
                  <a:pt x="231267" y="182855"/>
                  <a:pt x="190563" y="203200"/>
                  <a:pt x="142367" y="203200"/>
                </a:cubicBezTo>
                <a:cubicBezTo>
                  <a:pt x="94170" y="203200"/>
                  <a:pt x="53467" y="182855"/>
                  <a:pt x="53467" y="152400"/>
                </a:cubicBezTo>
                <a:lnTo>
                  <a:pt x="53467" y="119774"/>
                </a:lnTo>
                <a:lnTo>
                  <a:pt x="128219" y="149670"/>
                </a:lnTo>
                <a:cubicBezTo>
                  <a:pt x="136364" y="152931"/>
                  <a:pt x="145386" y="153280"/>
                  <a:pt x="153759" y="150660"/>
                </a:cubicBezTo>
                <a:lnTo>
                  <a:pt x="156515" y="149670"/>
                </a:lnTo>
                <a:close/>
                <a:moveTo>
                  <a:pt x="256667" y="82245"/>
                </a:moveTo>
                <a:lnTo>
                  <a:pt x="147079" y="126086"/>
                </a:lnTo>
                <a:cubicBezTo>
                  <a:pt x="144054" y="127294"/>
                  <a:pt x="140680" y="127294"/>
                  <a:pt x="137655" y="126086"/>
                </a:cubicBezTo>
                <a:lnTo>
                  <a:pt x="10655" y="75286"/>
                </a:lnTo>
                <a:cubicBezTo>
                  <a:pt x="0" y="71031"/>
                  <a:pt x="0" y="55969"/>
                  <a:pt x="10655" y="51714"/>
                </a:cubicBezTo>
                <a:lnTo>
                  <a:pt x="137655" y="914"/>
                </a:lnTo>
                <a:cubicBezTo>
                  <a:pt x="138654" y="513"/>
                  <a:pt x="139699" y="240"/>
                  <a:pt x="140767" y="102"/>
                </a:cubicBezTo>
                <a:lnTo>
                  <a:pt x="142367" y="0"/>
                </a:lnTo>
                <a:lnTo>
                  <a:pt x="143967" y="102"/>
                </a:lnTo>
                <a:cubicBezTo>
                  <a:pt x="145035" y="240"/>
                  <a:pt x="146080" y="513"/>
                  <a:pt x="147079" y="914"/>
                </a:cubicBezTo>
                <a:lnTo>
                  <a:pt x="274485" y="51879"/>
                </a:lnTo>
                <a:lnTo>
                  <a:pt x="275857" y="52578"/>
                </a:lnTo>
                <a:lnTo>
                  <a:pt x="277114" y="53442"/>
                </a:lnTo>
                <a:lnTo>
                  <a:pt x="278232" y="54407"/>
                </a:lnTo>
                <a:lnTo>
                  <a:pt x="279184" y="55448"/>
                </a:lnTo>
                <a:lnTo>
                  <a:pt x="279629" y="56007"/>
                </a:lnTo>
                <a:lnTo>
                  <a:pt x="280556" y="57468"/>
                </a:lnTo>
                <a:lnTo>
                  <a:pt x="281216" y="58928"/>
                </a:lnTo>
                <a:lnTo>
                  <a:pt x="281648" y="60223"/>
                </a:lnTo>
                <a:lnTo>
                  <a:pt x="281965" y="61938"/>
                </a:lnTo>
                <a:lnTo>
                  <a:pt x="282042" y="62675"/>
                </a:lnTo>
                <a:lnTo>
                  <a:pt x="282067" y="139700"/>
                </a:lnTo>
                <a:cubicBezTo>
                  <a:pt x="282067" y="146714"/>
                  <a:pt x="276381" y="152400"/>
                  <a:pt x="269367" y="152400"/>
                </a:cubicBezTo>
                <a:cubicBezTo>
                  <a:pt x="262353" y="152400"/>
                  <a:pt x="256667" y="146714"/>
                  <a:pt x="256667" y="1397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632710" y="4553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项目类型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11014" y="47501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毕业设计小程序</a:t>
            </a:r>
          </a:p>
        </p:txBody>
      </p:sp>
      <p:sp>
        <p:nvSpPr>
          <p:cNvPr id="18" name="Freeform 18"/>
          <p:cNvSpPr/>
          <p:nvPr/>
        </p:nvSpPr>
        <p:spPr>
          <a:xfrm>
            <a:off x="4857750" y="4000500"/>
            <a:ext cx="2476500" cy="1047750"/>
          </a:xfrm>
          <a:custGeom>
            <a:avLst/>
            <a:gdLst/>
            <a:ahLst/>
            <a:cxnLst/>
            <a:rect l="l" t="t" r="r" b="b"/>
            <a:pathLst>
              <a:path w="2476500" h="1047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933450"/>
                </a:lnTo>
                <a:cubicBezTo>
                  <a:pt x="2476500" y="996576"/>
                  <a:pt x="2425326" y="1047750"/>
                  <a:pt x="23622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852636" y="45539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26536" y="4750118"/>
            <a:ext cx="19389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Spring Boot + Vue 3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01000" y="4000500"/>
            <a:ext cx="2476500" cy="1047750"/>
          </a:xfrm>
          <a:custGeom>
            <a:avLst/>
            <a:gdLst/>
            <a:ahLst/>
            <a:cxnLst/>
            <a:rect l="l" t="t" r="r" b="b"/>
            <a:pathLst>
              <a:path w="2476500" h="1047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933450"/>
                </a:lnTo>
                <a:cubicBezTo>
                  <a:pt x="2476500" y="996576"/>
                  <a:pt x="2425326" y="1047750"/>
                  <a:pt x="23622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8878751" y="4198502"/>
            <a:ext cx="256359" cy="256308"/>
            <a:chOff x="8878751" y="4198502"/>
            <a:chExt cx="256359" cy="256308"/>
          </a:xfrm>
        </p:grpSpPr>
        <p:sp>
          <p:nvSpPr>
            <p:cNvPr id="22" name="Freeform 22"/>
            <p:cNvSpPr/>
            <p:nvPr/>
          </p:nvSpPr>
          <p:spPr>
            <a:xfrm>
              <a:off x="8878751" y="4198502"/>
              <a:ext cx="256359" cy="256308"/>
            </a:xfrm>
            <a:custGeom>
              <a:avLst/>
              <a:gdLst/>
              <a:ahLst/>
              <a:cxnLst/>
              <a:rect l="l" t="t" r="r" b="b"/>
              <a:pathLst>
                <a:path w="256359" h="256308">
                  <a:moveTo>
                    <a:pt x="105013" y="1477"/>
                  </a:moveTo>
                  <a:cubicBezTo>
                    <a:pt x="117543" y="0"/>
                    <a:pt x="129095" y="8425"/>
                    <a:pt x="131518" y="20806"/>
                  </a:cubicBezTo>
                  <a:lnTo>
                    <a:pt x="131836" y="22927"/>
                  </a:lnTo>
                  <a:lnTo>
                    <a:pt x="131899" y="24248"/>
                  </a:lnTo>
                  <a:lnTo>
                    <a:pt x="131899" y="113148"/>
                  </a:lnTo>
                  <a:cubicBezTo>
                    <a:pt x="131900" y="119586"/>
                    <a:pt x="136719" y="125006"/>
                    <a:pt x="143113" y="125759"/>
                  </a:cubicBezTo>
                  <a:lnTo>
                    <a:pt x="144599" y="125848"/>
                  </a:lnTo>
                  <a:lnTo>
                    <a:pt x="230959" y="125848"/>
                  </a:lnTo>
                  <a:cubicBezTo>
                    <a:pt x="244987" y="125848"/>
                    <a:pt x="256359" y="137220"/>
                    <a:pt x="256359" y="151248"/>
                  </a:cubicBezTo>
                  <a:cubicBezTo>
                    <a:pt x="256359" y="152214"/>
                    <a:pt x="256248" y="153177"/>
                    <a:pt x="256029" y="154118"/>
                  </a:cubicBezTo>
                  <a:cubicBezTo>
                    <a:pt x="241968" y="214786"/>
                    <a:pt x="185990" y="256308"/>
                    <a:pt x="123852" y="252161"/>
                  </a:cubicBezTo>
                  <a:cubicBezTo>
                    <a:pt x="61714" y="248014"/>
                    <a:pt x="11750" y="199423"/>
                    <a:pt x="5875" y="137424"/>
                  </a:cubicBezTo>
                  <a:cubicBezTo>
                    <a:pt x="0" y="75426"/>
                    <a:pt x="39947" y="18314"/>
                    <a:pt x="100200" y="2569"/>
                  </a:cubicBezTo>
                  <a:lnTo>
                    <a:pt x="103629" y="1718"/>
                  </a:lnTo>
                  <a:lnTo>
                    <a:pt x="105026" y="1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036050" y="4203051"/>
              <a:ext cx="95894" cy="95899"/>
            </a:xfrm>
            <a:custGeom>
              <a:avLst/>
              <a:gdLst/>
              <a:ahLst/>
              <a:cxnLst/>
              <a:rect l="l" t="t" r="r" b="b"/>
              <a:pathLst>
                <a:path w="95894" h="95899">
                  <a:moveTo>
                    <a:pt x="0" y="13349"/>
                  </a:moveTo>
                  <a:lnTo>
                    <a:pt x="0" y="83199"/>
                  </a:lnTo>
                  <a:cubicBezTo>
                    <a:pt x="0" y="90213"/>
                    <a:pt x="5686" y="95899"/>
                    <a:pt x="12700" y="95899"/>
                  </a:cubicBezTo>
                  <a:lnTo>
                    <a:pt x="82550" y="95899"/>
                  </a:lnTo>
                  <a:cubicBezTo>
                    <a:pt x="86669" y="95898"/>
                    <a:pt x="90532" y="93899"/>
                    <a:pt x="92912" y="90537"/>
                  </a:cubicBezTo>
                  <a:cubicBezTo>
                    <a:pt x="95292" y="87175"/>
                    <a:pt x="95894" y="82868"/>
                    <a:pt x="94526" y="78982"/>
                  </a:cubicBezTo>
                  <a:cubicBezTo>
                    <a:pt x="81751" y="42695"/>
                    <a:pt x="53215" y="14155"/>
                    <a:pt x="16929" y="1373"/>
                  </a:cubicBezTo>
                  <a:cubicBezTo>
                    <a:pt x="13042" y="0"/>
                    <a:pt x="8731" y="599"/>
                    <a:pt x="5366" y="2980"/>
                  </a:cubicBezTo>
                  <a:cubicBezTo>
                    <a:pt x="2000" y="5361"/>
                    <a:pt x="0" y="9227"/>
                    <a:pt x="0" y="133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8919210" y="4553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5E7EB"/>
                </a:solidFill>
                <a:latin typeface="Arial"/>
                <a:ea typeface="Microsoft YaHei"/>
                <a:cs typeface="Arial"/>
              </a:rPr>
              <a:t>开发状态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06203" y="4750118"/>
            <a:ext cx="12660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核心完成 98%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4051" y="636365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5E7EB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版本 V1.9 | 更新: 2026-05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1E40AF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264795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3A8A"/>
                </a:solidFill>
                <a:latin typeface="Arial"/>
                <a:ea typeface="Microsoft YaHei"/>
                <a:cs typeface="Arial"/>
              </a:rPr>
              <a:t>为什么做这个项目？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6667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 cap="rnd">
            <a:solidFill>
              <a:srgbClr val="3B82F6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571500" y="857250"/>
            <a:ext cx="3238500" cy="5334000"/>
          </a:xfrm>
          <a:custGeom>
            <a:avLst/>
            <a:gdLst/>
            <a:ahLst/>
            <a:cxnLst/>
            <a:rect l="l" t="t" r="r" b="b"/>
            <a:pathLst>
              <a:path w="3238500" h="5334000">
                <a:moveTo>
                  <a:pt x="114300" y="0"/>
                </a:moveTo>
                <a:lnTo>
                  <a:pt x="3124200" y="0"/>
                </a:lnTo>
                <a:cubicBezTo>
                  <a:pt x="3187326" y="0"/>
                  <a:pt x="3238500" y="51174"/>
                  <a:pt x="3238500" y="114300"/>
                </a:cubicBezTo>
                <a:lnTo>
                  <a:pt x="3238500" y="5219700"/>
                </a:lnTo>
                <a:cubicBezTo>
                  <a:pt x="3238500" y="5282826"/>
                  <a:pt x="3187326" y="5334000"/>
                  <a:pt x="3124200" y="5334000"/>
                </a:cubicBezTo>
                <a:lnTo>
                  <a:pt x="114300" y="5334000"/>
                </a:lnTo>
                <a:cubicBezTo>
                  <a:pt x="51174" y="5334000"/>
                  <a:pt x="0" y="5282826"/>
                  <a:pt x="0" y="521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07464" y="1108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3A8A"/>
                </a:solidFill>
                <a:latin typeface="Arial"/>
                <a:ea typeface="Microsoft YaHei"/>
                <a:cs typeface="Arial"/>
              </a:rPr>
              <a:t>目标用户</a:t>
            </a:r>
          </a:p>
        </p:txBody>
      </p:sp>
      <p:sp>
        <p:nvSpPr>
          <p:cNvPr id="8" name="Freeform 8"/>
          <p:cNvSpPr/>
          <p:nvPr/>
        </p:nvSpPr>
        <p:spPr>
          <a:xfrm>
            <a:off x="1143000" y="1428750"/>
            <a:ext cx="2095500" cy="1571625"/>
          </a:xfrm>
          <a:custGeom>
            <a:avLst/>
            <a:gdLst/>
            <a:ahLst/>
            <a:cxnLst/>
            <a:rect l="l" t="t" r="r" b="b"/>
            <a:pathLst>
              <a:path w="2095500" h="1571625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1495425"/>
                </a:lnTo>
                <a:cubicBezTo>
                  <a:pt x="2095500" y="1537509"/>
                  <a:pt x="2061384" y="1571625"/>
                  <a:pt x="2019300" y="1571625"/>
                </a:cubicBezTo>
                <a:lnTo>
                  <a:pt x="76200" y="1571625"/>
                </a:lnTo>
                <a:cubicBezTo>
                  <a:pt x="34116" y="1571625"/>
                  <a:pt x="0" y="1537509"/>
                  <a:pt x="0" y="1495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4288">
            <a:solidFill>
              <a:srgbClr val="93C5FD"/>
            </a:solidFill>
            <a:custDash>
              <a:ds d="400000" sp="266666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1226344" y="2188845"/>
            <a:ext cx="19288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待插入: campus_students.png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3275" y="3185160"/>
            <a:ext cx="143495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5,000+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071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潜在用户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4990" y="4299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E3A8A"/>
                </a:solidFill>
                <a:latin typeface="Arial"/>
                <a:ea typeface="Microsoft YaHei"/>
                <a:cs typeface="Arial"/>
              </a:rPr>
              <a:t>校区学生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3211" y="4752499"/>
            <a:ext cx="81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覆盖3个校区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5014" y="4942999"/>
            <a:ext cx="14914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南海北 / 南海南 / 新港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8574" y="5323999"/>
            <a:ext cx="14843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年均闲置物品 &gt; 50万元</a:t>
            </a:r>
          </a:p>
        </p:txBody>
      </p:sp>
      <p:sp>
        <p:nvSpPr>
          <p:cNvPr id="16" name="Freeform 16"/>
          <p:cNvSpPr/>
          <p:nvPr/>
        </p:nvSpPr>
        <p:spPr>
          <a:xfrm>
            <a:off x="4095750" y="857250"/>
            <a:ext cx="3810000" cy="2524125"/>
          </a:xfrm>
          <a:custGeom>
            <a:avLst/>
            <a:gdLst/>
            <a:ahLst/>
            <a:cxnLst/>
            <a:rect l="l" t="t" r="r" b="b"/>
            <a:pathLst>
              <a:path w="3810000" h="2524125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2409825"/>
                </a:lnTo>
                <a:cubicBezTo>
                  <a:pt x="3810000" y="2472951"/>
                  <a:pt x="3758826" y="2524125"/>
                  <a:pt x="3695700" y="2524125"/>
                </a:cubicBezTo>
                <a:lnTo>
                  <a:pt x="114300" y="2524125"/>
                </a:lnTo>
                <a:cubicBezTo>
                  <a:pt x="51174" y="2524125"/>
                  <a:pt x="0" y="2472951"/>
                  <a:pt x="0" y="24098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FEE2E2"/>
              </a:gs>
              <a:gs pos="100000">
                <a:srgbClr val="FECACA"/>
              </a:gs>
            </a:gsLst>
            <a:lin ang="2700000" scaled="1"/>
          </a:gra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395345" y="1078397"/>
            <a:ext cx="315654" cy="282621"/>
          </a:xfrm>
          <a:custGeom>
            <a:avLst/>
            <a:gdLst/>
            <a:ahLst/>
            <a:cxnLst/>
            <a:rect l="l" t="t" r="r" b="b"/>
            <a:pathLst>
              <a:path w="315654" h="282621">
                <a:moveTo>
                  <a:pt x="69323" y="39505"/>
                </a:moveTo>
                <a:cubicBezTo>
                  <a:pt x="125030" y="0"/>
                  <a:pt x="204597" y="3229"/>
                  <a:pt x="256103" y="47149"/>
                </a:cubicBezTo>
                <a:cubicBezTo>
                  <a:pt x="308496" y="91854"/>
                  <a:pt x="315654" y="164849"/>
                  <a:pt x="272563" y="217141"/>
                </a:cubicBezTo>
                <a:cubicBezTo>
                  <a:pt x="231972" y="266390"/>
                  <a:pt x="158763" y="282621"/>
                  <a:pt x="97812" y="257218"/>
                </a:cubicBezTo>
                <a:lnTo>
                  <a:pt x="94483" y="255775"/>
                </a:lnTo>
                <a:lnTo>
                  <a:pt x="31990" y="269076"/>
                </a:lnTo>
                <a:lnTo>
                  <a:pt x="31418" y="269162"/>
                </a:lnTo>
                <a:lnTo>
                  <a:pt x="30918" y="269262"/>
                </a:lnTo>
                <a:lnTo>
                  <a:pt x="30661" y="269262"/>
                </a:lnTo>
                <a:lnTo>
                  <a:pt x="30347" y="269334"/>
                </a:lnTo>
                <a:lnTo>
                  <a:pt x="29804" y="269334"/>
                </a:lnTo>
                <a:lnTo>
                  <a:pt x="29332" y="269391"/>
                </a:lnTo>
                <a:lnTo>
                  <a:pt x="29032" y="269377"/>
                </a:lnTo>
                <a:lnTo>
                  <a:pt x="28704" y="269391"/>
                </a:lnTo>
                <a:lnTo>
                  <a:pt x="28232" y="269348"/>
                </a:lnTo>
                <a:lnTo>
                  <a:pt x="27732" y="269348"/>
                </a:lnTo>
                <a:lnTo>
                  <a:pt x="27418" y="269291"/>
                </a:lnTo>
                <a:lnTo>
                  <a:pt x="27103" y="269262"/>
                </a:lnTo>
                <a:lnTo>
                  <a:pt x="26603" y="269162"/>
                </a:lnTo>
                <a:lnTo>
                  <a:pt x="26118" y="269091"/>
                </a:lnTo>
                <a:lnTo>
                  <a:pt x="25889" y="269034"/>
                </a:lnTo>
                <a:lnTo>
                  <a:pt x="25546" y="268962"/>
                </a:lnTo>
                <a:lnTo>
                  <a:pt x="24846" y="268734"/>
                </a:lnTo>
                <a:lnTo>
                  <a:pt x="24503" y="268662"/>
                </a:lnTo>
                <a:lnTo>
                  <a:pt x="24346" y="268591"/>
                </a:lnTo>
                <a:lnTo>
                  <a:pt x="24032" y="268491"/>
                </a:lnTo>
                <a:lnTo>
                  <a:pt x="23389" y="268205"/>
                </a:lnTo>
                <a:lnTo>
                  <a:pt x="22960" y="268034"/>
                </a:lnTo>
                <a:lnTo>
                  <a:pt x="22803" y="267948"/>
                </a:lnTo>
                <a:lnTo>
                  <a:pt x="22603" y="267862"/>
                </a:lnTo>
                <a:lnTo>
                  <a:pt x="22160" y="267605"/>
                </a:lnTo>
                <a:lnTo>
                  <a:pt x="21517" y="267262"/>
                </a:lnTo>
                <a:lnTo>
                  <a:pt x="21288" y="267105"/>
                </a:lnTo>
                <a:lnTo>
                  <a:pt x="20760" y="266733"/>
                </a:lnTo>
                <a:lnTo>
                  <a:pt x="20188" y="266348"/>
                </a:lnTo>
                <a:lnTo>
                  <a:pt x="20160" y="266290"/>
                </a:lnTo>
                <a:lnTo>
                  <a:pt x="19974" y="266162"/>
                </a:lnTo>
                <a:lnTo>
                  <a:pt x="19360" y="265590"/>
                </a:lnTo>
                <a:lnTo>
                  <a:pt x="19002" y="265305"/>
                </a:lnTo>
                <a:lnTo>
                  <a:pt x="18917" y="265205"/>
                </a:lnTo>
                <a:lnTo>
                  <a:pt x="18117" y="264319"/>
                </a:lnTo>
                <a:lnTo>
                  <a:pt x="17931" y="264119"/>
                </a:lnTo>
                <a:lnTo>
                  <a:pt x="17774" y="263919"/>
                </a:lnTo>
                <a:lnTo>
                  <a:pt x="17216" y="263119"/>
                </a:lnTo>
                <a:lnTo>
                  <a:pt x="17016" y="262847"/>
                </a:lnTo>
                <a:lnTo>
                  <a:pt x="16945" y="262704"/>
                </a:lnTo>
                <a:lnTo>
                  <a:pt x="16345" y="261661"/>
                </a:lnTo>
                <a:lnTo>
                  <a:pt x="16245" y="261490"/>
                </a:lnTo>
                <a:lnTo>
                  <a:pt x="16188" y="261376"/>
                </a:lnTo>
                <a:lnTo>
                  <a:pt x="16088" y="261204"/>
                </a:lnTo>
                <a:lnTo>
                  <a:pt x="15888" y="260661"/>
                </a:lnTo>
                <a:lnTo>
                  <a:pt x="15602" y="260061"/>
                </a:lnTo>
                <a:lnTo>
                  <a:pt x="15545" y="259832"/>
                </a:lnTo>
                <a:lnTo>
                  <a:pt x="15488" y="259690"/>
                </a:lnTo>
                <a:lnTo>
                  <a:pt x="15245" y="258818"/>
                </a:lnTo>
                <a:lnTo>
                  <a:pt x="15145" y="258561"/>
                </a:lnTo>
                <a:lnTo>
                  <a:pt x="15116" y="258347"/>
                </a:lnTo>
                <a:lnTo>
                  <a:pt x="15045" y="258075"/>
                </a:lnTo>
                <a:lnTo>
                  <a:pt x="14973" y="257604"/>
                </a:lnTo>
                <a:lnTo>
                  <a:pt x="14859" y="257004"/>
                </a:lnTo>
                <a:lnTo>
                  <a:pt x="14830" y="256561"/>
                </a:lnTo>
                <a:lnTo>
                  <a:pt x="14788" y="256418"/>
                </a:lnTo>
                <a:lnTo>
                  <a:pt x="14788" y="256189"/>
                </a:lnTo>
                <a:lnTo>
                  <a:pt x="14730" y="255418"/>
                </a:lnTo>
                <a:lnTo>
                  <a:pt x="14745" y="254903"/>
                </a:lnTo>
                <a:lnTo>
                  <a:pt x="14759" y="254575"/>
                </a:lnTo>
                <a:lnTo>
                  <a:pt x="14788" y="253817"/>
                </a:lnTo>
                <a:lnTo>
                  <a:pt x="14845" y="253460"/>
                </a:lnTo>
                <a:lnTo>
                  <a:pt x="14845" y="253189"/>
                </a:lnTo>
                <a:lnTo>
                  <a:pt x="14959" y="252689"/>
                </a:lnTo>
                <a:lnTo>
                  <a:pt x="15030" y="252203"/>
                </a:lnTo>
                <a:lnTo>
                  <a:pt x="15102" y="251917"/>
                </a:lnTo>
                <a:lnTo>
                  <a:pt x="15159" y="251631"/>
                </a:lnTo>
                <a:lnTo>
                  <a:pt x="15416" y="250774"/>
                </a:lnTo>
                <a:lnTo>
                  <a:pt x="15459" y="250588"/>
                </a:lnTo>
                <a:lnTo>
                  <a:pt x="31890" y="201297"/>
                </a:lnTo>
                <a:lnTo>
                  <a:pt x="31575" y="200768"/>
                </a:lnTo>
                <a:cubicBezTo>
                  <a:pt x="0" y="147233"/>
                  <a:pt x="14302" y="80882"/>
                  <a:pt x="66051" y="41905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838700" y="1123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信息分散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68165" y="1505902"/>
            <a:ext cx="19435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依赖QQ群、微信群发布信息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68165" y="1744028"/>
            <a:ext cx="2257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消息刷屏速度快，2小时后难找到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68165" y="19821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缺少商品分类和筛选功能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58640" y="2234565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78%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39665" y="23155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学生反映检索困难</a:t>
            </a:r>
          </a:p>
        </p:txBody>
      </p:sp>
      <p:sp>
        <p:nvSpPr>
          <p:cNvPr id="24" name="Freeform 24"/>
          <p:cNvSpPr/>
          <p:nvPr/>
        </p:nvSpPr>
        <p:spPr>
          <a:xfrm>
            <a:off x="8191500" y="857250"/>
            <a:ext cx="3524250" cy="2524125"/>
          </a:xfrm>
          <a:custGeom>
            <a:avLst/>
            <a:gdLst/>
            <a:ahLst/>
            <a:cxnLst/>
            <a:rect l="l" t="t" r="r" b="b"/>
            <a:pathLst>
              <a:path w="3524250" h="2524125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409825"/>
                </a:lnTo>
                <a:cubicBezTo>
                  <a:pt x="3524250" y="2472951"/>
                  <a:pt x="3473076" y="2524125"/>
                  <a:pt x="3409950" y="2524125"/>
                </a:cubicBezTo>
                <a:lnTo>
                  <a:pt x="114300" y="2524125"/>
                </a:lnTo>
                <a:cubicBezTo>
                  <a:pt x="51174" y="2524125"/>
                  <a:pt x="0" y="2472951"/>
                  <a:pt x="0" y="24098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FEE2E2"/>
              </a:gs>
              <a:gs pos="100000">
                <a:srgbClr val="FECACA"/>
              </a:gs>
            </a:gsLst>
            <a:lin ang="2700000" scaled="1"/>
          </a:gra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34450" y="1123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信任缺失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63915" y="1505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350F"/>
                </a:solidFill>
                <a:latin typeface="Arial"/>
                <a:ea typeface="Microsoft YaHei"/>
                <a:cs typeface="Arial"/>
              </a:rPr>
              <a:t>卖家身份无法验证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63915" y="174402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350F"/>
                </a:solidFill>
                <a:latin typeface="Arial"/>
                <a:ea typeface="Microsoft YaHei"/>
                <a:cs typeface="Arial"/>
              </a:rPr>
              <a:t>商品质量仅靠口头承诺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63915" y="19821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350F"/>
                </a:solidFill>
                <a:latin typeface="Arial"/>
                <a:ea typeface="Microsoft YaHei"/>
                <a:cs typeface="Arial"/>
              </a:rPr>
              <a:t>交易纠纷无处理机制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54390" y="2234565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65%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35415" y="23155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担心上当受骗</a:t>
            </a:r>
          </a:p>
        </p:txBody>
      </p:sp>
      <p:sp>
        <p:nvSpPr>
          <p:cNvPr id="31" name="Freeform 31"/>
          <p:cNvSpPr/>
          <p:nvPr/>
        </p:nvSpPr>
        <p:spPr>
          <a:xfrm>
            <a:off x="4095750" y="3619500"/>
            <a:ext cx="3810000" cy="2571750"/>
          </a:xfrm>
          <a:custGeom>
            <a:avLst/>
            <a:gdLst/>
            <a:ahLst/>
            <a:cxnLst/>
            <a:rect l="l" t="t" r="r" b="b"/>
            <a:pathLst>
              <a:path w="3810000" h="25717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2457450"/>
                </a:lnTo>
                <a:cubicBezTo>
                  <a:pt x="3810000" y="2520576"/>
                  <a:pt x="3758826" y="2571750"/>
                  <a:pt x="3695700" y="2571750"/>
                </a:cubicBezTo>
                <a:lnTo>
                  <a:pt x="114300" y="2571750"/>
                </a:lnTo>
                <a:cubicBezTo>
                  <a:pt x="51174" y="2571750"/>
                  <a:pt x="0" y="2520576"/>
                  <a:pt x="0" y="2457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410075" y="3832175"/>
            <a:ext cx="300466" cy="300958"/>
          </a:xfrm>
          <a:custGeom>
            <a:avLst/>
            <a:gdLst/>
            <a:ahLst/>
            <a:cxnLst/>
            <a:rect l="l" t="t" r="r" b="b"/>
            <a:pathLst>
              <a:path w="300466" h="300958">
                <a:moveTo>
                  <a:pt x="214312" y="25545"/>
                </a:moveTo>
                <a:cubicBezTo>
                  <a:pt x="273854" y="59924"/>
                  <a:pt x="300466" y="131835"/>
                  <a:pt x="277649" y="196693"/>
                </a:cubicBezTo>
                <a:cubicBezTo>
                  <a:pt x="254832" y="261550"/>
                  <a:pt x="189056" y="300958"/>
                  <a:pt x="121104" y="290484"/>
                </a:cubicBezTo>
                <a:cubicBezTo>
                  <a:pt x="53153" y="280009"/>
                  <a:pt x="2298" y="222622"/>
                  <a:pt x="71" y="153904"/>
                </a:cubicBezTo>
                <a:lnTo>
                  <a:pt x="0" y="149275"/>
                </a:lnTo>
                <a:lnTo>
                  <a:pt x="71" y="144646"/>
                </a:lnTo>
                <a:cubicBezTo>
                  <a:pt x="1699" y="94454"/>
                  <a:pt x="29558" y="48801"/>
                  <a:pt x="73450" y="24400"/>
                </a:cubicBezTo>
                <a:cubicBezTo>
                  <a:pt x="117343" y="0"/>
                  <a:pt x="170823" y="435"/>
                  <a:pt x="214312" y="25545"/>
                </a:cubicBezTo>
                <a:close/>
                <a:moveTo>
                  <a:pt x="142875" y="63550"/>
                </a:moveTo>
                <a:cubicBezTo>
                  <a:pt x="135632" y="63551"/>
                  <a:pt x="129535" y="68972"/>
                  <a:pt x="128688" y="76166"/>
                </a:cubicBezTo>
                <a:lnTo>
                  <a:pt x="128588" y="77837"/>
                </a:lnTo>
                <a:lnTo>
                  <a:pt x="128588" y="149275"/>
                </a:lnTo>
                <a:lnTo>
                  <a:pt x="128716" y="151147"/>
                </a:lnTo>
                <a:cubicBezTo>
                  <a:pt x="129042" y="153625"/>
                  <a:pt x="130012" y="155975"/>
                  <a:pt x="131531" y="157962"/>
                </a:cubicBezTo>
                <a:lnTo>
                  <a:pt x="132774" y="159390"/>
                </a:lnTo>
                <a:lnTo>
                  <a:pt x="175636" y="202253"/>
                </a:lnTo>
                <a:lnTo>
                  <a:pt x="176979" y="203425"/>
                </a:lnTo>
                <a:cubicBezTo>
                  <a:pt x="182133" y="207423"/>
                  <a:pt x="189342" y="207423"/>
                  <a:pt x="194496" y="203425"/>
                </a:cubicBezTo>
                <a:lnTo>
                  <a:pt x="195839" y="202239"/>
                </a:lnTo>
                <a:lnTo>
                  <a:pt x="197025" y="200896"/>
                </a:lnTo>
                <a:cubicBezTo>
                  <a:pt x="201024" y="195742"/>
                  <a:pt x="201024" y="188533"/>
                  <a:pt x="197025" y="183379"/>
                </a:cubicBezTo>
                <a:lnTo>
                  <a:pt x="195839" y="182036"/>
                </a:lnTo>
                <a:lnTo>
                  <a:pt x="157162" y="143346"/>
                </a:lnTo>
                <a:lnTo>
                  <a:pt x="157162" y="77837"/>
                </a:lnTo>
                <a:lnTo>
                  <a:pt x="157062" y="76166"/>
                </a:lnTo>
                <a:cubicBezTo>
                  <a:pt x="156215" y="68972"/>
                  <a:pt x="150118" y="63551"/>
                  <a:pt x="142875" y="6355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838700" y="3886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效率低下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68165" y="42681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350F"/>
                </a:solidFill>
                <a:latin typeface="Arial"/>
                <a:ea typeface="Microsoft YaHei"/>
                <a:cs typeface="Arial"/>
              </a:rPr>
              <a:t>买卖双方沟通渠道混乱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68165" y="450627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350F"/>
                </a:solidFill>
                <a:latin typeface="Arial"/>
                <a:ea typeface="Microsoft YaHei"/>
                <a:cs typeface="Arial"/>
              </a:rPr>
              <a:t>价格协商无记录可查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68165" y="47444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8350F"/>
                </a:solidFill>
                <a:latin typeface="Arial"/>
                <a:ea typeface="Microsoft YaHei"/>
                <a:cs typeface="Arial"/>
              </a:rPr>
              <a:t>面交时间地点难确定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58640" y="4996815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52%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39665" y="50777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反映沟通效率低</a:t>
            </a:r>
          </a:p>
        </p:txBody>
      </p:sp>
      <p:sp>
        <p:nvSpPr>
          <p:cNvPr id="39" name="Freeform 39"/>
          <p:cNvSpPr/>
          <p:nvPr/>
        </p:nvSpPr>
        <p:spPr>
          <a:xfrm>
            <a:off x="8191500" y="3619500"/>
            <a:ext cx="3524250" cy="2571750"/>
          </a:xfrm>
          <a:custGeom>
            <a:avLst/>
            <a:gdLst/>
            <a:ahLst/>
            <a:cxnLst/>
            <a:rect l="l" t="t" r="r" b="b"/>
            <a:pathLst>
              <a:path w="3524250" h="2571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457450"/>
                </a:lnTo>
                <a:cubicBezTo>
                  <a:pt x="3524250" y="2520576"/>
                  <a:pt x="3473076" y="2571750"/>
                  <a:pt x="3409950" y="2571750"/>
                </a:cubicBezTo>
                <a:lnTo>
                  <a:pt x="114300" y="2571750"/>
                </a:lnTo>
                <a:cubicBezTo>
                  <a:pt x="51174" y="2571750"/>
                  <a:pt x="0" y="2520576"/>
                  <a:pt x="0" y="2457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8519710" y="3838575"/>
            <a:ext cx="257980" cy="285750"/>
            <a:chOff x="8519710" y="3838575"/>
            <a:chExt cx="257980" cy="285750"/>
          </a:xfrm>
        </p:grpSpPr>
        <p:sp>
          <p:nvSpPr>
            <p:cNvPr id="40" name="Freeform 40"/>
            <p:cNvSpPr/>
            <p:nvPr/>
          </p:nvSpPr>
          <p:spPr>
            <a:xfrm>
              <a:off x="8519710" y="3895725"/>
              <a:ext cx="257980" cy="228600"/>
            </a:xfrm>
            <a:custGeom>
              <a:avLst/>
              <a:gdLst/>
              <a:ahLst/>
              <a:cxnLst/>
              <a:rect l="l" t="t" r="r" b="b"/>
              <a:pathLst>
                <a:path w="257980" h="228600">
                  <a:moveTo>
                    <a:pt x="243290" y="0"/>
                  </a:moveTo>
                  <a:cubicBezTo>
                    <a:pt x="250850" y="8"/>
                    <a:pt x="257094" y="5904"/>
                    <a:pt x="257537" y="13450"/>
                  </a:cubicBezTo>
                  <a:cubicBezTo>
                    <a:pt x="257980" y="20997"/>
                    <a:pt x="252468" y="27582"/>
                    <a:pt x="244962" y="28475"/>
                  </a:cubicBezTo>
                  <a:lnTo>
                    <a:pt x="243290" y="28575"/>
                  </a:lnTo>
                  <a:lnTo>
                    <a:pt x="242133" y="28575"/>
                  </a:lnTo>
                  <a:lnTo>
                    <a:pt x="229003" y="185738"/>
                  </a:lnTo>
                  <a:cubicBezTo>
                    <a:pt x="229004" y="208434"/>
                    <a:pt x="211312" y="227197"/>
                    <a:pt x="188655" y="228529"/>
                  </a:cubicBezTo>
                  <a:lnTo>
                    <a:pt x="186140" y="228600"/>
                  </a:lnTo>
                  <a:lnTo>
                    <a:pt x="71840" y="228600"/>
                  </a:lnTo>
                  <a:cubicBezTo>
                    <a:pt x="49009" y="228600"/>
                    <a:pt x="30349" y="210755"/>
                    <a:pt x="29092" y="189309"/>
                  </a:cubicBezTo>
                  <a:lnTo>
                    <a:pt x="29020" y="186923"/>
                  </a:lnTo>
                  <a:lnTo>
                    <a:pt x="15833" y="28575"/>
                  </a:lnTo>
                  <a:lnTo>
                    <a:pt x="14690" y="28575"/>
                  </a:lnTo>
                  <a:cubicBezTo>
                    <a:pt x="7131" y="28567"/>
                    <a:pt x="886" y="22671"/>
                    <a:pt x="443" y="15125"/>
                  </a:cubicBezTo>
                  <a:cubicBezTo>
                    <a:pt x="0" y="7578"/>
                    <a:pt x="5512" y="993"/>
                    <a:pt x="13018" y="100"/>
                  </a:cubicBezTo>
                  <a:lnTo>
                    <a:pt x="14690" y="0"/>
                  </a:lnTo>
                  <a:close/>
                  <a:moveTo>
                    <a:pt x="100415" y="57150"/>
                  </a:moveTo>
                  <a:cubicBezTo>
                    <a:pt x="92524" y="57150"/>
                    <a:pt x="86128" y="63547"/>
                    <a:pt x="86128" y="71438"/>
                  </a:cubicBezTo>
                  <a:lnTo>
                    <a:pt x="86128" y="157162"/>
                  </a:lnTo>
                  <a:cubicBezTo>
                    <a:pt x="86128" y="165053"/>
                    <a:pt x="92524" y="171450"/>
                    <a:pt x="100415" y="171450"/>
                  </a:cubicBezTo>
                  <a:cubicBezTo>
                    <a:pt x="108306" y="171450"/>
                    <a:pt x="114703" y="165053"/>
                    <a:pt x="114703" y="157162"/>
                  </a:cubicBezTo>
                  <a:lnTo>
                    <a:pt x="114703" y="71438"/>
                  </a:lnTo>
                  <a:cubicBezTo>
                    <a:pt x="114703" y="63547"/>
                    <a:pt x="108306" y="57150"/>
                    <a:pt x="100415" y="57150"/>
                  </a:cubicBezTo>
                  <a:moveTo>
                    <a:pt x="157565" y="57150"/>
                  </a:moveTo>
                  <a:cubicBezTo>
                    <a:pt x="149674" y="57150"/>
                    <a:pt x="143278" y="63547"/>
                    <a:pt x="143278" y="71438"/>
                  </a:cubicBezTo>
                  <a:lnTo>
                    <a:pt x="143278" y="157162"/>
                  </a:lnTo>
                  <a:cubicBezTo>
                    <a:pt x="143278" y="165053"/>
                    <a:pt x="149674" y="171450"/>
                    <a:pt x="157565" y="171450"/>
                  </a:cubicBezTo>
                  <a:cubicBezTo>
                    <a:pt x="165456" y="171450"/>
                    <a:pt x="171853" y="165053"/>
                    <a:pt x="171853" y="157162"/>
                  </a:cubicBezTo>
                  <a:lnTo>
                    <a:pt x="171853" y="71438"/>
                  </a:lnTo>
                  <a:cubicBezTo>
                    <a:pt x="171853" y="63547"/>
                    <a:pt x="165456" y="57150"/>
                    <a:pt x="157565" y="57150"/>
                  </a:cubicBezTo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591545" y="3838575"/>
              <a:ext cx="114305" cy="43265"/>
            </a:xfrm>
            <a:custGeom>
              <a:avLst/>
              <a:gdLst/>
              <a:ahLst/>
              <a:cxnLst/>
              <a:rect l="l" t="t" r="r" b="b"/>
              <a:pathLst>
                <a:path w="114305" h="43265">
                  <a:moveTo>
                    <a:pt x="85730" y="0"/>
                  </a:moveTo>
                  <a:cubicBezTo>
                    <a:pt x="101511" y="0"/>
                    <a:pt x="114305" y="12793"/>
                    <a:pt x="114305" y="28575"/>
                  </a:cubicBezTo>
                  <a:cubicBezTo>
                    <a:pt x="114296" y="36134"/>
                    <a:pt x="108401" y="42379"/>
                    <a:pt x="100855" y="42822"/>
                  </a:cubicBezTo>
                  <a:cubicBezTo>
                    <a:pt x="93308" y="43265"/>
                    <a:pt x="86723" y="37753"/>
                    <a:pt x="85830" y="30247"/>
                  </a:cubicBezTo>
                  <a:lnTo>
                    <a:pt x="85730" y="28575"/>
                  </a:lnTo>
                  <a:lnTo>
                    <a:pt x="28580" y="28575"/>
                  </a:lnTo>
                  <a:lnTo>
                    <a:pt x="28480" y="30247"/>
                  </a:lnTo>
                  <a:cubicBezTo>
                    <a:pt x="27587" y="37753"/>
                    <a:pt x="21001" y="43265"/>
                    <a:pt x="13455" y="42822"/>
                  </a:cubicBezTo>
                  <a:cubicBezTo>
                    <a:pt x="5908" y="42379"/>
                    <a:pt x="13" y="36134"/>
                    <a:pt x="5" y="28575"/>
                  </a:cubicBezTo>
                  <a:cubicBezTo>
                    <a:pt x="0" y="13621"/>
                    <a:pt x="11525" y="1193"/>
                    <a:pt x="26437" y="71"/>
                  </a:cubicBezTo>
                  <a:lnTo>
                    <a:pt x="28580" y="0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8934450" y="3886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毕业浪费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63915" y="4268152"/>
            <a:ext cx="16445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每年6月毕业季集中丢弃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63915" y="450627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书籍、家电、生活用品堆积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63915" y="47444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缺少集中处理渠道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54390" y="4996815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43%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035415" y="5077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物品直接丢弃</a:t>
            </a:r>
          </a:p>
        </p:txBody>
      </p:sp>
      <p:sp>
        <p:nvSpPr>
          <p:cNvPr id="49" name="Freeform 49"/>
          <p:cNvSpPr/>
          <p:nvPr/>
        </p:nvSpPr>
        <p:spPr>
          <a:xfrm>
            <a:off x="4095750" y="6334125"/>
            <a:ext cx="7620000" cy="381000"/>
          </a:xfrm>
          <a:custGeom>
            <a:avLst/>
            <a:gdLst/>
            <a:ahLst/>
            <a:cxnLst/>
            <a:rect l="l" t="t" r="r" b="b"/>
            <a:pathLst>
              <a:path w="7620000" h="381000">
                <a:moveTo>
                  <a:pt x="76200" y="0"/>
                </a:moveTo>
                <a:lnTo>
                  <a:pt x="7543800" y="0"/>
                </a:lnTo>
                <a:cubicBezTo>
                  <a:pt x="7585884" y="0"/>
                  <a:pt x="7620000" y="34116"/>
                  <a:pt x="7620000" y="76200"/>
                </a:cubicBezTo>
                <a:lnTo>
                  <a:pt x="7620000" y="304800"/>
                </a:lnTo>
                <a:cubicBezTo>
                  <a:pt x="7620000" y="346884"/>
                  <a:pt x="7585884" y="381000"/>
                  <a:pt x="7543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275772" y="649271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用户反馈占比：</a:t>
            </a:r>
          </a:p>
        </p:txBody>
      </p:sp>
      <p:sp>
        <p:nvSpPr>
          <p:cNvPr id="51" name="Freeform 51"/>
          <p:cNvSpPr/>
          <p:nvPr/>
        </p:nvSpPr>
        <p:spPr>
          <a:xfrm>
            <a:off x="5524500" y="6457950"/>
            <a:ext cx="1485900" cy="133350"/>
          </a:xfrm>
          <a:custGeom>
            <a:avLst/>
            <a:gdLst/>
            <a:ahLst/>
            <a:cxnLst/>
            <a:rect l="l" t="t" r="r" b="b"/>
            <a:pathLst>
              <a:path w="1485900" h="133350">
                <a:moveTo>
                  <a:pt x="38100" y="0"/>
                </a:moveTo>
                <a:lnTo>
                  <a:pt x="1447800" y="0"/>
                </a:lnTo>
                <a:cubicBezTo>
                  <a:pt x="1468842" y="0"/>
                  <a:pt x="1485900" y="17058"/>
                  <a:pt x="1485900" y="38100"/>
                </a:cubicBezTo>
                <a:lnTo>
                  <a:pt x="1485900" y="95250"/>
                </a:lnTo>
                <a:cubicBezTo>
                  <a:pt x="1485900" y="116292"/>
                  <a:pt x="1468842" y="133350"/>
                  <a:pt x="1447800" y="133350"/>
                </a:cubicBezTo>
                <a:lnTo>
                  <a:pt x="38100" y="133350"/>
                </a:lnTo>
                <a:cubicBezTo>
                  <a:pt x="17058" y="133350"/>
                  <a:pt x="0" y="116292"/>
                  <a:pt x="0" y="952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076122" y="64831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78%</a:t>
            </a:r>
          </a:p>
        </p:txBody>
      </p:sp>
      <p:sp>
        <p:nvSpPr>
          <p:cNvPr id="53" name="Freeform 53"/>
          <p:cNvSpPr/>
          <p:nvPr/>
        </p:nvSpPr>
        <p:spPr>
          <a:xfrm>
            <a:off x="7715250" y="6457950"/>
            <a:ext cx="1238250" cy="133350"/>
          </a:xfrm>
          <a:custGeom>
            <a:avLst/>
            <a:gdLst/>
            <a:ahLst/>
            <a:cxnLst/>
            <a:rect l="l" t="t" r="r" b="b"/>
            <a:pathLst>
              <a:path w="1238250" h="133350">
                <a:moveTo>
                  <a:pt x="38100" y="0"/>
                </a:moveTo>
                <a:lnTo>
                  <a:pt x="1200150" y="0"/>
                </a:lnTo>
                <a:cubicBezTo>
                  <a:pt x="1221192" y="0"/>
                  <a:pt x="1238250" y="17058"/>
                  <a:pt x="1238250" y="38100"/>
                </a:cubicBezTo>
                <a:lnTo>
                  <a:pt x="1238250" y="95250"/>
                </a:lnTo>
                <a:cubicBezTo>
                  <a:pt x="1238250" y="116292"/>
                  <a:pt x="1221192" y="133350"/>
                  <a:pt x="1200150" y="133350"/>
                </a:cubicBezTo>
                <a:lnTo>
                  <a:pt x="38100" y="133350"/>
                </a:lnTo>
                <a:cubicBezTo>
                  <a:pt x="17058" y="133350"/>
                  <a:pt x="0" y="116292"/>
                  <a:pt x="0" y="952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019222" y="64831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65%</a:t>
            </a:r>
          </a:p>
        </p:txBody>
      </p:sp>
      <p:sp>
        <p:nvSpPr>
          <p:cNvPr id="55" name="Freeform 55"/>
          <p:cNvSpPr/>
          <p:nvPr/>
        </p:nvSpPr>
        <p:spPr>
          <a:xfrm>
            <a:off x="9525000" y="6457950"/>
            <a:ext cx="990600" cy="133350"/>
          </a:xfrm>
          <a:custGeom>
            <a:avLst/>
            <a:gdLst/>
            <a:ahLst/>
            <a:cxnLst/>
            <a:rect l="l" t="t" r="r" b="b"/>
            <a:pathLst>
              <a:path w="990600" h="133350">
                <a:moveTo>
                  <a:pt x="38100" y="0"/>
                </a:moveTo>
                <a:lnTo>
                  <a:pt x="952500" y="0"/>
                </a:lnTo>
                <a:cubicBezTo>
                  <a:pt x="973542" y="0"/>
                  <a:pt x="990600" y="17058"/>
                  <a:pt x="990600" y="38100"/>
                </a:cubicBezTo>
                <a:lnTo>
                  <a:pt x="990600" y="95250"/>
                </a:lnTo>
                <a:cubicBezTo>
                  <a:pt x="990600" y="116292"/>
                  <a:pt x="973542" y="133350"/>
                  <a:pt x="952500" y="133350"/>
                </a:cubicBezTo>
                <a:lnTo>
                  <a:pt x="38100" y="133350"/>
                </a:lnTo>
                <a:cubicBezTo>
                  <a:pt x="17058" y="133350"/>
                  <a:pt x="0" y="116292"/>
                  <a:pt x="0" y="952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581322" y="64831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52%</a:t>
            </a:r>
          </a:p>
        </p:txBody>
      </p:sp>
      <p:sp>
        <p:nvSpPr>
          <p:cNvPr id="57" name="Freeform 57"/>
          <p:cNvSpPr/>
          <p:nvPr/>
        </p:nvSpPr>
        <p:spPr>
          <a:xfrm>
            <a:off x="10953750" y="6457950"/>
            <a:ext cx="819150" cy="133350"/>
          </a:xfrm>
          <a:custGeom>
            <a:avLst/>
            <a:gdLst/>
            <a:ahLst/>
            <a:cxnLst/>
            <a:rect l="l" t="t" r="r" b="b"/>
            <a:pathLst>
              <a:path w="819150" h="133350">
                <a:moveTo>
                  <a:pt x="38100" y="0"/>
                </a:moveTo>
                <a:lnTo>
                  <a:pt x="781050" y="0"/>
                </a:lnTo>
                <a:cubicBezTo>
                  <a:pt x="802092" y="0"/>
                  <a:pt x="819150" y="17058"/>
                  <a:pt x="819150" y="38100"/>
                </a:cubicBezTo>
                <a:lnTo>
                  <a:pt x="819150" y="95250"/>
                </a:lnTo>
                <a:cubicBezTo>
                  <a:pt x="819150" y="116292"/>
                  <a:pt x="802092" y="133350"/>
                  <a:pt x="781050" y="133350"/>
                </a:cubicBezTo>
                <a:lnTo>
                  <a:pt x="38100" y="133350"/>
                </a:lnTo>
                <a:cubicBezTo>
                  <a:pt x="17058" y="133350"/>
                  <a:pt x="0" y="116292"/>
                  <a:pt x="0" y="952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1838622" y="64831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43%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技术选型与系统架构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45735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THREE-TIER ARCHITECTURE WITH SPRING BOOT + UNI-APP + MYSQL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1047750"/>
            <a:ext cx="381000" cy="1524000"/>
          </a:xfrm>
          <a:custGeom>
            <a:avLst/>
            <a:gdLst/>
            <a:ahLst/>
            <a:cxnLst/>
            <a:rect l="l" t="t" r="r" b="b"/>
            <a:pathLst>
              <a:path w="381000" h="1524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447800"/>
                </a:lnTo>
                <a:cubicBezTo>
                  <a:pt x="381000" y="1489884"/>
                  <a:pt x="346884" y="1524000"/>
                  <a:pt x="304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59050" y="1756410"/>
            <a:ext cx="186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295400" y="1047750"/>
            <a:ext cx="10134600" cy="1524000"/>
          </a:xfrm>
          <a:custGeom>
            <a:avLst/>
            <a:gdLst/>
            <a:ahLst/>
            <a:cxnLst/>
            <a:rect l="l" t="t" r="r" b="b"/>
            <a:pathLst>
              <a:path w="10134600" h="1524000">
                <a:moveTo>
                  <a:pt x="114300" y="0"/>
                </a:moveTo>
                <a:lnTo>
                  <a:pt x="10020300" y="0"/>
                </a:lnTo>
                <a:cubicBezTo>
                  <a:pt x="10083426" y="0"/>
                  <a:pt x="10134600" y="51174"/>
                  <a:pt x="10134600" y="114300"/>
                </a:cubicBezTo>
                <a:lnTo>
                  <a:pt x="10134600" y="1409700"/>
                </a:lnTo>
                <a:cubicBezTo>
                  <a:pt x="10134600" y="1472826"/>
                  <a:pt x="10083426" y="1524000"/>
                  <a:pt x="100203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F"/>
          </a:solidFill>
          <a:ln w="14288">
            <a:solidFill>
              <a:srgbClr val="93C5FD"/>
            </a:solidFill>
            <a:custDash>
              <a:ds d="400000" sp="266666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5532188" y="120110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小程序端 · 用户界面层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85900" y="1476375"/>
            <a:ext cx="2857500" cy="904875"/>
          </a:xfrm>
          <a:custGeom>
            <a:avLst/>
            <a:gdLst/>
            <a:ahLst/>
            <a:cxnLst/>
            <a:rect l="l" t="t" r="r" b="b"/>
            <a:pathLst>
              <a:path w="2857500" h="90487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828675"/>
                </a:lnTo>
                <a:cubicBezTo>
                  <a:pt x="2857500" y="870759"/>
                  <a:pt x="2823384" y="904875"/>
                  <a:pt x="27813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1739899" y="1663699"/>
            <a:ext cx="177802" cy="254002"/>
          </a:xfrm>
          <a:custGeom>
            <a:avLst/>
            <a:gdLst/>
            <a:ahLst/>
            <a:cxnLst/>
            <a:rect l="l" t="t" r="r" b="b"/>
            <a:pathLst>
              <a:path w="177802" h="254002">
                <a:moveTo>
                  <a:pt x="139701" y="1"/>
                </a:moveTo>
                <a:cubicBezTo>
                  <a:pt x="159876" y="0"/>
                  <a:pt x="176554" y="15726"/>
                  <a:pt x="177738" y="35866"/>
                </a:cubicBezTo>
                <a:lnTo>
                  <a:pt x="177801" y="38101"/>
                </a:lnTo>
                <a:lnTo>
                  <a:pt x="177801" y="215901"/>
                </a:lnTo>
                <a:cubicBezTo>
                  <a:pt x="177802" y="236076"/>
                  <a:pt x="162076" y="252754"/>
                  <a:pt x="141936" y="253938"/>
                </a:cubicBezTo>
                <a:lnTo>
                  <a:pt x="139701" y="254001"/>
                </a:lnTo>
                <a:lnTo>
                  <a:pt x="38101" y="254001"/>
                </a:lnTo>
                <a:cubicBezTo>
                  <a:pt x="17926" y="254002"/>
                  <a:pt x="1248" y="238276"/>
                  <a:pt x="65" y="218136"/>
                </a:cubicBezTo>
                <a:lnTo>
                  <a:pt x="1" y="215901"/>
                </a:lnTo>
                <a:lnTo>
                  <a:pt x="1" y="38101"/>
                </a:lnTo>
                <a:cubicBezTo>
                  <a:pt x="0" y="17926"/>
                  <a:pt x="15726" y="1248"/>
                  <a:pt x="35866" y="65"/>
                </a:cubicBezTo>
                <a:lnTo>
                  <a:pt x="38101" y="1"/>
                </a:lnTo>
                <a:lnTo>
                  <a:pt x="139701" y="1"/>
                </a:lnTo>
                <a:close/>
                <a:moveTo>
                  <a:pt x="88901" y="177801"/>
                </a:moveTo>
                <a:cubicBezTo>
                  <a:pt x="82463" y="177802"/>
                  <a:pt x="77043" y="182621"/>
                  <a:pt x="76290" y="189015"/>
                </a:cubicBezTo>
                <a:lnTo>
                  <a:pt x="76201" y="190501"/>
                </a:lnTo>
                <a:lnTo>
                  <a:pt x="76290" y="192114"/>
                </a:lnTo>
                <a:cubicBezTo>
                  <a:pt x="77050" y="198503"/>
                  <a:pt x="82467" y="203314"/>
                  <a:pt x="88901" y="203314"/>
                </a:cubicBezTo>
                <a:cubicBezTo>
                  <a:pt x="95335" y="203314"/>
                  <a:pt x="100752" y="198503"/>
                  <a:pt x="101512" y="192114"/>
                </a:cubicBezTo>
                <a:lnTo>
                  <a:pt x="101601" y="190628"/>
                </a:lnTo>
                <a:lnTo>
                  <a:pt x="101512" y="189015"/>
                </a:lnTo>
                <a:cubicBezTo>
                  <a:pt x="100759" y="182621"/>
                  <a:pt x="95340" y="177802"/>
                  <a:pt x="88901" y="177801"/>
                </a:cubicBezTo>
                <a:close/>
                <a:moveTo>
                  <a:pt x="101601" y="25401"/>
                </a:moveTo>
                <a:lnTo>
                  <a:pt x="76201" y="25401"/>
                </a:lnTo>
                <a:lnTo>
                  <a:pt x="74715" y="25490"/>
                </a:lnTo>
                <a:cubicBezTo>
                  <a:pt x="68326" y="26250"/>
                  <a:pt x="63515" y="31667"/>
                  <a:pt x="63515" y="38101"/>
                </a:cubicBezTo>
                <a:cubicBezTo>
                  <a:pt x="63515" y="44535"/>
                  <a:pt x="68326" y="49952"/>
                  <a:pt x="74715" y="50712"/>
                </a:cubicBezTo>
                <a:lnTo>
                  <a:pt x="76201" y="50801"/>
                </a:lnTo>
                <a:lnTo>
                  <a:pt x="101601" y="50801"/>
                </a:lnTo>
                <a:lnTo>
                  <a:pt x="103087" y="50712"/>
                </a:lnTo>
                <a:cubicBezTo>
                  <a:pt x="109476" y="49952"/>
                  <a:pt x="114287" y="44535"/>
                  <a:pt x="114287" y="38101"/>
                </a:cubicBezTo>
                <a:cubicBezTo>
                  <a:pt x="114287" y="31667"/>
                  <a:pt x="109476" y="26250"/>
                  <a:pt x="103087" y="25490"/>
                </a:cubicBezTo>
                <a:lnTo>
                  <a:pt x="101601" y="25401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080260" y="1699260"/>
            <a:ext cx="1364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uni-app + Vue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4070" y="1922145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跨平台编译 · 组件化开发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4070" y="2112645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Pinia状态管理 · 4个Tab页面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62500" y="1642253"/>
            <a:ext cx="342900" cy="296894"/>
          </a:xfrm>
          <a:custGeom>
            <a:avLst/>
            <a:gdLst/>
            <a:ahLst/>
            <a:cxnLst/>
            <a:rect l="l" t="t" r="r" b="b"/>
            <a:pathLst>
              <a:path w="342900" h="296894">
                <a:moveTo>
                  <a:pt x="342900" y="0"/>
                </a:moveTo>
                <a:lnTo>
                  <a:pt x="200882" y="0"/>
                </a:lnTo>
                <a:lnTo>
                  <a:pt x="171450" y="50721"/>
                </a:lnTo>
                <a:lnTo>
                  <a:pt x="142018" y="0"/>
                </a:lnTo>
                <a:lnTo>
                  <a:pt x="0" y="0"/>
                </a:lnTo>
                <a:lnTo>
                  <a:pt x="171450" y="296894"/>
                </a:lnTo>
                <a:close/>
                <a:moveTo>
                  <a:pt x="171450" y="178165"/>
                </a:moveTo>
                <a:lnTo>
                  <a:pt x="73724" y="8858"/>
                </a:lnTo>
                <a:lnTo>
                  <a:pt x="137017" y="8858"/>
                </a:lnTo>
                <a:lnTo>
                  <a:pt x="171450" y="68580"/>
                </a:lnTo>
                <a:lnTo>
                  <a:pt x="205883" y="8858"/>
                </a:lnTo>
                <a:lnTo>
                  <a:pt x="269176" y="8858"/>
                </a:lnTo>
                <a:close/>
              </a:path>
            </a:pathLst>
          </a:custGeom>
          <a:solidFill>
            <a:srgbClr val="4FC08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752022" y="2006441"/>
            <a:ext cx="322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Vue 3</a:t>
            </a:r>
          </a:p>
        </p:txBody>
      </p:sp>
      <p:sp>
        <p:nvSpPr>
          <p:cNvPr id="17" name="Freeform 17"/>
          <p:cNvSpPr/>
          <p:nvPr/>
        </p:nvSpPr>
        <p:spPr>
          <a:xfrm>
            <a:off x="5905500" y="1476375"/>
            <a:ext cx="2667000" cy="904875"/>
          </a:xfrm>
          <a:custGeom>
            <a:avLst/>
            <a:gdLst/>
            <a:ahLst/>
            <a:cxnLst/>
            <a:rect l="l" t="t" r="r" b="b"/>
            <a:pathLst>
              <a:path w="2667000" h="904875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828675"/>
                </a:lnTo>
                <a:cubicBezTo>
                  <a:pt x="2667000" y="870759"/>
                  <a:pt x="2632884" y="904875"/>
                  <a:pt x="2590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083618" y="15901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技术特性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4570" y="1807845"/>
            <a:ext cx="12518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HTTP/WS 双协议通讯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84570" y="1998345"/>
            <a:ext cx="17250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68个Vue组件 · 15,234行代码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84570" y="2188845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微信小程序 + 管理后台</a:t>
            </a:r>
          </a:p>
        </p:txBody>
      </p:sp>
      <p:sp>
        <p:nvSpPr>
          <p:cNvPr id="22" name="Freeform 22"/>
          <p:cNvSpPr/>
          <p:nvPr/>
        </p:nvSpPr>
        <p:spPr>
          <a:xfrm>
            <a:off x="8953500" y="1476375"/>
            <a:ext cx="2286000" cy="904875"/>
          </a:xfrm>
          <a:custGeom>
            <a:avLst/>
            <a:gdLst/>
            <a:ahLst/>
            <a:cxnLst/>
            <a:rect l="l" t="t" r="r" b="b"/>
            <a:pathLst>
              <a:path w="2286000" h="904875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828675"/>
                </a:lnTo>
                <a:cubicBezTo>
                  <a:pt x="2286000" y="870759"/>
                  <a:pt x="2251884" y="904875"/>
                  <a:pt x="2209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4288">
            <a:solidFill>
              <a:srgbClr val="93C5FD"/>
            </a:solidFill>
            <a:custDash>
              <a:ds d="400000" sp="266666"/>
            </a:custDash>
          </a:ln>
        </p:spPr>
      </p:sp>
      <p:sp>
        <p:nvSpPr>
          <p:cNvPr id="23" name="TextBox 23"/>
          <p:cNvSpPr txBox="1"/>
          <p:nvPr/>
        </p:nvSpPr>
        <p:spPr>
          <a:xfrm>
            <a:off x="9552849" y="181594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待插入: 小程序截图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41989" y="1987391"/>
            <a:ext cx="15090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miniapp_screenshots.png</a:t>
            </a:r>
          </a:p>
        </p:txBody>
      </p:sp>
      <p:sp>
        <p:nvSpPr>
          <p:cNvPr id="25" name="Line 25"/>
          <p:cNvSpPr/>
          <p:nvPr/>
        </p:nvSpPr>
        <p:spPr>
          <a:xfrm>
            <a:off x="6096000" y="2647950"/>
            <a:ext cx="1" cy="304800"/>
          </a:xfrm>
          <a:prstGeom prst="line">
            <a:avLst/>
          </a:prstGeom>
          <a:noFill/>
          <a:ln w="19050">
            <a:solidFill>
              <a:srgbClr val="6B7280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5619750" y="2686050"/>
            <a:ext cx="952500" cy="228600"/>
          </a:xfrm>
          <a:custGeom>
            <a:avLst/>
            <a:gdLst/>
            <a:ahLst/>
            <a:cxnLst/>
            <a:rect l="l" t="t" r="r" b="b"/>
            <a:pathLst>
              <a:path w="952500" h="228600">
                <a:moveTo>
                  <a:pt x="114300" y="0"/>
                </a:moveTo>
                <a:lnTo>
                  <a:pt x="838200" y="0"/>
                </a:lnTo>
                <a:cubicBezTo>
                  <a:pt x="901326" y="0"/>
                  <a:pt x="952500" y="51174"/>
                  <a:pt x="952500" y="114300"/>
                </a:cubicBezTo>
                <a:lnTo>
                  <a:pt x="952500" y="114300"/>
                </a:lnTo>
                <a:cubicBezTo>
                  <a:pt x="952500" y="177426"/>
                  <a:pt x="901326" y="228600"/>
                  <a:pt x="8382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778960" y="2750820"/>
            <a:ext cx="6340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REST / WS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3028950"/>
            <a:ext cx="381000" cy="1524000"/>
          </a:xfrm>
          <a:custGeom>
            <a:avLst/>
            <a:gdLst/>
            <a:ahLst/>
            <a:cxnLst/>
            <a:rect l="l" t="t" r="r" b="b"/>
            <a:pathLst>
              <a:path w="381000" h="1524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447800"/>
                </a:lnTo>
                <a:cubicBezTo>
                  <a:pt x="381000" y="1489884"/>
                  <a:pt x="346884" y="1524000"/>
                  <a:pt x="304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6047" y="37376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95400" y="3028950"/>
            <a:ext cx="10134600" cy="1524000"/>
          </a:xfrm>
          <a:custGeom>
            <a:avLst/>
            <a:gdLst/>
            <a:ahLst/>
            <a:cxnLst/>
            <a:rect l="l" t="t" r="r" b="b"/>
            <a:pathLst>
              <a:path w="10134600" h="1524000">
                <a:moveTo>
                  <a:pt x="114300" y="0"/>
                </a:moveTo>
                <a:lnTo>
                  <a:pt x="10020300" y="0"/>
                </a:lnTo>
                <a:cubicBezTo>
                  <a:pt x="10083426" y="0"/>
                  <a:pt x="10134600" y="51174"/>
                  <a:pt x="10134600" y="114300"/>
                </a:cubicBezTo>
                <a:lnTo>
                  <a:pt x="10134600" y="1409700"/>
                </a:lnTo>
                <a:cubicBezTo>
                  <a:pt x="10134600" y="1472826"/>
                  <a:pt x="10083426" y="1524000"/>
                  <a:pt x="100203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CFDF5"/>
          </a:solidFill>
          <a:ln w="14288">
            <a:solidFill>
              <a:srgbClr val="6EE7B7"/>
            </a:solidFill>
            <a:custDash>
              <a:ds d="400000" sp="266666"/>
            </a:custDash>
          </a:ln>
        </p:spPr>
      </p:sp>
      <p:sp>
        <p:nvSpPr>
          <p:cNvPr id="31" name="TextBox 31"/>
          <p:cNvSpPr txBox="1"/>
          <p:nvPr/>
        </p:nvSpPr>
        <p:spPr>
          <a:xfrm>
            <a:off x="5532188" y="318230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后端服务 · 业务逻辑层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85900" y="3476625"/>
            <a:ext cx="2857500" cy="904875"/>
          </a:xfrm>
          <a:custGeom>
            <a:avLst/>
            <a:gdLst/>
            <a:ahLst/>
            <a:cxnLst/>
            <a:rect l="l" t="t" r="r" b="b"/>
            <a:pathLst>
              <a:path w="2857500" h="904875">
                <a:moveTo>
                  <a:pt x="76200" y="0"/>
                </a:moveTo>
                <a:lnTo>
                  <a:pt x="2781300" y="0"/>
                </a:lnTo>
                <a:cubicBezTo>
                  <a:pt x="2823384" y="0"/>
                  <a:pt x="2857500" y="34116"/>
                  <a:pt x="2857500" y="76200"/>
                </a:cubicBezTo>
                <a:lnTo>
                  <a:pt x="2857500" y="828675"/>
                </a:lnTo>
                <a:cubicBezTo>
                  <a:pt x="2857500" y="870759"/>
                  <a:pt x="2823384" y="904875"/>
                  <a:pt x="27813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080260" y="3699510"/>
            <a:ext cx="16130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Spring Boot 3.3.7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84070" y="3922395"/>
            <a:ext cx="12518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MyBatis-Plus 3.5.7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84070" y="411289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Java 17 · Maven构建</a:t>
            </a:r>
          </a:p>
        </p:txBody>
      </p:sp>
      <p:sp>
        <p:nvSpPr>
          <p:cNvPr id="36" name="Freeform 36"/>
          <p:cNvSpPr/>
          <p:nvPr/>
        </p:nvSpPr>
        <p:spPr>
          <a:xfrm>
            <a:off x="4761036" y="3617984"/>
            <a:ext cx="345826" cy="307833"/>
          </a:xfrm>
          <a:custGeom>
            <a:avLst/>
            <a:gdLst/>
            <a:ahLst/>
            <a:cxnLst/>
            <a:rect l="l" t="t" r="r" b="b"/>
            <a:pathLst>
              <a:path w="345826" h="307833">
                <a:moveTo>
                  <a:pt x="339978" y="135425"/>
                </a:moveTo>
                <a:lnTo>
                  <a:pt x="272398" y="18491"/>
                </a:lnTo>
                <a:cubicBezTo>
                  <a:pt x="266549" y="8338"/>
                  <a:pt x="252159" y="0"/>
                  <a:pt x="240391" y="0"/>
                </a:cubicBezTo>
                <a:lnTo>
                  <a:pt x="105370" y="0"/>
                </a:lnTo>
                <a:cubicBezTo>
                  <a:pt x="93669" y="0"/>
                  <a:pt x="79213" y="8338"/>
                  <a:pt x="73363" y="18491"/>
                </a:cubicBezTo>
                <a:lnTo>
                  <a:pt x="5851" y="135425"/>
                </a:lnTo>
                <a:cubicBezTo>
                  <a:pt x="0" y="145578"/>
                  <a:pt x="0" y="162186"/>
                  <a:pt x="5851" y="172340"/>
                </a:cubicBezTo>
                <a:lnTo>
                  <a:pt x="73362" y="289340"/>
                </a:lnTo>
                <a:cubicBezTo>
                  <a:pt x="79211" y="299495"/>
                  <a:pt x="93602" y="307833"/>
                  <a:pt x="105369" y="307833"/>
                </a:cubicBezTo>
                <a:lnTo>
                  <a:pt x="240457" y="307833"/>
                </a:lnTo>
                <a:cubicBezTo>
                  <a:pt x="252159" y="307833"/>
                  <a:pt x="266546" y="299495"/>
                  <a:pt x="272464" y="289342"/>
                </a:cubicBezTo>
                <a:lnTo>
                  <a:pt x="339975" y="172342"/>
                </a:lnTo>
                <a:cubicBezTo>
                  <a:pt x="345826" y="162187"/>
                  <a:pt x="345826" y="145578"/>
                  <a:pt x="339975" y="135425"/>
                </a:cubicBezTo>
                <a:close/>
                <a:moveTo>
                  <a:pt x="158288" y="64687"/>
                </a:moveTo>
                <a:cubicBezTo>
                  <a:pt x="158288" y="57021"/>
                  <a:pt x="164542" y="50768"/>
                  <a:pt x="172207" y="50768"/>
                </a:cubicBezTo>
                <a:cubicBezTo>
                  <a:pt x="179872" y="50768"/>
                  <a:pt x="186126" y="57021"/>
                  <a:pt x="186126" y="64687"/>
                </a:cubicBezTo>
                <a:lnTo>
                  <a:pt x="186126" y="147864"/>
                </a:lnTo>
                <a:cubicBezTo>
                  <a:pt x="186126" y="155531"/>
                  <a:pt x="179872" y="161783"/>
                  <a:pt x="172207" y="161783"/>
                </a:cubicBezTo>
                <a:cubicBezTo>
                  <a:pt x="164542" y="161783"/>
                  <a:pt x="158288" y="155531"/>
                  <a:pt x="158288" y="147864"/>
                </a:cubicBezTo>
                <a:close/>
                <a:moveTo>
                  <a:pt x="172207" y="242272"/>
                </a:moveTo>
                <a:cubicBezTo>
                  <a:pt x="120162" y="242272"/>
                  <a:pt x="77800" y="199909"/>
                  <a:pt x="77800" y="147864"/>
                </a:cubicBezTo>
                <a:cubicBezTo>
                  <a:pt x="77867" y="118009"/>
                  <a:pt x="91987" y="89970"/>
                  <a:pt x="115926" y="72083"/>
                </a:cubicBezTo>
                <a:cubicBezTo>
                  <a:pt x="118562" y="70114"/>
                  <a:pt x="121875" y="69276"/>
                  <a:pt x="125131" y="69755"/>
                </a:cubicBezTo>
                <a:cubicBezTo>
                  <a:pt x="128387" y="70235"/>
                  <a:pt x="131317" y="71992"/>
                  <a:pt x="133274" y="74638"/>
                </a:cubicBezTo>
                <a:cubicBezTo>
                  <a:pt x="135244" y="77274"/>
                  <a:pt x="136082" y="80587"/>
                  <a:pt x="135603" y="83844"/>
                </a:cubicBezTo>
                <a:cubicBezTo>
                  <a:pt x="135123" y="87100"/>
                  <a:pt x="133366" y="90031"/>
                  <a:pt x="130719" y="91987"/>
                </a:cubicBezTo>
                <a:cubicBezTo>
                  <a:pt x="99855" y="114916"/>
                  <a:pt x="93400" y="158556"/>
                  <a:pt x="116329" y="189419"/>
                </a:cubicBezTo>
                <a:cubicBezTo>
                  <a:pt x="139259" y="220285"/>
                  <a:pt x="182899" y="226738"/>
                  <a:pt x="213762" y="203810"/>
                </a:cubicBezTo>
                <a:cubicBezTo>
                  <a:pt x="231447" y="190698"/>
                  <a:pt x="241870" y="169920"/>
                  <a:pt x="241870" y="147864"/>
                </a:cubicBezTo>
                <a:cubicBezTo>
                  <a:pt x="241811" y="125736"/>
                  <a:pt x="231288" y="104940"/>
                  <a:pt x="213494" y="91786"/>
                </a:cubicBezTo>
                <a:cubicBezTo>
                  <a:pt x="207979" y="87751"/>
                  <a:pt x="206836" y="79950"/>
                  <a:pt x="210871" y="74436"/>
                </a:cubicBezTo>
                <a:cubicBezTo>
                  <a:pt x="214905" y="68921"/>
                  <a:pt x="222705" y="67778"/>
                  <a:pt x="228220" y="71815"/>
                </a:cubicBezTo>
                <a:cubicBezTo>
                  <a:pt x="252359" y="89633"/>
                  <a:pt x="266548" y="117875"/>
                  <a:pt x="266615" y="147864"/>
                </a:cubicBezTo>
                <a:cubicBezTo>
                  <a:pt x="266615" y="199976"/>
                  <a:pt x="224252" y="242272"/>
                  <a:pt x="172207" y="242272"/>
                </a:cubicBezTo>
                <a:close/>
              </a:path>
            </a:pathLst>
          </a:custGeom>
          <a:solidFill>
            <a:srgbClr val="6DB33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52022" y="3987641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Spring</a:t>
            </a:r>
          </a:p>
        </p:txBody>
      </p:sp>
      <p:sp>
        <p:nvSpPr>
          <p:cNvPr id="38" name="Freeform 38"/>
          <p:cNvSpPr/>
          <p:nvPr/>
        </p:nvSpPr>
        <p:spPr>
          <a:xfrm>
            <a:off x="5905500" y="3476625"/>
            <a:ext cx="2667000" cy="904875"/>
          </a:xfrm>
          <a:custGeom>
            <a:avLst/>
            <a:gdLst/>
            <a:ahLst/>
            <a:cxnLst/>
            <a:rect l="l" t="t" r="r" b="b"/>
            <a:pathLst>
              <a:path w="2667000" h="904875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828675"/>
                </a:lnTo>
                <a:cubicBezTo>
                  <a:pt x="2667000" y="870759"/>
                  <a:pt x="2632884" y="904875"/>
                  <a:pt x="2590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083618" y="3590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核心能力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84570" y="3808095"/>
            <a:ext cx="18302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22个Controller · 42个API接口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84570" y="3998595"/>
            <a:ext cx="1757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WebSocket IM · 7个定时任务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84570" y="41890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JWT拦截器 · 全局异常处理</a:t>
            </a:r>
          </a:p>
        </p:txBody>
      </p:sp>
      <p:sp>
        <p:nvSpPr>
          <p:cNvPr id="43" name="Freeform 43"/>
          <p:cNvSpPr/>
          <p:nvPr/>
        </p:nvSpPr>
        <p:spPr>
          <a:xfrm>
            <a:off x="8953500" y="3476625"/>
            <a:ext cx="2286000" cy="904875"/>
          </a:xfrm>
          <a:custGeom>
            <a:avLst/>
            <a:gdLst/>
            <a:ahLst/>
            <a:cxnLst/>
            <a:rect l="l" t="t" r="r" b="b"/>
            <a:pathLst>
              <a:path w="2286000" h="904875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828675"/>
                </a:lnTo>
                <a:cubicBezTo>
                  <a:pt x="2286000" y="870759"/>
                  <a:pt x="2251884" y="904875"/>
                  <a:pt x="2209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4288">
            <a:solidFill>
              <a:srgbClr val="6EE7B7"/>
            </a:solidFill>
            <a:custDash>
              <a:ds d="400000" sp="266666"/>
            </a:custDash>
          </a:ln>
        </p:spPr>
      </p:sp>
      <p:sp>
        <p:nvSpPr>
          <p:cNvPr id="44" name="TextBox 44"/>
          <p:cNvSpPr txBox="1"/>
          <p:nvPr/>
        </p:nvSpPr>
        <p:spPr>
          <a:xfrm>
            <a:off x="9492603" y="3816191"/>
            <a:ext cx="12077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待插入: 管理后台截图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59468" y="3987641"/>
            <a:ext cx="12740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admin_dashboard.png</a:t>
            </a:r>
          </a:p>
        </p:txBody>
      </p:sp>
      <p:sp>
        <p:nvSpPr>
          <p:cNvPr id="46" name="Line 46"/>
          <p:cNvSpPr/>
          <p:nvPr/>
        </p:nvSpPr>
        <p:spPr>
          <a:xfrm>
            <a:off x="6096000" y="46291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47" name="Freeform 47"/>
          <p:cNvSpPr/>
          <p:nvPr/>
        </p:nvSpPr>
        <p:spPr>
          <a:xfrm>
            <a:off x="5524500" y="466725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114300" y="0"/>
                </a:moveTo>
                <a:lnTo>
                  <a:pt x="1028700" y="0"/>
                </a:lnTo>
                <a:cubicBezTo>
                  <a:pt x="1091826" y="0"/>
                  <a:pt x="1143000" y="51174"/>
                  <a:pt x="1143000" y="114300"/>
                </a:cubicBezTo>
                <a:lnTo>
                  <a:pt x="1143000" y="114300"/>
                </a:lnTo>
                <a:cubicBezTo>
                  <a:pt x="1143000" y="177426"/>
                  <a:pt x="1091826" y="228600"/>
                  <a:pt x="10287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611368" y="4732020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JDBC / Lettuce</a:t>
            </a:r>
          </a:p>
        </p:txBody>
      </p:sp>
      <p:sp>
        <p:nvSpPr>
          <p:cNvPr id="49" name="Freeform 49"/>
          <p:cNvSpPr/>
          <p:nvPr/>
        </p:nvSpPr>
        <p:spPr>
          <a:xfrm>
            <a:off x="762000" y="5010150"/>
            <a:ext cx="381000" cy="1143000"/>
          </a:xfrm>
          <a:custGeom>
            <a:avLst/>
            <a:gdLst/>
            <a:ahLst/>
            <a:cxnLst/>
            <a:rect l="l" t="t" r="r" b="b"/>
            <a:pathLst>
              <a:path w="381000" h="1143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1066800"/>
                </a:lnTo>
                <a:cubicBezTo>
                  <a:pt x="381000" y="1108884"/>
                  <a:pt x="346884" y="1143000"/>
                  <a:pt x="304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36047" y="55283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1" name="Freeform 51"/>
          <p:cNvSpPr/>
          <p:nvPr/>
        </p:nvSpPr>
        <p:spPr>
          <a:xfrm>
            <a:off x="1295400" y="5010150"/>
            <a:ext cx="10134600" cy="1143000"/>
          </a:xfrm>
          <a:custGeom>
            <a:avLst/>
            <a:gdLst/>
            <a:ahLst/>
            <a:cxnLst/>
            <a:rect l="l" t="t" r="r" b="b"/>
            <a:pathLst>
              <a:path w="10134600" h="1143000">
                <a:moveTo>
                  <a:pt x="114300" y="0"/>
                </a:moveTo>
                <a:lnTo>
                  <a:pt x="10020300" y="0"/>
                </a:lnTo>
                <a:cubicBezTo>
                  <a:pt x="10083426" y="0"/>
                  <a:pt x="10134600" y="51174"/>
                  <a:pt x="10134600" y="114300"/>
                </a:cubicBezTo>
                <a:lnTo>
                  <a:pt x="10134600" y="1028700"/>
                </a:lnTo>
                <a:cubicBezTo>
                  <a:pt x="10134600" y="1091826"/>
                  <a:pt x="10083426" y="1143000"/>
                  <a:pt x="100203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BEB"/>
          </a:solidFill>
          <a:ln w="14288">
            <a:solidFill>
              <a:srgbClr val="FCD34D"/>
            </a:solidFill>
            <a:custDash>
              <a:ds d="400000" sp="266666"/>
            </a:custDash>
          </a:ln>
        </p:spPr>
      </p:sp>
      <p:sp>
        <p:nvSpPr>
          <p:cNvPr id="52" name="TextBox 52"/>
          <p:cNvSpPr txBox="1"/>
          <p:nvPr/>
        </p:nvSpPr>
        <p:spPr>
          <a:xfrm>
            <a:off x="5532188" y="516350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数据层 · 持久化与缓存</a:t>
            </a:r>
          </a:p>
        </p:txBody>
      </p:sp>
      <p:sp>
        <p:nvSpPr>
          <p:cNvPr id="53" name="Freeform 53"/>
          <p:cNvSpPr/>
          <p:nvPr/>
        </p:nvSpPr>
        <p:spPr>
          <a:xfrm>
            <a:off x="1485900" y="5429250"/>
            <a:ext cx="3619500" cy="571500"/>
          </a:xfrm>
          <a:custGeom>
            <a:avLst/>
            <a:gdLst/>
            <a:ahLst/>
            <a:cxnLst/>
            <a:rect l="l" t="t" r="r" b="b"/>
            <a:pathLst>
              <a:path w="3619500" h="5715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495300"/>
                </a:lnTo>
                <a:cubicBezTo>
                  <a:pt x="3619500" y="537384"/>
                  <a:pt x="3585384" y="571500"/>
                  <a:pt x="3543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4" name="Freeform 54"/>
          <p:cNvSpPr/>
          <p:nvPr/>
        </p:nvSpPr>
        <p:spPr>
          <a:xfrm>
            <a:off x="1676400" y="5613387"/>
            <a:ext cx="310159" cy="228854"/>
          </a:xfrm>
          <a:custGeom>
            <a:avLst/>
            <a:gdLst/>
            <a:ahLst/>
            <a:cxnLst/>
            <a:rect l="l" t="t" r="r" b="b"/>
            <a:pathLst>
              <a:path w="310159" h="228854">
                <a:moveTo>
                  <a:pt x="208344" y="25"/>
                </a:moveTo>
                <a:cubicBezTo>
                  <a:pt x="206883" y="25"/>
                  <a:pt x="205892" y="203"/>
                  <a:pt x="204864" y="444"/>
                </a:cubicBezTo>
                <a:lnTo>
                  <a:pt x="204864" y="610"/>
                </a:lnTo>
                <a:lnTo>
                  <a:pt x="205042" y="610"/>
                </a:lnTo>
                <a:cubicBezTo>
                  <a:pt x="205727" y="1930"/>
                  <a:pt x="206896" y="2896"/>
                  <a:pt x="207759" y="4077"/>
                </a:cubicBezTo>
                <a:cubicBezTo>
                  <a:pt x="208445" y="5436"/>
                  <a:pt x="209029" y="6795"/>
                  <a:pt x="209715" y="8141"/>
                </a:cubicBezTo>
                <a:lnTo>
                  <a:pt x="209893" y="7950"/>
                </a:lnTo>
                <a:cubicBezTo>
                  <a:pt x="211087" y="7112"/>
                  <a:pt x="211671" y="5766"/>
                  <a:pt x="211671" y="3721"/>
                </a:cubicBezTo>
                <a:cubicBezTo>
                  <a:pt x="211163" y="3124"/>
                  <a:pt x="211087" y="2527"/>
                  <a:pt x="210655" y="1943"/>
                </a:cubicBezTo>
                <a:cubicBezTo>
                  <a:pt x="210147" y="1092"/>
                  <a:pt x="209055" y="673"/>
                  <a:pt x="208369" y="0"/>
                </a:cubicBezTo>
                <a:close/>
                <a:moveTo>
                  <a:pt x="73279" y="167589"/>
                </a:moveTo>
                <a:lnTo>
                  <a:pt x="61506" y="167589"/>
                </a:lnTo>
                <a:lnTo>
                  <a:pt x="61404" y="167589"/>
                </a:lnTo>
                <a:lnTo>
                  <a:pt x="43497" y="223596"/>
                </a:lnTo>
                <a:lnTo>
                  <a:pt x="31115" y="223596"/>
                </a:lnTo>
                <a:lnTo>
                  <a:pt x="13335" y="167589"/>
                </a:lnTo>
                <a:lnTo>
                  <a:pt x="13208" y="167589"/>
                </a:lnTo>
                <a:lnTo>
                  <a:pt x="0" y="167589"/>
                </a:lnTo>
                <a:cubicBezTo>
                  <a:pt x="698" y="142621"/>
                  <a:pt x="2438" y="119202"/>
                  <a:pt x="5207" y="97358"/>
                </a:cubicBezTo>
                <a:lnTo>
                  <a:pt x="19812" y="97358"/>
                </a:lnTo>
                <a:lnTo>
                  <a:pt x="36767" y="148971"/>
                </a:lnTo>
                <a:lnTo>
                  <a:pt x="36868" y="148971"/>
                </a:lnTo>
                <a:lnTo>
                  <a:pt x="53975" y="97358"/>
                </a:lnTo>
                <a:lnTo>
                  <a:pt x="67881" y="97358"/>
                </a:lnTo>
                <a:cubicBezTo>
                  <a:pt x="70955" y="122949"/>
                  <a:pt x="72758" y="146380"/>
                  <a:pt x="73317" y="167589"/>
                </a:cubicBezTo>
                <a:close/>
                <a:moveTo>
                  <a:pt x="124295" y="115773"/>
                </a:moveTo>
                <a:cubicBezTo>
                  <a:pt x="119494" y="141745"/>
                  <a:pt x="113170" y="160642"/>
                  <a:pt x="105347" y="172415"/>
                </a:cubicBezTo>
                <a:cubicBezTo>
                  <a:pt x="99225" y="181508"/>
                  <a:pt x="92520" y="186042"/>
                  <a:pt x="85242" y="186042"/>
                </a:cubicBezTo>
                <a:cubicBezTo>
                  <a:pt x="83299" y="186042"/>
                  <a:pt x="80924" y="185458"/>
                  <a:pt x="78054" y="184290"/>
                </a:cubicBezTo>
                <a:lnTo>
                  <a:pt x="78054" y="178016"/>
                </a:lnTo>
                <a:cubicBezTo>
                  <a:pt x="79451" y="178232"/>
                  <a:pt x="81102" y="178346"/>
                  <a:pt x="82956" y="178346"/>
                </a:cubicBezTo>
                <a:cubicBezTo>
                  <a:pt x="86360" y="178346"/>
                  <a:pt x="89090" y="177394"/>
                  <a:pt x="91173" y="175527"/>
                </a:cubicBezTo>
                <a:cubicBezTo>
                  <a:pt x="93675" y="173241"/>
                  <a:pt x="94920" y="170675"/>
                  <a:pt x="94920" y="167843"/>
                </a:cubicBezTo>
                <a:cubicBezTo>
                  <a:pt x="94920" y="165875"/>
                  <a:pt x="93942" y="161874"/>
                  <a:pt x="91999" y="155854"/>
                </a:cubicBezTo>
                <a:lnTo>
                  <a:pt x="79121" y="115773"/>
                </a:lnTo>
                <a:lnTo>
                  <a:pt x="90678" y="115773"/>
                </a:lnTo>
                <a:lnTo>
                  <a:pt x="99911" y="145745"/>
                </a:lnTo>
                <a:cubicBezTo>
                  <a:pt x="101994" y="152552"/>
                  <a:pt x="102870" y="157302"/>
                  <a:pt x="102514" y="160007"/>
                </a:cubicBezTo>
                <a:cubicBezTo>
                  <a:pt x="107594" y="146494"/>
                  <a:pt x="111125" y="131724"/>
                  <a:pt x="113119" y="115773"/>
                </a:cubicBezTo>
                <a:close/>
                <a:moveTo>
                  <a:pt x="280822" y="167589"/>
                </a:moveTo>
                <a:lnTo>
                  <a:pt x="247421" y="167589"/>
                </a:lnTo>
                <a:lnTo>
                  <a:pt x="247421" y="97358"/>
                </a:lnTo>
                <a:lnTo>
                  <a:pt x="258661" y="97358"/>
                </a:lnTo>
                <a:lnTo>
                  <a:pt x="258661" y="158953"/>
                </a:lnTo>
                <a:lnTo>
                  <a:pt x="280822" y="158953"/>
                </a:lnTo>
                <a:close/>
                <a:moveTo>
                  <a:pt x="238658" y="169304"/>
                </a:moveTo>
                <a:lnTo>
                  <a:pt x="225755" y="162954"/>
                </a:lnTo>
                <a:cubicBezTo>
                  <a:pt x="226898" y="161988"/>
                  <a:pt x="228003" y="160947"/>
                  <a:pt x="228994" y="159779"/>
                </a:cubicBezTo>
                <a:cubicBezTo>
                  <a:pt x="234493" y="153353"/>
                  <a:pt x="237223" y="143802"/>
                  <a:pt x="237223" y="131166"/>
                </a:cubicBezTo>
                <a:cubicBezTo>
                  <a:pt x="237223" y="107925"/>
                  <a:pt x="228105" y="96291"/>
                  <a:pt x="209855" y="96291"/>
                </a:cubicBezTo>
                <a:cubicBezTo>
                  <a:pt x="200914" y="96291"/>
                  <a:pt x="193929" y="99238"/>
                  <a:pt x="188900" y="105143"/>
                </a:cubicBezTo>
                <a:cubicBezTo>
                  <a:pt x="183439" y="111595"/>
                  <a:pt x="180696" y="121095"/>
                  <a:pt x="180696" y="133655"/>
                </a:cubicBezTo>
                <a:cubicBezTo>
                  <a:pt x="180696" y="145999"/>
                  <a:pt x="183109" y="155067"/>
                  <a:pt x="187985" y="160833"/>
                </a:cubicBezTo>
                <a:cubicBezTo>
                  <a:pt x="192430" y="166040"/>
                  <a:pt x="199123" y="168643"/>
                  <a:pt x="208089" y="168643"/>
                </a:cubicBezTo>
                <a:cubicBezTo>
                  <a:pt x="211442" y="168643"/>
                  <a:pt x="214516" y="168224"/>
                  <a:pt x="217297" y="167399"/>
                </a:cubicBezTo>
                <a:lnTo>
                  <a:pt x="234124" y="177203"/>
                </a:lnTo>
                <a:lnTo>
                  <a:pt x="238697" y="169304"/>
                </a:lnTo>
                <a:close/>
                <a:moveTo>
                  <a:pt x="196850" y="153530"/>
                </a:moveTo>
                <a:cubicBezTo>
                  <a:pt x="193993" y="148958"/>
                  <a:pt x="192570" y="141592"/>
                  <a:pt x="192570" y="131483"/>
                </a:cubicBezTo>
                <a:cubicBezTo>
                  <a:pt x="192570" y="113792"/>
                  <a:pt x="197955" y="104940"/>
                  <a:pt x="208699" y="104940"/>
                </a:cubicBezTo>
                <a:cubicBezTo>
                  <a:pt x="214325" y="104940"/>
                  <a:pt x="218478" y="107061"/>
                  <a:pt x="221107" y="111290"/>
                </a:cubicBezTo>
                <a:cubicBezTo>
                  <a:pt x="223952" y="115887"/>
                  <a:pt x="225374" y="123177"/>
                  <a:pt x="225374" y="133172"/>
                </a:cubicBezTo>
                <a:cubicBezTo>
                  <a:pt x="225374" y="151003"/>
                  <a:pt x="219989" y="159944"/>
                  <a:pt x="209245" y="159944"/>
                </a:cubicBezTo>
                <a:cubicBezTo>
                  <a:pt x="203594" y="159944"/>
                  <a:pt x="199466" y="157823"/>
                  <a:pt x="196825" y="153594"/>
                </a:cubicBezTo>
                <a:close/>
                <a:moveTo>
                  <a:pt x="175793" y="148133"/>
                </a:moveTo>
                <a:cubicBezTo>
                  <a:pt x="175793" y="154102"/>
                  <a:pt x="173609" y="159004"/>
                  <a:pt x="169240" y="162814"/>
                </a:cubicBezTo>
                <a:cubicBezTo>
                  <a:pt x="164871" y="166624"/>
                  <a:pt x="159042" y="168529"/>
                  <a:pt x="151663" y="168529"/>
                </a:cubicBezTo>
                <a:cubicBezTo>
                  <a:pt x="144767" y="168529"/>
                  <a:pt x="138151" y="166345"/>
                  <a:pt x="131686" y="161988"/>
                </a:cubicBezTo>
                <a:lnTo>
                  <a:pt x="134696" y="155943"/>
                </a:lnTo>
                <a:cubicBezTo>
                  <a:pt x="140259" y="158737"/>
                  <a:pt x="145275" y="160109"/>
                  <a:pt x="149809" y="160109"/>
                </a:cubicBezTo>
                <a:cubicBezTo>
                  <a:pt x="154026" y="160109"/>
                  <a:pt x="157340" y="159182"/>
                  <a:pt x="159753" y="157315"/>
                </a:cubicBezTo>
                <a:cubicBezTo>
                  <a:pt x="159753" y="153124"/>
                  <a:pt x="156832" y="149568"/>
                  <a:pt x="151524" y="146583"/>
                </a:cubicBezTo>
                <a:cubicBezTo>
                  <a:pt x="146596" y="143878"/>
                  <a:pt x="136754" y="138239"/>
                  <a:pt x="136754" y="138239"/>
                </a:cubicBezTo>
                <a:cubicBezTo>
                  <a:pt x="131394" y="134341"/>
                  <a:pt x="128727" y="130162"/>
                  <a:pt x="128727" y="123292"/>
                </a:cubicBezTo>
                <a:cubicBezTo>
                  <a:pt x="128727" y="117577"/>
                  <a:pt x="130721" y="113005"/>
                  <a:pt x="134696" y="109512"/>
                </a:cubicBezTo>
                <a:cubicBezTo>
                  <a:pt x="138697" y="105981"/>
                  <a:pt x="143840" y="104242"/>
                  <a:pt x="150190" y="104242"/>
                </a:cubicBezTo>
                <a:cubicBezTo>
                  <a:pt x="156693" y="104242"/>
                  <a:pt x="162636" y="105969"/>
                  <a:pt x="167970" y="109449"/>
                </a:cubicBezTo>
                <a:lnTo>
                  <a:pt x="165265" y="115494"/>
                </a:lnTo>
                <a:cubicBezTo>
                  <a:pt x="161671" y="115494"/>
                  <a:pt x="158890" y="116357"/>
                  <a:pt x="156959" y="118110"/>
                </a:cubicBezTo>
                <a:cubicBezTo>
                  <a:pt x="156959" y="122276"/>
                  <a:pt x="159931" y="125857"/>
                  <a:pt x="165418" y="128905"/>
                </a:cubicBezTo>
                <a:cubicBezTo>
                  <a:pt x="170409" y="131636"/>
                  <a:pt x="180492" y="137414"/>
                  <a:pt x="180492" y="137414"/>
                </a:cubicBezTo>
                <a:cubicBezTo>
                  <a:pt x="185992" y="141288"/>
                  <a:pt x="188722" y="145415"/>
                  <a:pt x="188722" y="152248"/>
                </a:cubicBezTo>
                <a:close/>
                <a:moveTo>
                  <a:pt x="294945" y="73812"/>
                </a:moveTo>
                <a:cubicBezTo>
                  <a:pt x="288150" y="73635"/>
                  <a:pt x="282880" y="74320"/>
                  <a:pt x="278473" y="76200"/>
                </a:cubicBezTo>
                <a:cubicBezTo>
                  <a:pt x="277203" y="76708"/>
                  <a:pt x="275171" y="76708"/>
                  <a:pt x="274993" y="78321"/>
                </a:cubicBezTo>
                <a:cubicBezTo>
                  <a:pt x="275692" y="78994"/>
                  <a:pt x="275793" y="80099"/>
                  <a:pt x="276390" y="81039"/>
                </a:cubicBezTo>
                <a:cubicBezTo>
                  <a:pt x="277406" y="82741"/>
                  <a:pt x="279159" y="85014"/>
                  <a:pt x="280784" y="86208"/>
                </a:cubicBezTo>
                <a:cubicBezTo>
                  <a:pt x="282562" y="87605"/>
                  <a:pt x="284340" y="88951"/>
                  <a:pt x="286207" y="90145"/>
                </a:cubicBezTo>
                <a:cubicBezTo>
                  <a:pt x="289509" y="92177"/>
                  <a:pt x="293256" y="93383"/>
                  <a:pt x="296494" y="95428"/>
                </a:cubicBezTo>
                <a:cubicBezTo>
                  <a:pt x="298336" y="96622"/>
                  <a:pt x="300215" y="98133"/>
                  <a:pt x="302082" y="99403"/>
                </a:cubicBezTo>
                <a:cubicBezTo>
                  <a:pt x="303009" y="100038"/>
                  <a:pt x="303606" y="101181"/>
                  <a:pt x="304800" y="101587"/>
                </a:cubicBezTo>
                <a:lnTo>
                  <a:pt x="304800" y="101333"/>
                </a:lnTo>
                <a:cubicBezTo>
                  <a:pt x="304216" y="100571"/>
                  <a:pt x="304038" y="99466"/>
                  <a:pt x="303466" y="98616"/>
                </a:cubicBezTo>
                <a:cubicBezTo>
                  <a:pt x="302616" y="97765"/>
                  <a:pt x="301765" y="97003"/>
                  <a:pt x="300926" y="96164"/>
                </a:cubicBezTo>
                <a:cubicBezTo>
                  <a:pt x="298209" y="94310"/>
                  <a:pt x="292265" y="91719"/>
                  <a:pt x="291147" y="88608"/>
                </a:cubicBezTo>
                <a:lnTo>
                  <a:pt x="290982" y="88430"/>
                </a:lnTo>
                <a:cubicBezTo>
                  <a:pt x="292837" y="88265"/>
                  <a:pt x="295046" y="87592"/>
                  <a:pt x="296824" y="87084"/>
                </a:cubicBezTo>
                <a:cubicBezTo>
                  <a:pt x="299707" y="86322"/>
                  <a:pt x="302349" y="86487"/>
                  <a:pt x="305333" y="85738"/>
                </a:cubicBezTo>
                <a:cubicBezTo>
                  <a:pt x="306680" y="85395"/>
                  <a:pt x="308039" y="84976"/>
                  <a:pt x="309397" y="84544"/>
                </a:cubicBezTo>
                <a:lnTo>
                  <a:pt x="309397" y="83782"/>
                </a:lnTo>
                <a:cubicBezTo>
                  <a:pt x="307873" y="82258"/>
                  <a:pt x="306730" y="80188"/>
                  <a:pt x="305156" y="78765"/>
                </a:cubicBezTo>
                <a:cubicBezTo>
                  <a:pt x="302489" y="77064"/>
                  <a:pt x="299110" y="75971"/>
                  <a:pt x="296304" y="74524"/>
                </a:cubicBezTo>
                <a:cubicBezTo>
                  <a:pt x="295288" y="74016"/>
                  <a:pt x="293586" y="73762"/>
                  <a:pt x="293002" y="72911"/>
                </a:cubicBezTo>
                <a:cubicBezTo>
                  <a:pt x="291478" y="71057"/>
                  <a:pt x="290589" y="68593"/>
                  <a:pt x="289509" y="66383"/>
                </a:cubicBezTo>
                <a:cubicBezTo>
                  <a:pt x="287985" y="63056"/>
                  <a:pt x="287058" y="59741"/>
                  <a:pt x="285191" y="56693"/>
                </a:cubicBezTo>
                <a:cubicBezTo>
                  <a:pt x="276428" y="42253"/>
                  <a:pt x="266941" y="33503"/>
                  <a:pt x="252349" y="24943"/>
                </a:cubicBezTo>
                <a:cubicBezTo>
                  <a:pt x="249212" y="23165"/>
                  <a:pt x="245453" y="22403"/>
                  <a:pt x="241478" y="21463"/>
                </a:cubicBezTo>
                <a:cubicBezTo>
                  <a:pt x="239357" y="21361"/>
                  <a:pt x="237236" y="21209"/>
                  <a:pt x="235128" y="21120"/>
                </a:cubicBezTo>
                <a:cubicBezTo>
                  <a:pt x="233731" y="20523"/>
                  <a:pt x="232385" y="18910"/>
                  <a:pt x="231191" y="18136"/>
                </a:cubicBezTo>
                <a:cubicBezTo>
                  <a:pt x="226365" y="15088"/>
                  <a:pt x="213868" y="8484"/>
                  <a:pt x="210312" y="17221"/>
                </a:cubicBezTo>
                <a:cubicBezTo>
                  <a:pt x="208026" y="22733"/>
                  <a:pt x="213703" y="28169"/>
                  <a:pt x="215671" y="30963"/>
                </a:cubicBezTo>
                <a:cubicBezTo>
                  <a:pt x="217132" y="32906"/>
                  <a:pt x="218973" y="35128"/>
                  <a:pt x="219989" y="37313"/>
                </a:cubicBezTo>
                <a:cubicBezTo>
                  <a:pt x="220586" y="38786"/>
                  <a:pt x="220751" y="40297"/>
                  <a:pt x="221348" y="41834"/>
                </a:cubicBezTo>
                <a:cubicBezTo>
                  <a:pt x="222694" y="45568"/>
                  <a:pt x="223977" y="49733"/>
                  <a:pt x="225755" y="53226"/>
                </a:cubicBezTo>
                <a:cubicBezTo>
                  <a:pt x="226682" y="55004"/>
                  <a:pt x="227698" y="56871"/>
                  <a:pt x="228892" y="58471"/>
                </a:cubicBezTo>
                <a:cubicBezTo>
                  <a:pt x="229578" y="59398"/>
                  <a:pt x="230746" y="59830"/>
                  <a:pt x="231013" y="61354"/>
                </a:cubicBezTo>
                <a:cubicBezTo>
                  <a:pt x="229819" y="63081"/>
                  <a:pt x="229743" y="65595"/>
                  <a:pt x="229057" y="67704"/>
                </a:cubicBezTo>
                <a:cubicBezTo>
                  <a:pt x="226009" y="77318"/>
                  <a:pt x="227203" y="89205"/>
                  <a:pt x="231521" y="96279"/>
                </a:cubicBezTo>
                <a:cubicBezTo>
                  <a:pt x="232880" y="98387"/>
                  <a:pt x="236118" y="103061"/>
                  <a:pt x="240449" y="101270"/>
                </a:cubicBezTo>
                <a:cubicBezTo>
                  <a:pt x="244259" y="99746"/>
                  <a:pt x="243421" y="94920"/>
                  <a:pt x="244513" y="90665"/>
                </a:cubicBezTo>
                <a:cubicBezTo>
                  <a:pt x="244767" y="89649"/>
                  <a:pt x="244602" y="88976"/>
                  <a:pt x="245123" y="88290"/>
                </a:cubicBezTo>
                <a:lnTo>
                  <a:pt x="245123" y="88481"/>
                </a:lnTo>
                <a:cubicBezTo>
                  <a:pt x="246317" y="90868"/>
                  <a:pt x="247510" y="93142"/>
                  <a:pt x="248602" y="95529"/>
                </a:cubicBezTo>
                <a:cubicBezTo>
                  <a:pt x="251219" y="99695"/>
                  <a:pt x="255791" y="104013"/>
                  <a:pt x="259613" y="106896"/>
                </a:cubicBezTo>
                <a:cubicBezTo>
                  <a:pt x="261645" y="108420"/>
                  <a:pt x="263258" y="111061"/>
                  <a:pt x="265798" y="112001"/>
                </a:cubicBezTo>
                <a:lnTo>
                  <a:pt x="265798" y="111747"/>
                </a:lnTo>
                <a:lnTo>
                  <a:pt x="265608" y="111747"/>
                </a:lnTo>
                <a:cubicBezTo>
                  <a:pt x="265062" y="111011"/>
                  <a:pt x="264338" y="110655"/>
                  <a:pt x="263652" y="110058"/>
                </a:cubicBezTo>
                <a:cubicBezTo>
                  <a:pt x="243779" y="109151"/>
                  <a:pt x="224931" y="118914"/>
                  <a:pt x="214208" y="135671"/>
                </a:cubicBezTo>
                <a:cubicBezTo>
                  <a:pt x="203486" y="152429"/>
                  <a:pt x="202518" y="173633"/>
                  <a:pt x="211668" y="191297"/>
                </a:cubicBezTo>
                <a:cubicBezTo>
                  <a:pt x="220819" y="208962"/>
                  <a:pt x="238699" y="220403"/>
                  <a:pt x="258572" y="221310"/>
                </a:cubicBezTo>
                <a:cubicBezTo>
                  <a:pt x="257175" y="218643"/>
                  <a:pt x="256007" y="215773"/>
                  <a:pt x="254889" y="213144"/>
                </a:cubicBezTo>
                <a:cubicBezTo>
                  <a:pt x="254381" y="212128"/>
                  <a:pt x="254381" y="210604"/>
                  <a:pt x="253530" y="210096"/>
                </a:cubicBezTo>
                <a:cubicBezTo>
                  <a:pt x="252260" y="211950"/>
                  <a:pt x="250393" y="213563"/>
                  <a:pt x="249466" y="215849"/>
                </a:cubicBezTo>
                <a:cubicBezTo>
                  <a:pt x="247853" y="219507"/>
                  <a:pt x="247688" y="224003"/>
                  <a:pt x="247078" y="228676"/>
                </a:cubicBezTo>
                <a:cubicBezTo>
                  <a:pt x="246736" y="228765"/>
                  <a:pt x="246901" y="228676"/>
                  <a:pt x="246736" y="228854"/>
                </a:cubicBezTo>
                <a:cubicBezTo>
                  <a:pt x="244018" y="228194"/>
                  <a:pt x="243091" y="225374"/>
                  <a:pt x="242075" y="223012"/>
                </a:cubicBezTo>
                <a:cubicBezTo>
                  <a:pt x="239535" y="216979"/>
                  <a:pt x="239116" y="207289"/>
                  <a:pt x="241313" y="200342"/>
                </a:cubicBezTo>
                <a:cubicBezTo>
                  <a:pt x="241910" y="198565"/>
                  <a:pt x="244450" y="192951"/>
                  <a:pt x="243434" y="191249"/>
                </a:cubicBezTo>
                <a:cubicBezTo>
                  <a:pt x="242900" y="189636"/>
                  <a:pt x="241224" y="188709"/>
                  <a:pt x="240297" y="187401"/>
                </a:cubicBezTo>
                <a:cubicBezTo>
                  <a:pt x="238265" y="182651"/>
                  <a:pt x="237249" y="177394"/>
                  <a:pt x="235039" y="172644"/>
                </a:cubicBezTo>
                <a:cubicBezTo>
                  <a:pt x="234023" y="170447"/>
                  <a:pt x="232245" y="168148"/>
                  <a:pt x="230797" y="166129"/>
                </a:cubicBezTo>
                <a:cubicBezTo>
                  <a:pt x="229184" y="163843"/>
                  <a:pt x="227406" y="162230"/>
                  <a:pt x="226124" y="159525"/>
                </a:cubicBezTo>
                <a:cubicBezTo>
                  <a:pt x="225704" y="158598"/>
                  <a:pt x="225108" y="157061"/>
                  <a:pt x="225781" y="156045"/>
                </a:cubicBezTo>
                <a:cubicBezTo>
                  <a:pt x="225958" y="155359"/>
                  <a:pt x="226314" y="155092"/>
                  <a:pt x="226974" y="154902"/>
                </a:cubicBezTo>
                <a:cubicBezTo>
                  <a:pt x="228092" y="153987"/>
                  <a:pt x="231229" y="155181"/>
                  <a:pt x="232334" y="155689"/>
                </a:cubicBezTo>
                <a:cubicBezTo>
                  <a:pt x="235471" y="156959"/>
                  <a:pt x="238112" y="158153"/>
                  <a:pt x="240741" y="159931"/>
                </a:cubicBezTo>
                <a:cubicBezTo>
                  <a:pt x="241935" y="160769"/>
                  <a:pt x="243218" y="162382"/>
                  <a:pt x="244742" y="162801"/>
                </a:cubicBezTo>
                <a:lnTo>
                  <a:pt x="246520" y="162801"/>
                </a:lnTo>
                <a:cubicBezTo>
                  <a:pt x="249238" y="163398"/>
                  <a:pt x="252298" y="162979"/>
                  <a:pt x="254838" y="163728"/>
                </a:cubicBezTo>
                <a:cubicBezTo>
                  <a:pt x="259347" y="165176"/>
                  <a:pt x="263411" y="167284"/>
                  <a:pt x="267056" y="169570"/>
                </a:cubicBezTo>
                <a:cubicBezTo>
                  <a:pt x="268072" y="171526"/>
                  <a:pt x="268516" y="173317"/>
                  <a:pt x="269443" y="175349"/>
                </a:cubicBezTo>
                <a:cubicBezTo>
                  <a:pt x="271221" y="179540"/>
                  <a:pt x="273418" y="183769"/>
                  <a:pt x="275222" y="187820"/>
                </a:cubicBezTo>
                <a:cubicBezTo>
                  <a:pt x="277000" y="191821"/>
                  <a:pt x="278714" y="195898"/>
                  <a:pt x="281267" y="199212"/>
                </a:cubicBezTo>
                <a:cubicBezTo>
                  <a:pt x="282537" y="200990"/>
                  <a:pt x="287642" y="201917"/>
                  <a:pt x="289928" y="202844"/>
                </a:cubicBezTo>
                <a:cubicBezTo>
                  <a:pt x="291617" y="203606"/>
                  <a:pt x="294246" y="204305"/>
                  <a:pt x="295770" y="205232"/>
                </a:cubicBezTo>
                <a:cubicBezTo>
                  <a:pt x="298691" y="207010"/>
                  <a:pt x="301536" y="209042"/>
                  <a:pt x="304279" y="210998"/>
                </a:cubicBezTo>
                <a:cubicBezTo>
                  <a:pt x="305676" y="211963"/>
                  <a:pt x="309905" y="214084"/>
                  <a:pt x="310159" y="215798"/>
                </a:cubicBezTo>
                <a:close/>
              </a:path>
            </a:pathLst>
          </a:custGeom>
          <a:solidFill>
            <a:srgbClr val="4479A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2080260" y="5585460"/>
            <a:ext cx="96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MySQL 5.7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84070" y="5808345"/>
            <a:ext cx="2014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22张业务表 · 286字段 · 45个索引</a:t>
            </a:r>
          </a:p>
        </p:txBody>
      </p:sp>
      <p:sp>
        <p:nvSpPr>
          <p:cNvPr id="57" name="Freeform 57"/>
          <p:cNvSpPr/>
          <p:nvPr/>
        </p:nvSpPr>
        <p:spPr>
          <a:xfrm>
            <a:off x="5524500" y="5429250"/>
            <a:ext cx="3619500" cy="571500"/>
          </a:xfrm>
          <a:custGeom>
            <a:avLst/>
            <a:gdLst/>
            <a:ahLst/>
            <a:cxnLst/>
            <a:rect l="l" t="t" r="r" b="b"/>
            <a:pathLst>
              <a:path w="3619500" h="5715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495300"/>
                </a:lnTo>
                <a:cubicBezTo>
                  <a:pt x="3619500" y="537384"/>
                  <a:pt x="3585384" y="571500"/>
                  <a:pt x="3543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8" name="Freeform 58"/>
          <p:cNvSpPr/>
          <p:nvPr/>
        </p:nvSpPr>
        <p:spPr>
          <a:xfrm>
            <a:off x="5715000" y="5555323"/>
            <a:ext cx="306984" cy="281254"/>
          </a:xfrm>
          <a:custGeom>
            <a:avLst/>
            <a:gdLst/>
            <a:ahLst/>
            <a:cxnLst/>
            <a:rect l="l" t="t" r="r" b="b"/>
            <a:pathLst>
              <a:path w="306984" h="281254">
                <a:moveTo>
                  <a:pt x="288417" y="155169"/>
                </a:moveTo>
                <a:cubicBezTo>
                  <a:pt x="267335" y="181737"/>
                  <a:pt x="244577" y="212103"/>
                  <a:pt x="199034" y="212103"/>
                </a:cubicBezTo>
                <a:cubicBezTo>
                  <a:pt x="158356" y="212103"/>
                  <a:pt x="143192" y="176225"/>
                  <a:pt x="142138" y="147079"/>
                </a:cubicBezTo>
                <a:cubicBezTo>
                  <a:pt x="151041" y="165925"/>
                  <a:pt x="168466" y="181178"/>
                  <a:pt x="195656" y="180480"/>
                </a:cubicBezTo>
                <a:cubicBezTo>
                  <a:pt x="247942" y="178791"/>
                  <a:pt x="283794" y="131559"/>
                  <a:pt x="283794" y="88544"/>
                </a:cubicBezTo>
                <a:cubicBezTo>
                  <a:pt x="283794" y="37109"/>
                  <a:pt x="245415" y="0"/>
                  <a:pt x="178791" y="0"/>
                </a:cubicBezTo>
                <a:cubicBezTo>
                  <a:pt x="131140" y="0"/>
                  <a:pt x="72111" y="18136"/>
                  <a:pt x="33312" y="46799"/>
                </a:cubicBezTo>
                <a:cubicBezTo>
                  <a:pt x="32893" y="76327"/>
                  <a:pt x="49339" y="114694"/>
                  <a:pt x="55245" y="110477"/>
                </a:cubicBezTo>
                <a:cubicBezTo>
                  <a:pt x="88875" y="86297"/>
                  <a:pt x="115545" y="70726"/>
                  <a:pt x="141402" y="62929"/>
                </a:cubicBezTo>
                <a:cubicBezTo>
                  <a:pt x="103124" y="105626"/>
                  <a:pt x="11252" y="204762"/>
                  <a:pt x="0" y="222225"/>
                </a:cubicBezTo>
                <a:cubicBezTo>
                  <a:pt x="1270" y="238239"/>
                  <a:pt x="21082" y="281254"/>
                  <a:pt x="30785" y="281254"/>
                </a:cubicBezTo>
                <a:cubicBezTo>
                  <a:pt x="33731" y="281254"/>
                  <a:pt x="36258" y="279565"/>
                  <a:pt x="39218" y="276619"/>
                </a:cubicBezTo>
                <a:cubicBezTo>
                  <a:pt x="63906" y="249015"/>
                  <a:pt x="87381" y="220349"/>
                  <a:pt x="109576" y="190703"/>
                </a:cubicBezTo>
                <a:cubicBezTo>
                  <a:pt x="112395" y="230124"/>
                  <a:pt x="131775" y="278308"/>
                  <a:pt x="185953" y="278308"/>
                </a:cubicBezTo>
                <a:cubicBezTo>
                  <a:pt x="234455" y="278308"/>
                  <a:pt x="282524" y="243307"/>
                  <a:pt x="304444" y="164452"/>
                </a:cubicBezTo>
                <a:cubicBezTo>
                  <a:pt x="306984" y="154750"/>
                  <a:pt x="295173" y="147168"/>
                  <a:pt x="288430" y="155181"/>
                </a:cubicBezTo>
                <a:close/>
                <a:moveTo>
                  <a:pt x="233185" y="91504"/>
                </a:moveTo>
                <a:cubicBezTo>
                  <a:pt x="233185" y="116383"/>
                  <a:pt x="208724" y="128613"/>
                  <a:pt x="186385" y="128613"/>
                </a:cubicBezTo>
                <a:cubicBezTo>
                  <a:pt x="174434" y="128613"/>
                  <a:pt x="165252" y="125476"/>
                  <a:pt x="158001" y="121399"/>
                </a:cubicBezTo>
                <a:cubicBezTo>
                  <a:pt x="171348" y="101181"/>
                  <a:pt x="184569" y="80442"/>
                  <a:pt x="198768" y="58242"/>
                </a:cubicBezTo>
                <a:cubicBezTo>
                  <a:pt x="223812" y="62484"/>
                  <a:pt x="233185" y="76403"/>
                  <a:pt x="233185" y="91504"/>
                </a:cubicBezTo>
                <a:close/>
              </a:path>
            </a:pathLst>
          </a:custGeom>
          <a:solidFill>
            <a:srgbClr val="DC382D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118860" y="5585460"/>
            <a:ext cx="849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Redis 6.0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122670" y="5808345"/>
            <a:ext cx="1961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多级缓存 · 命中率87.3% · 128MB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8665" y="6316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62" name="Freeform 62"/>
          <p:cNvSpPr/>
          <p:nvPr/>
        </p:nvSpPr>
        <p:spPr>
          <a:xfrm>
            <a:off x="762000" y="65532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33350"/>
                </a:lnTo>
                <a:cubicBezTo>
                  <a:pt x="1524000" y="206997"/>
                  <a:pt x="1464297" y="266700"/>
                  <a:pt x="1390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63" name="Freeform 63"/>
          <p:cNvSpPr/>
          <p:nvPr/>
        </p:nvSpPr>
        <p:spPr>
          <a:xfrm>
            <a:off x="869531" y="6607175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953" y="0"/>
                </a:move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lnTo>
                  <a:pt x="82953" y="0"/>
                </a:lnTo>
                <a:close/>
                <a:moveTo>
                  <a:pt x="82969" y="55563"/>
                </a:moveTo>
                <a:cubicBezTo>
                  <a:pt x="74661" y="55560"/>
                  <a:pt x="67757" y="61963"/>
                  <a:pt x="67134" y="70247"/>
                </a:cubicBezTo>
                <a:lnTo>
                  <a:pt x="67094" y="71438"/>
                </a:lnTo>
                <a:lnTo>
                  <a:pt x="67134" y="72628"/>
                </a:lnTo>
                <a:cubicBezTo>
                  <a:pt x="67531" y="77859"/>
                  <a:pt x="70487" y="82556"/>
                  <a:pt x="75032" y="85177"/>
                </a:cubicBezTo>
                <a:lnTo>
                  <a:pt x="75032" y="99219"/>
                </a:lnTo>
                <a:lnTo>
                  <a:pt x="75087" y="100147"/>
                </a:lnTo>
                <a:cubicBezTo>
                  <a:pt x="75583" y="104318"/>
                  <a:pt x="79242" y="107380"/>
                  <a:pt x="83434" y="107134"/>
                </a:cubicBezTo>
                <a:cubicBezTo>
                  <a:pt x="87627" y="106888"/>
                  <a:pt x="90902" y="103418"/>
                  <a:pt x="90907" y="99219"/>
                </a:cubicBezTo>
                <a:lnTo>
                  <a:pt x="90914" y="85185"/>
                </a:lnTo>
                <a:cubicBezTo>
                  <a:pt x="97138" y="81592"/>
                  <a:pt x="100171" y="74266"/>
                  <a:pt x="98309" y="67325"/>
                </a:cubicBezTo>
                <a:cubicBezTo>
                  <a:pt x="96448" y="60384"/>
                  <a:pt x="90155" y="55559"/>
                  <a:pt x="82969" y="5556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083945" y="6646545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JWT认证</a:t>
            </a:r>
          </a:p>
        </p:txBody>
      </p:sp>
      <p:sp>
        <p:nvSpPr>
          <p:cNvPr id="65" name="Freeform 65"/>
          <p:cNvSpPr/>
          <p:nvPr/>
        </p:nvSpPr>
        <p:spPr>
          <a:xfrm>
            <a:off x="2428875" y="6553200"/>
            <a:ext cx="1714500" cy="266700"/>
          </a:xfrm>
          <a:custGeom>
            <a:avLst/>
            <a:gdLst/>
            <a:ahLst/>
            <a:cxnLst/>
            <a:rect l="l" t="t" r="r" b="b"/>
            <a:pathLst>
              <a:path w="1714500" h="266700">
                <a:moveTo>
                  <a:pt x="133350" y="0"/>
                </a:moveTo>
                <a:lnTo>
                  <a:pt x="1581150" y="0"/>
                </a:lnTo>
                <a:cubicBezTo>
                  <a:pt x="1654797" y="0"/>
                  <a:pt x="1714500" y="59703"/>
                  <a:pt x="1714500" y="133350"/>
                </a:cubicBezTo>
                <a:lnTo>
                  <a:pt x="1714500" y="133350"/>
                </a:lnTo>
                <a:cubicBezTo>
                  <a:pt x="1714500" y="206997"/>
                  <a:pt x="1654797" y="266700"/>
                  <a:pt x="1581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66" name="Freeform 66"/>
          <p:cNvSpPr/>
          <p:nvPr/>
        </p:nvSpPr>
        <p:spPr>
          <a:xfrm>
            <a:off x="2540000" y="6615112"/>
            <a:ext cx="158750" cy="151184"/>
          </a:xfrm>
          <a:custGeom>
            <a:avLst/>
            <a:gdLst/>
            <a:ahLst/>
            <a:cxnLst/>
            <a:rect l="l" t="t" r="r" b="b"/>
            <a:pathLst>
              <a:path w="158750" h="151184">
                <a:moveTo>
                  <a:pt x="127000" y="0"/>
                </a:moveTo>
                <a:cubicBezTo>
                  <a:pt x="144535" y="0"/>
                  <a:pt x="158750" y="14215"/>
                  <a:pt x="158750" y="31750"/>
                </a:cubicBezTo>
                <a:lnTo>
                  <a:pt x="158750" y="95250"/>
                </a:lnTo>
                <a:cubicBezTo>
                  <a:pt x="158750" y="112785"/>
                  <a:pt x="144535" y="127000"/>
                  <a:pt x="127000" y="127000"/>
                </a:cubicBezTo>
                <a:lnTo>
                  <a:pt x="89503" y="127000"/>
                </a:lnTo>
                <a:lnTo>
                  <a:pt x="51705" y="149677"/>
                </a:lnTo>
                <a:cubicBezTo>
                  <a:pt x="49392" y="151066"/>
                  <a:pt x="46532" y="151184"/>
                  <a:pt x="44112" y="149992"/>
                </a:cubicBezTo>
                <a:cubicBezTo>
                  <a:pt x="41693" y="148799"/>
                  <a:pt x="40044" y="146460"/>
                  <a:pt x="39735" y="143780"/>
                </a:cubicBezTo>
                <a:lnTo>
                  <a:pt x="39687" y="142875"/>
                </a:lnTo>
                <a:lnTo>
                  <a:pt x="39687" y="127000"/>
                </a:lnTo>
                <a:lnTo>
                  <a:pt x="31750" y="127000"/>
                </a:lnTo>
                <a:cubicBezTo>
                  <a:pt x="14832" y="127000"/>
                  <a:pt x="886" y="113734"/>
                  <a:pt x="40" y="96837"/>
                </a:cubicBezTo>
                <a:lnTo>
                  <a:pt x="0" y="95250"/>
                </a:ln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  <a:moveTo>
                  <a:pt x="95250" y="71438"/>
                </a:moveTo>
                <a:lnTo>
                  <a:pt x="47625" y="71438"/>
                </a:lnTo>
                <a:cubicBezTo>
                  <a:pt x="43241" y="71438"/>
                  <a:pt x="39687" y="74991"/>
                  <a:pt x="39687" y="79375"/>
                </a:cubicBezTo>
                <a:cubicBezTo>
                  <a:pt x="39687" y="83759"/>
                  <a:pt x="43241" y="87312"/>
                  <a:pt x="47625" y="87312"/>
                </a:cubicBezTo>
                <a:lnTo>
                  <a:pt x="95250" y="87312"/>
                </a:lnTo>
                <a:cubicBezTo>
                  <a:pt x="99634" y="87312"/>
                  <a:pt x="103187" y="83759"/>
                  <a:pt x="103187" y="79375"/>
                </a:cubicBezTo>
                <a:cubicBezTo>
                  <a:pt x="103187" y="74991"/>
                  <a:pt x="99634" y="71438"/>
                  <a:pt x="95250" y="71438"/>
                </a:cubicBezTo>
                <a:moveTo>
                  <a:pt x="111125" y="39687"/>
                </a:moveTo>
                <a:lnTo>
                  <a:pt x="47625" y="39687"/>
                </a:lnTo>
                <a:cubicBezTo>
                  <a:pt x="43241" y="39687"/>
                  <a:pt x="39687" y="43241"/>
                  <a:pt x="39687" y="47625"/>
                </a:cubicBezTo>
                <a:cubicBezTo>
                  <a:pt x="39687" y="52009"/>
                  <a:pt x="43241" y="55563"/>
                  <a:pt x="47625" y="55563"/>
                </a:cubicBezTo>
                <a:lnTo>
                  <a:pt x="111125" y="55563"/>
                </a:lnTo>
                <a:cubicBezTo>
                  <a:pt x="115509" y="55563"/>
                  <a:pt x="119062" y="52009"/>
                  <a:pt x="119062" y="47625"/>
                </a:cubicBezTo>
                <a:cubicBezTo>
                  <a:pt x="119062" y="43241"/>
                  <a:pt x="115509" y="39687"/>
                  <a:pt x="111125" y="39687"/>
                </a:cubicBezTo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2750820" y="6646545"/>
            <a:ext cx="962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WebSocket通讯</a:t>
            </a:r>
          </a:p>
        </p:txBody>
      </p:sp>
      <p:sp>
        <p:nvSpPr>
          <p:cNvPr id="68" name="Freeform 68"/>
          <p:cNvSpPr/>
          <p:nvPr/>
        </p:nvSpPr>
        <p:spPr>
          <a:xfrm>
            <a:off x="4286250" y="65532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33350"/>
                </a:lnTo>
                <a:cubicBezTo>
                  <a:pt x="1524000" y="206997"/>
                  <a:pt x="1464297" y="266700"/>
                  <a:pt x="1390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CFDF5"/>
          </a:solidFill>
          <a:ln w="9525">
            <a:solidFill>
              <a:srgbClr val="6EE7B7"/>
            </a:solidFill>
          </a:ln>
        </p:spPr>
      </p:sp>
      <p:sp>
        <p:nvSpPr>
          <p:cNvPr id="69" name="Freeform 69"/>
          <p:cNvSpPr/>
          <p:nvPr/>
        </p:nvSpPr>
        <p:spPr>
          <a:xfrm>
            <a:off x="4412891" y="6607175"/>
            <a:ext cx="127719" cy="161695"/>
          </a:xfrm>
          <a:custGeom>
            <a:avLst/>
            <a:gdLst/>
            <a:ahLst/>
            <a:cxnLst/>
            <a:rect l="l" t="t" r="r" b="b"/>
            <a:pathLst>
              <a:path w="127719" h="161695">
                <a:moveTo>
                  <a:pt x="71797" y="0"/>
                </a:moveTo>
                <a:lnTo>
                  <a:pt x="71940" y="8"/>
                </a:lnTo>
                <a:lnTo>
                  <a:pt x="72067" y="16"/>
                </a:lnTo>
                <a:lnTo>
                  <a:pt x="72726" y="56"/>
                </a:lnTo>
                <a:lnTo>
                  <a:pt x="72813" y="71"/>
                </a:lnTo>
                <a:lnTo>
                  <a:pt x="72900" y="71"/>
                </a:lnTo>
                <a:lnTo>
                  <a:pt x="73202" y="143"/>
                </a:lnTo>
                <a:lnTo>
                  <a:pt x="73615" y="206"/>
                </a:lnTo>
                <a:lnTo>
                  <a:pt x="73742" y="254"/>
                </a:lnTo>
                <a:lnTo>
                  <a:pt x="73829" y="262"/>
                </a:lnTo>
                <a:lnTo>
                  <a:pt x="74059" y="349"/>
                </a:lnTo>
                <a:lnTo>
                  <a:pt x="74472" y="460"/>
                </a:lnTo>
                <a:lnTo>
                  <a:pt x="74623" y="532"/>
                </a:lnTo>
                <a:lnTo>
                  <a:pt x="74742" y="564"/>
                </a:lnTo>
                <a:lnTo>
                  <a:pt x="74964" y="675"/>
                </a:lnTo>
                <a:lnTo>
                  <a:pt x="75281" y="810"/>
                </a:lnTo>
                <a:lnTo>
                  <a:pt x="75448" y="905"/>
                </a:lnTo>
                <a:lnTo>
                  <a:pt x="75623" y="984"/>
                </a:lnTo>
                <a:lnTo>
                  <a:pt x="75805" y="1103"/>
                </a:lnTo>
                <a:lnTo>
                  <a:pt x="76051" y="1238"/>
                </a:lnTo>
                <a:lnTo>
                  <a:pt x="76321" y="1429"/>
                </a:lnTo>
                <a:lnTo>
                  <a:pt x="76464" y="1516"/>
                </a:lnTo>
                <a:lnTo>
                  <a:pt x="76567" y="1611"/>
                </a:lnTo>
                <a:lnTo>
                  <a:pt x="76758" y="1746"/>
                </a:lnTo>
                <a:lnTo>
                  <a:pt x="77059" y="2016"/>
                </a:lnTo>
                <a:lnTo>
                  <a:pt x="77234" y="2151"/>
                </a:lnTo>
                <a:lnTo>
                  <a:pt x="77298" y="2230"/>
                </a:lnTo>
                <a:lnTo>
                  <a:pt x="77409" y="2326"/>
                </a:lnTo>
                <a:lnTo>
                  <a:pt x="77694" y="2651"/>
                </a:lnTo>
                <a:lnTo>
                  <a:pt x="77901" y="2865"/>
                </a:lnTo>
                <a:lnTo>
                  <a:pt x="77948" y="2937"/>
                </a:lnTo>
                <a:cubicBezTo>
                  <a:pt x="78901" y="4104"/>
                  <a:pt x="79504" y="5493"/>
                  <a:pt x="79679" y="7009"/>
                </a:cubicBezTo>
                <a:lnTo>
                  <a:pt x="79687" y="7104"/>
                </a:lnTo>
                <a:lnTo>
                  <a:pt x="79703" y="7430"/>
                </a:lnTo>
                <a:lnTo>
                  <a:pt x="79734" y="7938"/>
                </a:lnTo>
                <a:lnTo>
                  <a:pt x="79734" y="55563"/>
                </a:lnTo>
                <a:lnTo>
                  <a:pt x="119422" y="55563"/>
                </a:lnTo>
                <a:cubicBezTo>
                  <a:pt x="122253" y="55562"/>
                  <a:pt x="124870" y="57069"/>
                  <a:pt x="126291" y="59519"/>
                </a:cubicBezTo>
                <a:cubicBezTo>
                  <a:pt x="127711" y="61968"/>
                  <a:pt x="127719" y="64988"/>
                  <a:pt x="126312" y="67445"/>
                </a:cubicBezTo>
                <a:lnTo>
                  <a:pt x="125835" y="68167"/>
                </a:lnTo>
                <a:lnTo>
                  <a:pt x="62335" y="155480"/>
                </a:lnTo>
                <a:cubicBezTo>
                  <a:pt x="57827" y="161695"/>
                  <a:pt x="47984" y="158496"/>
                  <a:pt x="47984" y="150813"/>
                </a:cubicBezTo>
                <a:lnTo>
                  <a:pt x="47984" y="103188"/>
                </a:lnTo>
                <a:lnTo>
                  <a:pt x="8297" y="103188"/>
                </a:lnTo>
                <a:cubicBezTo>
                  <a:pt x="5466" y="103188"/>
                  <a:pt x="2848" y="101681"/>
                  <a:pt x="1428" y="99231"/>
                </a:cubicBezTo>
                <a:cubicBezTo>
                  <a:pt x="8" y="96782"/>
                  <a:pt x="0" y="93762"/>
                  <a:pt x="1407" y="91305"/>
                </a:cubicBezTo>
                <a:lnTo>
                  <a:pt x="1883" y="90583"/>
                </a:lnTo>
                <a:lnTo>
                  <a:pt x="65383" y="3270"/>
                </a:lnTo>
                <a:lnTo>
                  <a:pt x="65463" y="3167"/>
                </a:lnTo>
                <a:lnTo>
                  <a:pt x="65606" y="2977"/>
                </a:lnTo>
                <a:lnTo>
                  <a:pt x="65868" y="2675"/>
                </a:lnTo>
                <a:lnTo>
                  <a:pt x="66010" y="2500"/>
                </a:lnTo>
                <a:lnTo>
                  <a:pt x="66082" y="2437"/>
                </a:lnTo>
                <a:lnTo>
                  <a:pt x="66185" y="2326"/>
                </a:lnTo>
                <a:lnTo>
                  <a:pt x="66503" y="2040"/>
                </a:lnTo>
                <a:lnTo>
                  <a:pt x="66725" y="1834"/>
                </a:lnTo>
                <a:lnTo>
                  <a:pt x="66788" y="1786"/>
                </a:lnTo>
                <a:cubicBezTo>
                  <a:pt x="67719" y="1025"/>
                  <a:pt x="68810" y="484"/>
                  <a:pt x="69979" y="206"/>
                </a:cubicBezTo>
                <a:lnTo>
                  <a:pt x="70067" y="198"/>
                </a:lnTo>
                <a:lnTo>
                  <a:pt x="70281" y="159"/>
                </a:lnTo>
                <a:lnTo>
                  <a:pt x="70868" y="56"/>
                </a:lnTo>
                <a:lnTo>
                  <a:pt x="70956" y="48"/>
                </a:lnTo>
                <a:lnTo>
                  <a:pt x="71281" y="32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4608195" y="6646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缓存优化</a:t>
            </a:r>
          </a:p>
        </p:txBody>
      </p:sp>
      <p:sp>
        <p:nvSpPr>
          <p:cNvPr id="71" name="Freeform 71"/>
          <p:cNvSpPr/>
          <p:nvPr/>
        </p:nvSpPr>
        <p:spPr>
          <a:xfrm>
            <a:off x="5953125" y="65532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33350"/>
                </a:lnTo>
                <a:cubicBezTo>
                  <a:pt x="1524000" y="206997"/>
                  <a:pt x="1464297" y="266700"/>
                  <a:pt x="1390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BEB"/>
          </a:solidFill>
          <a:ln w="9525">
            <a:solidFill>
              <a:srgbClr val="FCD34D"/>
            </a:solidFill>
          </a:ln>
        </p:spPr>
      </p:sp>
      <p:sp>
        <p:nvSpPr>
          <p:cNvPr id="72" name="Freeform 72"/>
          <p:cNvSpPr/>
          <p:nvPr/>
        </p:nvSpPr>
        <p:spPr>
          <a:xfrm>
            <a:off x="6064250" y="6603619"/>
            <a:ext cx="166926" cy="167199"/>
          </a:xfrm>
          <a:custGeom>
            <a:avLst/>
            <a:gdLst/>
            <a:ahLst/>
            <a:cxnLst/>
            <a:rect l="l" t="t" r="r" b="b"/>
            <a:pathLst>
              <a:path w="166926" h="167199">
                <a:moveTo>
                  <a:pt x="119062" y="14192"/>
                </a:moveTo>
                <a:cubicBezTo>
                  <a:pt x="152141" y="33291"/>
                  <a:pt x="166926" y="73242"/>
                  <a:pt x="154249" y="109274"/>
                </a:cubicBezTo>
                <a:cubicBezTo>
                  <a:pt x="141573" y="145306"/>
                  <a:pt x="105031" y="167199"/>
                  <a:pt x="67280" y="161380"/>
                </a:cubicBezTo>
                <a:cubicBezTo>
                  <a:pt x="29529" y="155561"/>
                  <a:pt x="1277" y="123679"/>
                  <a:pt x="40" y="85502"/>
                </a:cubicBezTo>
                <a:lnTo>
                  <a:pt x="0" y="82931"/>
                </a:lnTo>
                <a:lnTo>
                  <a:pt x="40" y="80359"/>
                </a:lnTo>
                <a:cubicBezTo>
                  <a:pt x="944" y="52474"/>
                  <a:pt x="16421" y="27112"/>
                  <a:pt x="40806" y="13556"/>
                </a:cubicBezTo>
                <a:cubicBezTo>
                  <a:pt x="65190" y="0"/>
                  <a:pt x="94901" y="241"/>
                  <a:pt x="119062" y="14192"/>
                </a:cubicBezTo>
                <a:close/>
                <a:moveTo>
                  <a:pt x="79375" y="35306"/>
                </a:moveTo>
                <a:cubicBezTo>
                  <a:pt x="75351" y="35306"/>
                  <a:pt x="71964" y="38318"/>
                  <a:pt x="71493" y="42314"/>
                </a:cubicBezTo>
                <a:lnTo>
                  <a:pt x="71438" y="43243"/>
                </a:lnTo>
                <a:lnTo>
                  <a:pt x="71438" y="82931"/>
                </a:lnTo>
                <a:lnTo>
                  <a:pt x="71509" y="83970"/>
                </a:lnTo>
                <a:cubicBezTo>
                  <a:pt x="71690" y="85347"/>
                  <a:pt x="72229" y="86653"/>
                  <a:pt x="73073" y="87757"/>
                </a:cubicBezTo>
                <a:lnTo>
                  <a:pt x="73763" y="88550"/>
                </a:lnTo>
                <a:lnTo>
                  <a:pt x="97576" y="112363"/>
                </a:lnTo>
                <a:lnTo>
                  <a:pt x="98322" y="113014"/>
                </a:lnTo>
                <a:cubicBezTo>
                  <a:pt x="101185" y="115235"/>
                  <a:pt x="105190" y="115235"/>
                  <a:pt x="108053" y="113014"/>
                </a:cubicBezTo>
                <a:lnTo>
                  <a:pt x="108799" y="112355"/>
                </a:lnTo>
                <a:lnTo>
                  <a:pt x="109458" y="111609"/>
                </a:lnTo>
                <a:cubicBezTo>
                  <a:pt x="111680" y="108745"/>
                  <a:pt x="111680" y="104741"/>
                  <a:pt x="109458" y="101877"/>
                </a:cubicBezTo>
                <a:lnTo>
                  <a:pt x="108799" y="101131"/>
                </a:lnTo>
                <a:lnTo>
                  <a:pt x="87313" y="79636"/>
                </a:lnTo>
                <a:lnTo>
                  <a:pt x="87313" y="43243"/>
                </a:lnTo>
                <a:lnTo>
                  <a:pt x="87257" y="42314"/>
                </a:lnTo>
                <a:cubicBezTo>
                  <a:pt x="86786" y="38318"/>
                  <a:pt x="83399" y="35306"/>
                  <a:pt x="79375" y="3530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6275070" y="6646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定时任务</a:t>
            </a:r>
          </a:p>
        </p:txBody>
      </p:sp>
      <p:sp>
        <p:nvSpPr>
          <p:cNvPr id="74" name="Freeform 74"/>
          <p:cNvSpPr/>
          <p:nvPr/>
        </p:nvSpPr>
        <p:spPr>
          <a:xfrm>
            <a:off x="7620000" y="65532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33350"/>
                </a:lnTo>
                <a:cubicBezTo>
                  <a:pt x="1524000" y="206997"/>
                  <a:pt x="1464297" y="266700"/>
                  <a:pt x="1390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75" name="Freeform 75"/>
          <p:cNvSpPr/>
          <p:nvPr/>
        </p:nvSpPr>
        <p:spPr>
          <a:xfrm>
            <a:off x="7747000" y="6607175"/>
            <a:ext cx="127000" cy="158750"/>
          </a:xfrm>
          <a:custGeom>
            <a:avLst/>
            <a:gdLst/>
            <a:ahLst/>
            <a:cxnLst/>
            <a:rect l="l" t="t" r="r" b="b"/>
            <a:pathLst>
              <a:path w="127000" h="158750">
                <a:moveTo>
                  <a:pt x="63500" y="0"/>
                </a:moveTo>
                <a:cubicBezTo>
                  <a:pt x="85419" y="0"/>
                  <a:pt x="103187" y="17769"/>
                  <a:pt x="103187" y="39688"/>
                </a:cubicBezTo>
                <a:lnTo>
                  <a:pt x="103187" y="63500"/>
                </a:lnTo>
                <a:cubicBezTo>
                  <a:pt x="116339" y="63500"/>
                  <a:pt x="127000" y="74161"/>
                  <a:pt x="127000" y="87313"/>
                </a:cubicBezTo>
                <a:lnTo>
                  <a:pt x="127000" y="134938"/>
                </a:lnTo>
                <a:cubicBezTo>
                  <a:pt x="127000" y="148089"/>
                  <a:pt x="116339" y="158750"/>
                  <a:pt x="103187" y="158750"/>
                </a:cubicBezTo>
                <a:lnTo>
                  <a:pt x="23812" y="158750"/>
                </a:lnTo>
                <a:cubicBezTo>
                  <a:pt x="10661" y="158750"/>
                  <a:pt x="0" y="148089"/>
                  <a:pt x="0" y="134938"/>
                </a:cubicBezTo>
                <a:lnTo>
                  <a:pt x="0" y="87313"/>
                </a:lnTo>
                <a:cubicBezTo>
                  <a:pt x="0" y="74161"/>
                  <a:pt x="10661" y="63500"/>
                  <a:pt x="23812" y="63500"/>
                </a:cubicBezTo>
                <a:lnTo>
                  <a:pt x="23812" y="39688"/>
                </a:lnTo>
                <a:cubicBezTo>
                  <a:pt x="23812" y="17769"/>
                  <a:pt x="41581" y="0"/>
                  <a:pt x="63500" y="0"/>
                </a:cubicBezTo>
                <a:moveTo>
                  <a:pt x="63500" y="95250"/>
                </a:moveTo>
                <a:cubicBezTo>
                  <a:pt x="55192" y="95247"/>
                  <a:pt x="48288" y="101650"/>
                  <a:pt x="47665" y="109934"/>
                </a:cubicBezTo>
                <a:lnTo>
                  <a:pt x="47625" y="111125"/>
                </a:lnTo>
                <a:cubicBezTo>
                  <a:pt x="47625" y="119893"/>
                  <a:pt x="54732" y="127000"/>
                  <a:pt x="63500" y="127000"/>
                </a:cubicBezTo>
                <a:cubicBezTo>
                  <a:pt x="72268" y="127000"/>
                  <a:pt x="79375" y="119893"/>
                  <a:pt x="79375" y="111125"/>
                </a:cubicBezTo>
                <a:cubicBezTo>
                  <a:pt x="79375" y="102357"/>
                  <a:pt x="72268" y="95250"/>
                  <a:pt x="63500" y="95250"/>
                </a:cubicBezTo>
                <a:moveTo>
                  <a:pt x="63500" y="15875"/>
                </a:moveTo>
                <a:cubicBezTo>
                  <a:pt x="50349" y="15875"/>
                  <a:pt x="39687" y="26536"/>
                  <a:pt x="39687" y="39688"/>
                </a:cubicBezTo>
                <a:lnTo>
                  <a:pt x="39687" y="63500"/>
                </a:lnTo>
                <a:lnTo>
                  <a:pt x="87312" y="63500"/>
                </a:lnTo>
                <a:lnTo>
                  <a:pt x="87312" y="39688"/>
                </a:lnTo>
                <a:cubicBezTo>
                  <a:pt x="87312" y="26536"/>
                  <a:pt x="76651" y="15875"/>
                  <a:pt x="63500" y="15875"/>
                </a:cubicBezTo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7941945" y="6646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分布式锁</a:t>
            </a:r>
          </a:p>
        </p:txBody>
      </p:sp>
      <p:sp>
        <p:nvSpPr>
          <p:cNvPr id="77" name="Freeform 77"/>
          <p:cNvSpPr/>
          <p:nvPr/>
        </p:nvSpPr>
        <p:spPr>
          <a:xfrm>
            <a:off x="9286875" y="6553200"/>
            <a:ext cx="1524000" cy="266700"/>
          </a:xfrm>
          <a:custGeom>
            <a:avLst/>
            <a:gdLst/>
            <a:ahLst/>
            <a:cxnLst/>
            <a:rect l="l" t="t" r="r" b="b"/>
            <a:pathLst>
              <a:path w="1524000" h="2667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33350"/>
                </a:lnTo>
                <a:cubicBezTo>
                  <a:pt x="1524000" y="206997"/>
                  <a:pt x="1464297" y="266700"/>
                  <a:pt x="1390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3FF"/>
          </a:solidFill>
          <a:ln w="9525">
            <a:solidFill>
              <a:srgbClr val="C4B5FD"/>
            </a:solidFill>
          </a:ln>
        </p:spPr>
      </p:sp>
      <p:sp>
        <p:nvSpPr>
          <p:cNvPr id="78" name="Freeform 78"/>
          <p:cNvSpPr/>
          <p:nvPr/>
        </p:nvSpPr>
        <p:spPr>
          <a:xfrm>
            <a:off x="9398000" y="6607175"/>
            <a:ext cx="158747" cy="158750"/>
          </a:xfrm>
          <a:custGeom>
            <a:avLst/>
            <a:gdLst/>
            <a:ahLst/>
            <a:cxnLst/>
            <a:rect l="l" t="t" r="r" b="b"/>
            <a:pathLst>
              <a:path w="158747" h="158750">
                <a:moveTo>
                  <a:pt x="99378" y="0"/>
                </a:moveTo>
                <a:cubicBezTo>
                  <a:pt x="107545" y="0"/>
                  <a:pt x="115372" y="3246"/>
                  <a:pt x="121142" y="9017"/>
                </a:cubicBezTo>
                <a:lnTo>
                  <a:pt x="149733" y="37608"/>
                </a:lnTo>
                <a:cubicBezTo>
                  <a:pt x="155504" y="43379"/>
                  <a:pt x="158747" y="51207"/>
                  <a:pt x="158747" y="59369"/>
                </a:cubicBezTo>
                <a:cubicBezTo>
                  <a:pt x="158747" y="67530"/>
                  <a:pt x="155504" y="75358"/>
                  <a:pt x="149733" y="81129"/>
                </a:cubicBezTo>
                <a:lnTo>
                  <a:pt x="128754" y="102108"/>
                </a:lnTo>
                <a:cubicBezTo>
                  <a:pt x="118254" y="112598"/>
                  <a:pt x="101765" y="114107"/>
                  <a:pt x="89535" y="105696"/>
                </a:cubicBezTo>
                <a:lnTo>
                  <a:pt x="88702" y="105077"/>
                </a:lnTo>
                <a:lnTo>
                  <a:pt x="42013" y="151773"/>
                </a:lnTo>
                <a:cubicBezTo>
                  <a:pt x="38400" y="155374"/>
                  <a:pt x="33725" y="157720"/>
                  <a:pt x="28678" y="158464"/>
                </a:cubicBezTo>
                <a:lnTo>
                  <a:pt x="26932" y="158679"/>
                </a:lnTo>
                <a:lnTo>
                  <a:pt x="25178" y="158750"/>
                </a:lnTo>
                <a:lnTo>
                  <a:pt x="15875" y="158750"/>
                </a:lnTo>
                <a:cubicBezTo>
                  <a:pt x="7826" y="158750"/>
                  <a:pt x="1056" y="152725"/>
                  <a:pt x="71" y="144280"/>
                </a:cubicBezTo>
                <a:lnTo>
                  <a:pt x="0" y="142875"/>
                </a:lnTo>
                <a:lnTo>
                  <a:pt x="0" y="133572"/>
                </a:lnTo>
                <a:cubicBezTo>
                  <a:pt x="0" y="127984"/>
                  <a:pt x="1969" y="122571"/>
                  <a:pt x="5794" y="118015"/>
                </a:cubicBezTo>
                <a:lnTo>
                  <a:pt x="6977" y="116737"/>
                </a:lnTo>
                <a:lnTo>
                  <a:pt x="10263" y="113451"/>
                </a:lnTo>
                <a:cubicBezTo>
                  <a:pt x="11751" y="111962"/>
                  <a:pt x="13770" y="111125"/>
                  <a:pt x="15875" y="111125"/>
                </a:cubicBezTo>
                <a:lnTo>
                  <a:pt x="23812" y="111125"/>
                </a:lnTo>
                <a:lnTo>
                  <a:pt x="23812" y="103188"/>
                </a:lnTo>
                <a:cubicBezTo>
                  <a:pt x="23813" y="99163"/>
                  <a:pt x="26825" y="95776"/>
                  <a:pt x="30821" y="95306"/>
                </a:cubicBezTo>
                <a:lnTo>
                  <a:pt x="31750" y="95250"/>
                </a:lnTo>
                <a:lnTo>
                  <a:pt x="39688" y="95250"/>
                </a:lnTo>
                <a:lnTo>
                  <a:pt x="39688" y="87313"/>
                </a:lnTo>
                <a:cubicBezTo>
                  <a:pt x="39687" y="85568"/>
                  <a:pt x="40262" y="83872"/>
                  <a:pt x="41323" y="82486"/>
                </a:cubicBezTo>
                <a:lnTo>
                  <a:pt x="42013" y="81693"/>
                </a:lnTo>
                <a:lnTo>
                  <a:pt x="53665" y="70033"/>
                </a:lnTo>
                <a:lnTo>
                  <a:pt x="53062" y="69215"/>
                </a:lnTo>
                <a:cubicBezTo>
                  <a:pt x="49893" y="64603"/>
                  <a:pt x="48033" y="59218"/>
                  <a:pt x="47681" y="53634"/>
                </a:cubicBezTo>
                <a:lnTo>
                  <a:pt x="47625" y="51760"/>
                </a:lnTo>
                <a:cubicBezTo>
                  <a:pt x="47625" y="43593"/>
                  <a:pt x="50871" y="35766"/>
                  <a:pt x="56642" y="29996"/>
                </a:cubicBezTo>
                <a:lnTo>
                  <a:pt x="77621" y="9017"/>
                </a:lnTo>
                <a:cubicBezTo>
                  <a:pt x="83392" y="3248"/>
                  <a:pt x="91217" y="5"/>
                  <a:pt x="99378" y="0"/>
                </a:cubicBezTo>
                <a:moveTo>
                  <a:pt x="103307" y="39688"/>
                </a:moveTo>
                <a:lnTo>
                  <a:pt x="103148" y="39688"/>
                </a:lnTo>
                <a:cubicBezTo>
                  <a:pt x="97476" y="39687"/>
                  <a:pt x="92235" y="42713"/>
                  <a:pt x="89400" y="47625"/>
                </a:cubicBezTo>
                <a:cubicBezTo>
                  <a:pt x="86564" y="52537"/>
                  <a:pt x="86564" y="58588"/>
                  <a:pt x="89400" y="63500"/>
                </a:cubicBezTo>
                <a:cubicBezTo>
                  <a:pt x="92235" y="68412"/>
                  <a:pt x="97476" y="71438"/>
                  <a:pt x="103148" y="71438"/>
                </a:cubicBezTo>
                <a:lnTo>
                  <a:pt x="103307" y="71438"/>
                </a:lnTo>
                <a:cubicBezTo>
                  <a:pt x="112074" y="71438"/>
                  <a:pt x="119182" y="64330"/>
                  <a:pt x="119182" y="55563"/>
                </a:cubicBezTo>
                <a:cubicBezTo>
                  <a:pt x="119182" y="46795"/>
                  <a:pt x="112074" y="39688"/>
                  <a:pt x="103307" y="39688"/>
                </a:cubicBezTo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608820" y="6646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密码加密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用户端核心功能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3109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USER CORE FEATURES — 9大模块 42个API接口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21105" y="12639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微信一键登录</a:t>
            </a:r>
          </a:p>
        </p:txBody>
      </p:sp>
      <p:sp>
        <p:nvSpPr>
          <p:cNvPr id="8" name="Freeform 8"/>
          <p:cNvSpPr/>
          <p:nvPr/>
        </p:nvSpPr>
        <p:spPr>
          <a:xfrm>
            <a:off x="3238500" y="119062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380661" y="1263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0" name="Line 10"/>
          <p:cNvSpPr/>
          <p:nvPr/>
        </p:nvSpPr>
        <p:spPr>
          <a:xfrm>
            <a:off x="762000" y="16192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49618" y="1723549"/>
            <a:ext cx="1598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获取openId自动创建账号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193309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JWT Token 24小时有效期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1426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首次登录需同意协议</a:t>
            </a:r>
          </a:p>
        </p:txBody>
      </p:sp>
      <p:sp>
        <p:nvSpPr>
          <p:cNvPr id="14" name="Freeform 14"/>
          <p:cNvSpPr/>
          <p:nvPr/>
        </p:nvSpPr>
        <p:spPr>
          <a:xfrm>
            <a:off x="3691979" y="237110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333875" y="10477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83480" y="1263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校园认证</a:t>
            </a:r>
          </a:p>
        </p:txBody>
      </p:sp>
      <p:sp>
        <p:nvSpPr>
          <p:cNvPr id="17" name="Freeform 17"/>
          <p:cNvSpPr/>
          <p:nvPr/>
        </p:nvSpPr>
        <p:spPr>
          <a:xfrm>
            <a:off x="7000875" y="119062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143036" y="1263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9" name="Line 19"/>
          <p:cNvSpPr/>
          <p:nvPr/>
        </p:nvSpPr>
        <p:spPr>
          <a:xfrm>
            <a:off x="4524375" y="16192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11992" y="17235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学院/学号/班级验证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1992" y="1933099"/>
            <a:ext cx="1527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人工审核+历史轨迹回溯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1992" y="21426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认证历史时间线展示</a:t>
            </a:r>
          </a:p>
        </p:txBody>
      </p:sp>
      <p:sp>
        <p:nvSpPr>
          <p:cNvPr id="23" name="Freeform 23"/>
          <p:cNvSpPr/>
          <p:nvPr/>
        </p:nvSpPr>
        <p:spPr>
          <a:xfrm>
            <a:off x="7501979" y="237110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8096250" y="10477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5855" y="1263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商品发布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763250" y="119062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905411" y="1263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28" name="Line 28"/>
          <p:cNvSpPr/>
          <p:nvPr/>
        </p:nvSpPr>
        <p:spPr>
          <a:xfrm>
            <a:off x="8286750" y="16192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274368" y="172354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最多9张图片上传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74368" y="1933099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价格/新旧度/面交地点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74368" y="2142649"/>
            <a:ext cx="11781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自动下架（90天）</a:t>
            </a:r>
          </a:p>
        </p:txBody>
      </p:sp>
      <p:sp>
        <p:nvSpPr>
          <p:cNvPr id="32" name="Freeform 32"/>
          <p:cNvSpPr/>
          <p:nvPr/>
        </p:nvSpPr>
        <p:spPr>
          <a:xfrm>
            <a:off x="11264354" y="237110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571500" y="285750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779195" y="3044114"/>
            <a:ext cx="298359" cy="300390"/>
          </a:xfrm>
          <a:custGeom>
            <a:avLst/>
            <a:gdLst/>
            <a:ahLst/>
            <a:cxnLst/>
            <a:rect l="l" t="t" r="r" b="b"/>
            <a:pathLst>
              <a:path w="298359" h="300390">
                <a:moveTo>
                  <a:pt x="182830" y="28728"/>
                </a:moveTo>
                <a:cubicBezTo>
                  <a:pt x="211435" y="45240"/>
                  <a:pt x="231498" y="73318"/>
                  <a:pt x="237852" y="105729"/>
                </a:cubicBezTo>
                <a:cubicBezTo>
                  <a:pt x="244206" y="138140"/>
                  <a:pt x="236230" y="171716"/>
                  <a:pt x="215977" y="197806"/>
                </a:cubicBezTo>
                <a:lnTo>
                  <a:pt x="292944" y="274773"/>
                </a:lnTo>
                <a:cubicBezTo>
                  <a:pt x="298359" y="280379"/>
                  <a:pt x="298281" y="289290"/>
                  <a:pt x="292770" y="294801"/>
                </a:cubicBezTo>
                <a:cubicBezTo>
                  <a:pt x="287259" y="300312"/>
                  <a:pt x="278348" y="300390"/>
                  <a:pt x="272742" y="294975"/>
                </a:cubicBezTo>
                <a:lnTo>
                  <a:pt x="195760" y="218008"/>
                </a:lnTo>
                <a:cubicBezTo>
                  <a:pt x="150383" y="253219"/>
                  <a:pt x="85923" y="249287"/>
                  <a:pt x="45162" y="208821"/>
                </a:cubicBezTo>
                <a:cubicBezTo>
                  <a:pt x="4401" y="168356"/>
                  <a:pt x="0" y="103926"/>
                  <a:pt x="34880" y="58294"/>
                </a:cubicBezTo>
                <a:cubicBezTo>
                  <a:pt x="69760" y="12661"/>
                  <a:pt x="133086" y="0"/>
                  <a:pt x="182830" y="28713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221105" y="3073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智能搜索</a:t>
            </a:r>
          </a:p>
        </p:txBody>
      </p:sp>
      <p:sp>
        <p:nvSpPr>
          <p:cNvPr id="36" name="Freeform 36"/>
          <p:cNvSpPr/>
          <p:nvPr/>
        </p:nvSpPr>
        <p:spPr>
          <a:xfrm>
            <a:off x="3238500" y="300037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3380661" y="30732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9618" y="35332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关键词模糊匹配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618" y="37428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热门搜索词推荐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9618" y="3952399"/>
            <a:ext cx="18901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多维筛选（价格/分类/校区）</a:t>
            </a:r>
          </a:p>
        </p:txBody>
      </p:sp>
      <p:sp>
        <p:nvSpPr>
          <p:cNvPr id="42" name="Freeform 42"/>
          <p:cNvSpPr/>
          <p:nvPr/>
        </p:nvSpPr>
        <p:spPr>
          <a:xfrm>
            <a:off x="3691979" y="418085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4333875" y="285750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4552950" y="3057525"/>
            <a:ext cx="285751" cy="290565"/>
            <a:chOff x="4552950" y="3057525"/>
            <a:chExt cx="285751" cy="290565"/>
          </a:xfrm>
        </p:grpSpPr>
        <p:sp>
          <p:nvSpPr>
            <p:cNvPr id="44" name="Freeform 44"/>
            <p:cNvSpPr/>
            <p:nvPr/>
          </p:nvSpPr>
          <p:spPr>
            <a:xfrm>
              <a:off x="4652962" y="3057525"/>
              <a:ext cx="185739" cy="185760"/>
            </a:xfrm>
            <a:custGeom>
              <a:avLst/>
              <a:gdLst/>
              <a:ahLst/>
              <a:cxnLst/>
              <a:rect l="l" t="t" r="r" b="b"/>
              <a:pathLst>
                <a:path w="185739" h="185760">
                  <a:moveTo>
                    <a:pt x="170036" y="185666"/>
                  </a:moveTo>
                  <a:lnTo>
                    <a:pt x="169407" y="185580"/>
                  </a:lnTo>
                  <a:cubicBezTo>
                    <a:pt x="168911" y="185549"/>
                    <a:pt x="168421" y="185453"/>
                    <a:pt x="167950" y="185295"/>
                  </a:cubicBezTo>
                  <a:lnTo>
                    <a:pt x="167307" y="185123"/>
                  </a:lnTo>
                  <a:lnTo>
                    <a:pt x="166621" y="184880"/>
                  </a:lnTo>
                  <a:lnTo>
                    <a:pt x="165978" y="184652"/>
                  </a:lnTo>
                  <a:lnTo>
                    <a:pt x="165364" y="184366"/>
                  </a:lnTo>
                  <a:lnTo>
                    <a:pt x="164721" y="184052"/>
                  </a:lnTo>
                  <a:lnTo>
                    <a:pt x="164149" y="183709"/>
                  </a:lnTo>
                  <a:lnTo>
                    <a:pt x="163520" y="183337"/>
                  </a:lnTo>
                  <a:lnTo>
                    <a:pt x="162906" y="182880"/>
                  </a:lnTo>
                  <a:lnTo>
                    <a:pt x="162392" y="182494"/>
                  </a:lnTo>
                  <a:cubicBezTo>
                    <a:pt x="162029" y="182197"/>
                    <a:pt x="161681" y="181883"/>
                    <a:pt x="161349" y="181551"/>
                  </a:cubicBezTo>
                  <a:lnTo>
                    <a:pt x="122672" y="142875"/>
                  </a:lnTo>
                  <a:lnTo>
                    <a:pt x="28575" y="142875"/>
                  </a:lnTo>
                  <a:cubicBezTo>
                    <a:pt x="12793" y="142875"/>
                    <a:pt x="0" y="130082"/>
                    <a:pt x="0" y="1143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157162" y="0"/>
                  </a:lnTo>
                  <a:cubicBezTo>
                    <a:pt x="172944" y="0"/>
                    <a:pt x="185738" y="12793"/>
                    <a:pt x="185738" y="28575"/>
                  </a:cubicBezTo>
                  <a:lnTo>
                    <a:pt x="185738" y="171450"/>
                  </a:lnTo>
                  <a:cubicBezTo>
                    <a:pt x="185739" y="173328"/>
                    <a:pt x="185370" y="175187"/>
                    <a:pt x="184652" y="176922"/>
                  </a:cubicBezTo>
                  <a:lnTo>
                    <a:pt x="184366" y="177536"/>
                  </a:lnTo>
                  <a:lnTo>
                    <a:pt x="184052" y="178179"/>
                  </a:lnTo>
                  <a:lnTo>
                    <a:pt x="183709" y="178751"/>
                  </a:lnTo>
                  <a:lnTo>
                    <a:pt x="183337" y="179380"/>
                  </a:lnTo>
                  <a:lnTo>
                    <a:pt x="182880" y="179994"/>
                  </a:lnTo>
                  <a:lnTo>
                    <a:pt x="182494" y="180508"/>
                  </a:lnTo>
                  <a:cubicBezTo>
                    <a:pt x="180398" y="183067"/>
                    <a:pt x="177480" y="184819"/>
                    <a:pt x="174236" y="185466"/>
                  </a:cubicBezTo>
                  <a:lnTo>
                    <a:pt x="173493" y="185580"/>
                  </a:lnTo>
                  <a:lnTo>
                    <a:pt x="172864" y="185666"/>
                  </a:lnTo>
                  <a:cubicBezTo>
                    <a:pt x="171924" y="185760"/>
                    <a:pt x="170976" y="185760"/>
                    <a:pt x="170036" y="185666"/>
                  </a:cubicBezTo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4552950" y="3157523"/>
              <a:ext cx="185738" cy="190567"/>
            </a:xfrm>
            <a:custGeom>
              <a:avLst/>
              <a:gdLst/>
              <a:ahLst/>
              <a:cxnLst/>
              <a:rect l="l" t="t" r="r" b="b"/>
              <a:pathLst>
                <a:path w="185738" h="190567">
                  <a:moveTo>
                    <a:pt x="71438" y="0"/>
                  </a:moveTo>
                  <a:lnTo>
                    <a:pt x="71438" y="14302"/>
                  </a:lnTo>
                  <a:cubicBezTo>
                    <a:pt x="71438" y="45865"/>
                    <a:pt x="97024" y="71452"/>
                    <a:pt x="128588" y="71452"/>
                  </a:cubicBezTo>
                  <a:lnTo>
                    <a:pt x="185738" y="71452"/>
                  </a:lnTo>
                  <a:lnTo>
                    <a:pt x="185738" y="114314"/>
                  </a:lnTo>
                  <a:cubicBezTo>
                    <a:pt x="185738" y="130096"/>
                    <a:pt x="172944" y="142889"/>
                    <a:pt x="157162" y="142889"/>
                  </a:cubicBezTo>
                  <a:lnTo>
                    <a:pt x="63065" y="142889"/>
                  </a:lnTo>
                  <a:lnTo>
                    <a:pt x="24389" y="181566"/>
                  </a:lnTo>
                  <a:cubicBezTo>
                    <a:pt x="15388" y="190567"/>
                    <a:pt x="0" y="184194"/>
                    <a:pt x="0" y="171464"/>
                  </a:cubicBezTo>
                  <a:lnTo>
                    <a:pt x="0" y="28589"/>
                  </a:lnTo>
                  <a:cubicBezTo>
                    <a:pt x="0" y="12808"/>
                    <a:pt x="12793" y="14"/>
                    <a:pt x="28575" y="14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4983480" y="3073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即时通讯</a:t>
            </a:r>
          </a:p>
        </p:txBody>
      </p:sp>
      <p:sp>
        <p:nvSpPr>
          <p:cNvPr id="48" name="Freeform 48"/>
          <p:cNvSpPr/>
          <p:nvPr/>
        </p:nvSpPr>
        <p:spPr>
          <a:xfrm>
            <a:off x="7000875" y="300037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143036" y="30732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50" name="Line 50"/>
          <p:cNvSpPr/>
          <p:nvPr/>
        </p:nvSpPr>
        <p:spPr>
          <a:xfrm>
            <a:off x="4524375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11992" y="353329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WebSocket双向通讯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11992" y="374284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商品卡片/快捷回复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11992" y="39523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未读消息实时同步</a:t>
            </a:r>
          </a:p>
        </p:txBody>
      </p:sp>
      <p:sp>
        <p:nvSpPr>
          <p:cNvPr id="54" name="Freeform 54"/>
          <p:cNvSpPr/>
          <p:nvPr/>
        </p:nvSpPr>
        <p:spPr>
          <a:xfrm>
            <a:off x="7501979" y="418085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8096250" y="285750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56" name="Freeform 56"/>
          <p:cNvSpPr/>
          <p:nvPr/>
        </p:nvSpPr>
        <p:spPr>
          <a:xfrm>
            <a:off x="8343897" y="3057525"/>
            <a:ext cx="228606" cy="285750"/>
          </a:xfrm>
          <a:custGeom>
            <a:avLst/>
            <a:gdLst/>
            <a:ahLst/>
            <a:cxnLst/>
            <a:rect l="l" t="t" r="r" b="b"/>
            <a:pathLst>
              <a:path w="228606" h="285750">
                <a:moveTo>
                  <a:pt x="199985" y="31004"/>
                </a:moveTo>
                <a:cubicBezTo>
                  <a:pt x="217136" y="37047"/>
                  <a:pt x="228606" y="53254"/>
                  <a:pt x="228603" y="71438"/>
                </a:cubicBezTo>
                <a:lnTo>
                  <a:pt x="228603" y="242888"/>
                </a:lnTo>
                <a:cubicBezTo>
                  <a:pt x="228603" y="266560"/>
                  <a:pt x="209413" y="285750"/>
                  <a:pt x="185741" y="285750"/>
                </a:cubicBezTo>
                <a:lnTo>
                  <a:pt x="42866" y="285750"/>
                </a:lnTo>
                <a:cubicBezTo>
                  <a:pt x="19193" y="285750"/>
                  <a:pt x="3" y="266560"/>
                  <a:pt x="3" y="242888"/>
                </a:cubicBezTo>
                <a:lnTo>
                  <a:pt x="3" y="71438"/>
                </a:lnTo>
                <a:cubicBezTo>
                  <a:pt x="0" y="53254"/>
                  <a:pt x="11471" y="37047"/>
                  <a:pt x="28621" y="31004"/>
                </a:cubicBezTo>
                <a:cubicBezTo>
                  <a:pt x="29922" y="61598"/>
                  <a:pt x="55106" y="85730"/>
                  <a:pt x="85728" y="85725"/>
                </a:cubicBezTo>
                <a:lnTo>
                  <a:pt x="142878" y="85725"/>
                </a:lnTo>
                <a:cubicBezTo>
                  <a:pt x="172214" y="85728"/>
                  <a:pt x="196787" y="63519"/>
                  <a:pt x="199742" y="34333"/>
                </a:cubicBezTo>
                <a:close/>
                <a:moveTo>
                  <a:pt x="147064" y="132774"/>
                </a:moveTo>
                <a:lnTo>
                  <a:pt x="100016" y="179808"/>
                </a:lnTo>
                <a:lnTo>
                  <a:pt x="81542" y="161349"/>
                </a:lnTo>
                <a:cubicBezTo>
                  <a:pt x="77955" y="157635"/>
                  <a:pt x="72643" y="156145"/>
                  <a:pt x="67647" y="157453"/>
                </a:cubicBezTo>
                <a:cubicBezTo>
                  <a:pt x="62652" y="158760"/>
                  <a:pt x="58751" y="162661"/>
                  <a:pt x="57443" y="167657"/>
                </a:cubicBezTo>
                <a:cubicBezTo>
                  <a:pt x="56136" y="172652"/>
                  <a:pt x="57625" y="177964"/>
                  <a:pt x="61339" y="181551"/>
                </a:cubicBezTo>
                <a:lnTo>
                  <a:pt x="89914" y="210126"/>
                </a:lnTo>
                <a:cubicBezTo>
                  <a:pt x="95494" y="215704"/>
                  <a:pt x="104538" y="215704"/>
                  <a:pt x="110117" y="210126"/>
                </a:cubicBezTo>
                <a:lnTo>
                  <a:pt x="167267" y="152976"/>
                </a:lnTo>
                <a:cubicBezTo>
                  <a:pt x="172681" y="147370"/>
                  <a:pt x="172604" y="138459"/>
                  <a:pt x="167093" y="132948"/>
                </a:cubicBezTo>
                <a:cubicBezTo>
                  <a:pt x="161582" y="127437"/>
                  <a:pt x="152670" y="127359"/>
                  <a:pt x="147064" y="132774"/>
                </a:cubicBezTo>
                <a:moveTo>
                  <a:pt x="142878" y="0"/>
                </a:moveTo>
                <a:cubicBezTo>
                  <a:pt x="158660" y="0"/>
                  <a:pt x="171453" y="12793"/>
                  <a:pt x="171453" y="28575"/>
                </a:cubicBezTo>
                <a:cubicBezTo>
                  <a:pt x="171453" y="44357"/>
                  <a:pt x="158660" y="57150"/>
                  <a:pt x="142878" y="57150"/>
                </a:cubicBezTo>
                <a:lnTo>
                  <a:pt x="85728" y="57150"/>
                </a:lnTo>
                <a:cubicBezTo>
                  <a:pt x="69947" y="57150"/>
                  <a:pt x="57153" y="44357"/>
                  <a:pt x="57153" y="28575"/>
                </a:cubicBezTo>
                <a:cubicBezTo>
                  <a:pt x="57153" y="12793"/>
                  <a:pt x="69947" y="0"/>
                  <a:pt x="85728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745855" y="3073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订单管理</a:t>
            </a:r>
          </a:p>
        </p:txBody>
      </p:sp>
      <p:sp>
        <p:nvSpPr>
          <p:cNvPr id="58" name="Freeform 58"/>
          <p:cNvSpPr/>
          <p:nvPr/>
        </p:nvSpPr>
        <p:spPr>
          <a:xfrm>
            <a:off x="10763250" y="300037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905411" y="30732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60" name="Line 60"/>
          <p:cNvSpPr/>
          <p:nvPr/>
        </p:nvSpPr>
        <p:spPr>
          <a:xfrm>
            <a:off x="8286750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8274368" y="35332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双向确认面交机制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74368" y="37428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72小时超时自动取消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274368" y="3952399"/>
            <a:ext cx="1377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Redis分布式锁防并发</a:t>
            </a:r>
          </a:p>
        </p:txBody>
      </p:sp>
      <p:sp>
        <p:nvSpPr>
          <p:cNvPr id="64" name="Freeform 64"/>
          <p:cNvSpPr/>
          <p:nvPr/>
        </p:nvSpPr>
        <p:spPr>
          <a:xfrm>
            <a:off x="11264354" y="418085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571500" y="46672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66" name="Freeform 66"/>
          <p:cNvSpPr/>
          <p:nvPr/>
        </p:nvSpPr>
        <p:spPr>
          <a:xfrm>
            <a:off x="775544" y="4853017"/>
            <a:ext cx="315655" cy="300843"/>
          </a:xfrm>
          <a:custGeom>
            <a:avLst/>
            <a:gdLst/>
            <a:ahLst/>
            <a:cxnLst/>
            <a:rect l="l" t="t" r="r" b="b"/>
            <a:pathLst>
              <a:path w="315655" h="300843">
                <a:moveTo>
                  <a:pt x="104228" y="90554"/>
                </a:moveTo>
                <a:lnTo>
                  <a:pt x="13073" y="103770"/>
                </a:lnTo>
                <a:lnTo>
                  <a:pt x="11459" y="104098"/>
                </a:lnTo>
                <a:cubicBezTo>
                  <a:pt x="6483" y="105419"/>
                  <a:pt x="2603" y="109315"/>
                  <a:pt x="1301" y="114296"/>
                </a:cubicBezTo>
                <a:cubicBezTo>
                  <a:pt x="0" y="119277"/>
                  <a:pt x="1479" y="124572"/>
                  <a:pt x="5172" y="128158"/>
                </a:cubicBezTo>
                <a:lnTo>
                  <a:pt x="71209" y="192438"/>
                </a:lnTo>
                <a:lnTo>
                  <a:pt x="55636" y="283235"/>
                </a:lnTo>
                <a:lnTo>
                  <a:pt x="55450" y="284807"/>
                </a:lnTo>
                <a:cubicBezTo>
                  <a:pt x="55146" y="289953"/>
                  <a:pt x="57637" y="294865"/>
                  <a:pt x="61970" y="297658"/>
                </a:cubicBezTo>
                <a:cubicBezTo>
                  <a:pt x="66303" y="300452"/>
                  <a:pt x="71805" y="300695"/>
                  <a:pt x="76367" y="298294"/>
                </a:cubicBezTo>
                <a:lnTo>
                  <a:pt x="157892" y="255431"/>
                </a:lnTo>
                <a:lnTo>
                  <a:pt x="239230" y="298294"/>
                </a:lnTo>
                <a:lnTo>
                  <a:pt x="240659" y="298951"/>
                </a:lnTo>
                <a:cubicBezTo>
                  <a:pt x="245461" y="300843"/>
                  <a:pt x="250909" y="299997"/>
                  <a:pt x="254912" y="296740"/>
                </a:cubicBezTo>
                <a:cubicBezTo>
                  <a:pt x="258915" y="293484"/>
                  <a:pt x="260851" y="288321"/>
                  <a:pt x="259976" y="283235"/>
                </a:cubicBezTo>
                <a:lnTo>
                  <a:pt x="244388" y="192438"/>
                </a:lnTo>
                <a:lnTo>
                  <a:pt x="310453" y="128144"/>
                </a:lnTo>
                <a:lnTo>
                  <a:pt x="311568" y="126930"/>
                </a:lnTo>
                <a:cubicBezTo>
                  <a:pt x="314809" y="122938"/>
                  <a:pt x="315655" y="117513"/>
                  <a:pt x="313784" y="112724"/>
                </a:cubicBezTo>
                <a:cubicBezTo>
                  <a:pt x="311912" y="107935"/>
                  <a:pt x="307612" y="104521"/>
                  <a:pt x="302524" y="103784"/>
                </a:cubicBezTo>
                <a:lnTo>
                  <a:pt x="211370" y="90554"/>
                </a:lnTo>
                <a:lnTo>
                  <a:pt x="170622" y="7972"/>
                </a:lnTo>
                <a:cubicBezTo>
                  <a:pt x="168216" y="3091"/>
                  <a:pt x="163247" y="0"/>
                  <a:pt x="157806" y="0"/>
                </a:cubicBezTo>
                <a:cubicBezTo>
                  <a:pt x="152364" y="0"/>
                  <a:pt x="147395" y="3091"/>
                  <a:pt x="144990" y="7972"/>
                </a:cubicBezTo>
                <a:lnTo>
                  <a:pt x="104228" y="90554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1221105" y="4883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互评系统</a:t>
            </a:r>
          </a:p>
        </p:txBody>
      </p:sp>
      <p:sp>
        <p:nvSpPr>
          <p:cNvPr id="68" name="Freeform 68"/>
          <p:cNvSpPr/>
          <p:nvPr/>
        </p:nvSpPr>
        <p:spPr>
          <a:xfrm>
            <a:off x="3238500" y="481012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3380661" y="48829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70" name="Line 70"/>
          <p:cNvSpPr/>
          <p:nvPr/>
        </p:nvSpPr>
        <p:spPr>
          <a:xfrm>
            <a:off x="762000" y="5238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49618" y="5343049"/>
            <a:ext cx="20325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三维度评分（描述/态度/体验）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9618" y="55525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综合评分自动计算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9618" y="576214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7天未评自动好评</a:t>
            </a:r>
          </a:p>
        </p:txBody>
      </p:sp>
      <p:sp>
        <p:nvSpPr>
          <p:cNvPr id="74" name="Freeform 74"/>
          <p:cNvSpPr/>
          <p:nvPr/>
        </p:nvSpPr>
        <p:spPr>
          <a:xfrm>
            <a:off x="3691979" y="599060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5" name="Freeform 75"/>
          <p:cNvSpPr/>
          <p:nvPr/>
        </p:nvSpPr>
        <p:spPr>
          <a:xfrm>
            <a:off x="4333875" y="46672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6" name="Freeform 76"/>
          <p:cNvSpPr/>
          <p:nvPr/>
        </p:nvSpPr>
        <p:spPr>
          <a:xfrm>
            <a:off x="4547053" y="4878256"/>
            <a:ext cx="297160" cy="261881"/>
          </a:xfrm>
          <a:custGeom>
            <a:avLst/>
            <a:gdLst/>
            <a:ahLst/>
            <a:cxnLst/>
            <a:rect l="l" t="t" r="r" b="b"/>
            <a:pathLst>
              <a:path w="297160" h="261881">
                <a:moveTo>
                  <a:pt x="77035" y="4364"/>
                </a:moveTo>
                <a:cubicBezTo>
                  <a:pt x="102648" y="0"/>
                  <a:pt x="128859" y="7488"/>
                  <a:pt x="148301" y="24724"/>
                </a:cubicBezTo>
                <a:lnTo>
                  <a:pt x="148830" y="25195"/>
                </a:lnTo>
                <a:lnTo>
                  <a:pt x="149315" y="24767"/>
                </a:lnTo>
                <a:cubicBezTo>
                  <a:pt x="167848" y="8502"/>
                  <a:pt x="192487" y="1006"/>
                  <a:pt x="216938" y="4193"/>
                </a:cubicBezTo>
                <a:lnTo>
                  <a:pt x="220453" y="4707"/>
                </a:lnTo>
                <a:cubicBezTo>
                  <a:pt x="251490" y="10066"/>
                  <a:pt x="277089" y="32014"/>
                  <a:pt x="287125" y="61869"/>
                </a:cubicBezTo>
                <a:cubicBezTo>
                  <a:pt x="297160" y="91724"/>
                  <a:pt x="290015" y="124678"/>
                  <a:pt x="268516" y="147696"/>
                </a:cubicBezTo>
                <a:lnTo>
                  <a:pt x="265944" y="150340"/>
                </a:lnTo>
                <a:lnTo>
                  <a:pt x="265258" y="150925"/>
                </a:lnTo>
                <a:lnTo>
                  <a:pt x="158817" y="256353"/>
                </a:lnTo>
                <a:cubicBezTo>
                  <a:pt x="153737" y="261381"/>
                  <a:pt x="145723" y="261881"/>
                  <a:pt x="140057" y="257524"/>
                </a:cubicBezTo>
                <a:lnTo>
                  <a:pt x="138714" y="256353"/>
                </a:lnTo>
                <a:lnTo>
                  <a:pt x="31658" y="150311"/>
                </a:lnTo>
                <a:cubicBezTo>
                  <a:pt x="8532" y="127810"/>
                  <a:pt x="0" y="94230"/>
                  <a:pt x="9580" y="63419"/>
                </a:cubicBezTo>
                <a:cubicBezTo>
                  <a:pt x="19159" y="32608"/>
                  <a:pt x="45228" y="9786"/>
                  <a:pt x="77035" y="4364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4983480" y="4883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收藏关注</a:t>
            </a:r>
          </a:p>
        </p:txBody>
      </p:sp>
      <p:sp>
        <p:nvSpPr>
          <p:cNvPr id="78" name="Freeform 78"/>
          <p:cNvSpPr/>
          <p:nvPr/>
        </p:nvSpPr>
        <p:spPr>
          <a:xfrm>
            <a:off x="7000875" y="481012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7143036" y="48829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80" name="Line 80"/>
          <p:cNvSpPr/>
          <p:nvPr/>
        </p:nvSpPr>
        <p:spPr>
          <a:xfrm>
            <a:off x="4524375" y="5238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4511992" y="534304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商品收藏+卖家关注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511992" y="55525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唯一索引防重复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511992" y="57621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关注状态30分钟缓存</a:t>
            </a:r>
          </a:p>
        </p:txBody>
      </p:sp>
      <p:sp>
        <p:nvSpPr>
          <p:cNvPr id="84" name="Freeform 84"/>
          <p:cNvSpPr/>
          <p:nvPr/>
        </p:nvSpPr>
        <p:spPr>
          <a:xfrm>
            <a:off x="7501979" y="599060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85" name="Freeform 85"/>
          <p:cNvSpPr/>
          <p:nvPr/>
        </p:nvSpPr>
        <p:spPr>
          <a:xfrm>
            <a:off x="8096250" y="46672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grpSp>
        <p:nvGrpSpPr>
          <p:cNvPr id="88" name="Group 88"/>
          <p:cNvGrpSpPr/>
          <p:nvPr/>
        </p:nvGrpSpPr>
        <p:grpSpPr>
          <a:xfrm>
            <a:off x="8324083" y="4867275"/>
            <a:ext cx="267748" cy="285763"/>
            <a:chOff x="8324083" y="4867275"/>
            <a:chExt cx="267748" cy="285763"/>
          </a:xfrm>
        </p:grpSpPr>
        <p:sp>
          <p:nvSpPr>
            <p:cNvPr id="86" name="Freeform 86"/>
            <p:cNvSpPr/>
            <p:nvPr/>
          </p:nvSpPr>
          <p:spPr>
            <a:xfrm>
              <a:off x="8407737" y="5110162"/>
              <a:ext cx="101284" cy="42876"/>
            </a:xfrm>
            <a:custGeom>
              <a:avLst/>
              <a:gdLst/>
              <a:ahLst/>
              <a:cxnLst/>
              <a:rect l="l" t="t" r="r" b="b"/>
              <a:pathLst>
                <a:path w="101284" h="42876">
                  <a:moveTo>
                    <a:pt x="82396" y="0"/>
                  </a:moveTo>
                  <a:cubicBezTo>
                    <a:pt x="94755" y="0"/>
                    <a:pt x="101284" y="14630"/>
                    <a:pt x="93040" y="23832"/>
                  </a:cubicBezTo>
                  <a:cubicBezTo>
                    <a:pt x="82208" y="35953"/>
                    <a:pt x="66719" y="42876"/>
                    <a:pt x="50463" y="42862"/>
                  </a:cubicBezTo>
                  <a:cubicBezTo>
                    <a:pt x="34208" y="42876"/>
                    <a:pt x="18718" y="35953"/>
                    <a:pt x="7887" y="23832"/>
                  </a:cubicBezTo>
                  <a:cubicBezTo>
                    <a:pt x="0" y="15030"/>
                    <a:pt x="5629" y="1272"/>
                    <a:pt x="16945" y="100"/>
                  </a:cubicBezTo>
                  <a:lnTo>
                    <a:pt x="18517" y="14"/>
                  </a:lnTo>
                  <a:lnTo>
                    <a:pt x="82396" y="14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8324083" y="4867275"/>
              <a:ext cx="267748" cy="228600"/>
            </a:xfrm>
            <a:custGeom>
              <a:avLst/>
              <a:gdLst/>
              <a:ahLst/>
              <a:cxnLst/>
              <a:rect l="l" t="t" r="r" b="b"/>
              <a:pathLst>
                <a:path w="267748" h="228600">
                  <a:moveTo>
                    <a:pt x="134117" y="0"/>
                  </a:moveTo>
                  <a:cubicBezTo>
                    <a:pt x="153519" y="0"/>
                    <a:pt x="169921" y="12902"/>
                    <a:pt x="175193" y="30590"/>
                  </a:cubicBezTo>
                  <a:lnTo>
                    <a:pt x="175851" y="33033"/>
                  </a:lnTo>
                  <a:lnTo>
                    <a:pt x="175965" y="33647"/>
                  </a:lnTo>
                  <a:cubicBezTo>
                    <a:pt x="207914" y="51671"/>
                    <a:pt x="229292" y="83913"/>
                    <a:pt x="233458" y="120358"/>
                  </a:cubicBezTo>
                  <a:lnTo>
                    <a:pt x="233858" y="124458"/>
                  </a:lnTo>
                  <a:lnTo>
                    <a:pt x="234129" y="128588"/>
                  </a:lnTo>
                  <a:lnTo>
                    <a:pt x="234129" y="170464"/>
                  </a:lnTo>
                  <a:lnTo>
                    <a:pt x="234429" y="172407"/>
                  </a:lnTo>
                  <a:cubicBezTo>
                    <a:pt x="236386" y="182935"/>
                    <a:pt x="242211" y="192349"/>
                    <a:pt x="250760" y="198796"/>
                  </a:cubicBezTo>
                  <a:lnTo>
                    <a:pt x="253146" y="200468"/>
                  </a:lnTo>
                  <a:lnTo>
                    <a:pt x="255461" y="201882"/>
                  </a:lnTo>
                  <a:cubicBezTo>
                    <a:pt x="267748" y="208840"/>
                    <a:pt x="263462" y="227114"/>
                    <a:pt x="250074" y="228514"/>
                  </a:cubicBezTo>
                  <a:lnTo>
                    <a:pt x="248417" y="228600"/>
                  </a:lnTo>
                  <a:lnTo>
                    <a:pt x="19817" y="228600"/>
                  </a:lnTo>
                  <a:cubicBezTo>
                    <a:pt x="5129" y="228600"/>
                    <a:pt x="0" y="209112"/>
                    <a:pt x="12773" y="201882"/>
                  </a:cubicBezTo>
                  <a:cubicBezTo>
                    <a:pt x="23793" y="195646"/>
                    <a:pt x="31492" y="184856"/>
                    <a:pt x="33804" y="172407"/>
                  </a:cubicBezTo>
                  <a:lnTo>
                    <a:pt x="34104" y="170364"/>
                  </a:lnTo>
                  <a:lnTo>
                    <a:pt x="34119" y="127930"/>
                  </a:lnTo>
                  <a:cubicBezTo>
                    <a:pt x="35887" y="90038"/>
                    <a:pt x="56340" y="55493"/>
                    <a:pt x="88711" y="35719"/>
                  </a:cubicBezTo>
                  <a:lnTo>
                    <a:pt x="92254" y="33633"/>
                  </a:lnTo>
                  <a:lnTo>
                    <a:pt x="92397" y="33018"/>
                  </a:lnTo>
                  <a:cubicBezTo>
                    <a:pt x="96537" y="15519"/>
                    <a:pt x="111150" y="2458"/>
                    <a:pt x="129002" y="300"/>
                  </a:cubicBezTo>
                  <a:lnTo>
                    <a:pt x="131602" y="57"/>
                  </a:lnTo>
                  <a:lnTo>
                    <a:pt x="134117" y="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</p:grpSp>
      <p:sp>
        <p:nvSpPr>
          <p:cNvPr id="89" name="TextBox 89"/>
          <p:cNvSpPr txBox="1"/>
          <p:nvPr/>
        </p:nvSpPr>
        <p:spPr>
          <a:xfrm>
            <a:off x="8745855" y="4883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消息中心</a:t>
            </a:r>
          </a:p>
        </p:txBody>
      </p:sp>
      <p:sp>
        <p:nvSpPr>
          <p:cNvPr id="90" name="Freeform 90"/>
          <p:cNvSpPr/>
          <p:nvPr/>
        </p:nvSpPr>
        <p:spPr>
          <a:xfrm>
            <a:off x="10763250" y="4810125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14300"/>
                </a:lnTo>
                <a:cubicBezTo>
                  <a:pt x="666750" y="177426"/>
                  <a:pt x="615576" y="228600"/>
                  <a:pt x="5524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10905411" y="48829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92" name="Line 92"/>
          <p:cNvSpPr/>
          <p:nvPr/>
        </p:nvSpPr>
        <p:spPr>
          <a:xfrm>
            <a:off x="8286750" y="5238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F3F4F6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8274368" y="534304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11类通知（交易/系统/审核）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8274368" y="555259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全部已读/分类已读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274368" y="57621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未读数实时更新</a:t>
            </a:r>
          </a:p>
        </p:txBody>
      </p:sp>
      <p:sp>
        <p:nvSpPr>
          <p:cNvPr id="96" name="Freeform 96"/>
          <p:cNvSpPr/>
          <p:nvPr/>
        </p:nvSpPr>
        <p:spPr>
          <a:xfrm>
            <a:off x="11264354" y="5990607"/>
            <a:ext cx="109114" cy="77437"/>
          </a:xfrm>
          <a:custGeom>
            <a:avLst/>
            <a:gdLst/>
            <a:ahLst/>
            <a:cxnLst/>
            <a:rect l="l" t="t" r="r" b="b"/>
            <a:pathLst>
              <a:path w="109114" h="77437">
                <a:moveTo>
                  <a:pt x="106635" y="2479"/>
                </a:moveTo>
                <a:cubicBezTo>
                  <a:pt x="109114" y="4959"/>
                  <a:pt x="109114" y="8978"/>
                  <a:pt x="106635" y="11458"/>
                </a:cubicBezTo>
                <a:lnTo>
                  <a:pt x="43135" y="74958"/>
                </a:lnTo>
                <a:cubicBezTo>
                  <a:pt x="40656" y="77437"/>
                  <a:pt x="36636" y="77437"/>
                  <a:pt x="34156" y="74958"/>
                </a:cubicBezTo>
                <a:lnTo>
                  <a:pt x="2406" y="43208"/>
                </a:lnTo>
                <a:cubicBezTo>
                  <a:pt x="0" y="40716"/>
                  <a:pt x="34" y="36756"/>
                  <a:pt x="2484" y="34306"/>
                </a:cubicBezTo>
                <a:cubicBezTo>
                  <a:pt x="4933" y="31857"/>
                  <a:pt x="8894" y="31822"/>
                  <a:pt x="11385" y="34229"/>
                </a:cubicBezTo>
                <a:lnTo>
                  <a:pt x="38646" y="61489"/>
                </a:lnTo>
                <a:lnTo>
                  <a:pt x="97656" y="2479"/>
                </a:lnTo>
                <a:cubicBezTo>
                  <a:pt x="100136" y="0"/>
                  <a:pt x="104156" y="0"/>
                  <a:pt x="106635" y="2479"/>
                </a:cubicBezTo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97" name="Freeform 97"/>
          <p:cNvSpPr/>
          <p:nvPr/>
        </p:nvSpPr>
        <p:spPr>
          <a:xfrm>
            <a:off x="571500" y="6457950"/>
            <a:ext cx="11049000" cy="285750"/>
          </a:xfrm>
          <a:custGeom>
            <a:avLst/>
            <a:gdLst/>
            <a:ahLst/>
            <a:cxnLst/>
            <a:rect l="l" t="t" r="r" b="b"/>
            <a:pathLst>
              <a:path w="11049000" h="285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09550"/>
                </a:lnTo>
                <a:cubicBezTo>
                  <a:pt x="11049000" y="251634"/>
                  <a:pt x="11014884" y="285750"/>
                  <a:pt x="10972800" y="285750"/>
                </a:cubicBezTo>
                <a:lnTo>
                  <a:pt x="76200" y="285750"/>
                </a:lnTo>
                <a:cubicBezTo>
                  <a:pt x="34116" y="285750"/>
                  <a:pt x="0" y="251634"/>
                  <a:pt x="0" y="20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3752112" y="653510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9大核心模块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660946" y="65351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42个API接口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631120" y="6535102"/>
            <a:ext cx="7397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96%完成度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管理端功能与数据概览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29787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ADMIN PANEL FEATURES &amp; DATA DASHBOARD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4381500" cy="1619250"/>
          </a:xfrm>
          <a:custGeom>
            <a:avLst/>
            <a:gdLst/>
            <a:ahLst/>
            <a:cxnLst/>
            <a:rect l="l" t="t" r="r" b="b"/>
            <a:pathLst>
              <a:path w="4381500" h="1619250">
                <a:moveTo>
                  <a:pt x="114300" y="0"/>
                </a:moveTo>
                <a:lnTo>
                  <a:pt x="4267200" y="0"/>
                </a:lnTo>
                <a:cubicBezTo>
                  <a:pt x="4330326" y="0"/>
                  <a:pt x="4381500" y="51174"/>
                  <a:pt x="4381500" y="114300"/>
                </a:cubicBezTo>
                <a:lnTo>
                  <a:pt x="4381500" y="1504950"/>
                </a:lnTo>
                <a:cubicBezTo>
                  <a:pt x="4381500" y="1568076"/>
                  <a:pt x="4330326" y="1619250"/>
                  <a:pt x="426720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47750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600200"/>
                </a:lnTo>
                <a:cubicBezTo>
                  <a:pt x="38100" y="1610721"/>
                  <a:pt x="29571" y="1619250"/>
                  <a:pt x="19050" y="1619250"/>
                </a:cubicBezTo>
                <a:lnTo>
                  <a:pt x="19050" y="1619250"/>
                </a:lnTo>
                <a:cubicBezTo>
                  <a:pt x="8529" y="1619250"/>
                  <a:pt x="0" y="1610721"/>
                  <a:pt x="0" y="1600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2955" y="11687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审核模块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765" y="148685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商品审核 — 通过/驳回/强制下架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6765" y="1734502"/>
            <a:ext cx="24343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认证审核 — 历史时间线/多版本对比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6765" y="1982152"/>
            <a:ext cx="19742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举报处理 — 6类举报原因分类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0100" y="2286000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123825" y="0"/>
                </a:moveTo>
                <a:lnTo>
                  <a:pt x="828675" y="0"/>
                </a:lnTo>
                <a:cubicBezTo>
                  <a:pt x="897062" y="0"/>
                  <a:pt x="952500" y="55438"/>
                  <a:pt x="952500" y="123825"/>
                </a:cubicBezTo>
                <a:lnTo>
                  <a:pt x="952500" y="123825"/>
                </a:lnTo>
                <a:cubicBezTo>
                  <a:pt x="952500" y="192212"/>
                  <a:pt x="897062" y="247650"/>
                  <a:pt x="828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9594" y="236029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待审核: 23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857500"/>
            <a:ext cx="4381500" cy="1333500"/>
          </a:xfrm>
          <a:custGeom>
            <a:avLst/>
            <a:gdLst/>
            <a:ahLst/>
            <a:cxnLst/>
            <a:rect l="l" t="t" r="r" b="b"/>
            <a:pathLst>
              <a:path w="4381500" h="1333500">
                <a:moveTo>
                  <a:pt x="114300" y="0"/>
                </a:moveTo>
                <a:lnTo>
                  <a:pt x="4267200" y="0"/>
                </a:lnTo>
                <a:cubicBezTo>
                  <a:pt x="4330326" y="0"/>
                  <a:pt x="4381500" y="51174"/>
                  <a:pt x="4381500" y="114300"/>
                </a:cubicBezTo>
                <a:lnTo>
                  <a:pt x="4381500" y="1219200"/>
                </a:lnTo>
                <a:cubicBezTo>
                  <a:pt x="4381500" y="1282326"/>
                  <a:pt x="4330326" y="1333500"/>
                  <a:pt x="4267200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571500" y="28575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314450"/>
                </a:lnTo>
                <a:cubicBezTo>
                  <a:pt x="38100" y="1324971"/>
                  <a:pt x="29571" y="1333500"/>
                  <a:pt x="19050" y="1333500"/>
                </a:cubicBezTo>
                <a:lnTo>
                  <a:pt x="19050" y="1333500"/>
                </a:lnTo>
                <a:cubicBezTo>
                  <a:pt x="8529" y="1333500"/>
                  <a:pt x="0" y="1324971"/>
                  <a:pt x="0" y="1314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82955" y="2978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管理模块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6765" y="329660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用户管理 — 封禁/解封/详情查看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765" y="354425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订单管理 — 列表/详情/关联查询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6765" y="379190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订单详情弹窗 720px 四区块展示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381500"/>
            <a:ext cx="4381500" cy="1714500"/>
          </a:xfrm>
          <a:custGeom>
            <a:avLst/>
            <a:gdLst/>
            <a:ahLst/>
            <a:cxnLst/>
            <a:rect l="l" t="t" r="r" b="b"/>
            <a:pathLst>
              <a:path w="4381500" h="1714500">
                <a:moveTo>
                  <a:pt x="114300" y="0"/>
                </a:moveTo>
                <a:lnTo>
                  <a:pt x="4267200" y="0"/>
                </a:lnTo>
                <a:cubicBezTo>
                  <a:pt x="4330326" y="0"/>
                  <a:pt x="4381500" y="51174"/>
                  <a:pt x="4381500" y="114300"/>
                </a:cubicBezTo>
                <a:lnTo>
                  <a:pt x="4381500" y="1600200"/>
                </a:lnTo>
                <a:cubicBezTo>
                  <a:pt x="4381500" y="1663326"/>
                  <a:pt x="4330326" y="1714500"/>
                  <a:pt x="426720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71500" y="43815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1695450"/>
                </a:lnTo>
                <a:cubicBezTo>
                  <a:pt x="38100" y="1705971"/>
                  <a:pt x="29571" y="1714500"/>
                  <a:pt x="19050" y="1714500"/>
                </a:cubicBezTo>
                <a:lnTo>
                  <a:pt x="19050" y="1714500"/>
                </a:lnTo>
                <a:cubicBezTo>
                  <a:pt x="8529" y="1714500"/>
                  <a:pt x="0" y="1705971"/>
                  <a:pt x="0" y="1695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82955" y="4502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配置模块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6765" y="4820602"/>
            <a:ext cx="1935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分类管理 — CRUD/状态/排序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6765" y="506825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校区管理 — 校区+面交地点双层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6765" y="531590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Banner/公告/员工管理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0100" y="5676900"/>
            <a:ext cx="1714500" cy="247650"/>
          </a:xfrm>
          <a:custGeom>
            <a:avLst/>
            <a:gdLst/>
            <a:ahLst/>
            <a:cxnLst/>
            <a:rect l="l" t="t" r="r" b="b"/>
            <a:pathLst>
              <a:path w="1714500" h="247650">
                <a:moveTo>
                  <a:pt x="123825" y="0"/>
                </a:moveTo>
                <a:lnTo>
                  <a:pt x="1590675" y="0"/>
                </a:lnTo>
                <a:cubicBezTo>
                  <a:pt x="1659062" y="0"/>
                  <a:pt x="1714500" y="55438"/>
                  <a:pt x="1714500" y="123825"/>
                </a:cubicBezTo>
                <a:lnTo>
                  <a:pt x="1714500" y="123825"/>
                </a:lnTo>
                <a:cubicBezTo>
                  <a:pt x="1714500" y="192212"/>
                  <a:pt x="1659062" y="247650"/>
                  <a:pt x="1590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20594" y="575119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完成度 99%</a:t>
            </a:r>
          </a:p>
        </p:txBody>
      </p:sp>
      <p:sp>
        <p:nvSpPr>
          <p:cNvPr id="28" name="Freeform 28"/>
          <p:cNvSpPr/>
          <p:nvPr/>
        </p:nvSpPr>
        <p:spPr>
          <a:xfrm>
            <a:off x="5238750" y="1047750"/>
            <a:ext cx="3143250" cy="1238250"/>
          </a:xfrm>
          <a:custGeom>
            <a:avLst/>
            <a:gdLst/>
            <a:ahLst/>
            <a:cxnLst/>
            <a:rect l="l" t="t" r="r" b="b"/>
            <a:pathLst>
              <a:path w="3143250" h="1238250">
                <a:moveTo>
                  <a:pt x="114300" y="0"/>
                </a:moveTo>
                <a:lnTo>
                  <a:pt x="3028950" y="0"/>
                </a:lnTo>
                <a:cubicBezTo>
                  <a:pt x="3092076" y="0"/>
                  <a:pt x="3143250" y="51174"/>
                  <a:pt x="3143250" y="114300"/>
                </a:cubicBezTo>
                <a:lnTo>
                  <a:pt x="3143250" y="1123950"/>
                </a:lnTo>
                <a:cubicBezTo>
                  <a:pt x="3143250" y="1187076"/>
                  <a:pt x="3092076" y="1238250"/>
                  <a:pt x="302895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760720" y="1312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用户总数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94960" y="151828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5,247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04284" y="15535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12.5%</a:t>
            </a:r>
          </a:p>
        </p:txBody>
      </p:sp>
      <p:sp>
        <p:nvSpPr>
          <p:cNvPr id="32" name="Freeform 32"/>
          <p:cNvSpPr/>
          <p:nvPr/>
        </p:nvSpPr>
        <p:spPr>
          <a:xfrm>
            <a:off x="8572500" y="1047750"/>
            <a:ext cx="3143250" cy="1238250"/>
          </a:xfrm>
          <a:custGeom>
            <a:avLst/>
            <a:gdLst/>
            <a:ahLst/>
            <a:cxnLst/>
            <a:rect l="l" t="t" r="r" b="b"/>
            <a:pathLst>
              <a:path w="3143250" h="1238250">
                <a:moveTo>
                  <a:pt x="114300" y="0"/>
                </a:moveTo>
                <a:lnTo>
                  <a:pt x="3028950" y="0"/>
                </a:lnTo>
                <a:cubicBezTo>
                  <a:pt x="3092076" y="0"/>
                  <a:pt x="3143250" y="51174"/>
                  <a:pt x="3143250" y="114300"/>
                </a:cubicBezTo>
                <a:lnTo>
                  <a:pt x="3143250" y="1123950"/>
                </a:lnTo>
                <a:cubicBezTo>
                  <a:pt x="3143250" y="1187076"/>
                  <a:pt x="3092076" y="1238250"/>
                  <a:pt x="302895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1FAE5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807448" y="1241425"/>
            <a:ext cx="177805" cy="222250"/>
          </a:xfrm>
          <a:custGeom>
            <a:avLst/>
            <a:gdLst/>
            <a:ahLst/>
            <a:cxnLst/>
            <a:rect l="l" t="t" r="r" b="b"/>
            <a:pathLst>
              <a:path w="177805" h="222250">
                <a:moveTo>
                  <a:pt x="155544" y="24114"/>
                </a:moveTo>
                <a:cubicBezTo>
                  <a:pt x="168883" y="28814"/>
                  <a:pt x="177805" y="41420"/>
                  <a:pt x="177802" y="55562"/>
                </a:cubicBezTo>
                <a:lnTo>
                  <a:pt x="177802" y="188912"/>
                </a:lnTo>
                <a:cubicBezTo>
                  <a:pt x="177802" y="207324"/>
                  <a:pt x="162877" y="222250"/>
                  <a:pt x="144465" y="222250"/>
                </a:cubicBezTo>
                <a:lnTo>
                  <a:pt x="33340" y="222250"/>
                </a:lnTo>
                <a:cubicBezTo>
                  <a:pt x="14928" y="222250"/>
                  <a:pt x="2" y="207324"/>
                  <a:pt x="2" y="188912"/>
                </a:cubicBezTo>
                <a:lnTo>
                  <a:pt x="2" y="55562"/>
                </a:lnTo>
                <a:cubicBezTo>
                  <a:pt x="0" y="41420"/>
                  <a:pt x="8922" y="28814"/>
                  <a:pt x="22261" y="24114"/>
                </a:cubicBezTo>
                <a:cubicBezTo>
                  <a:pt x="23273" y="47910"/>
                  <a:pt x="42860" y="66679"/>
                  <a:pt x="66677" y="66675"/>
                </a:cubicBezTo>
                <a:lnTo>
                  <a:pt x="111127" y="66675"/>
                </a:lnTo>
                <a:cubicBezTo>
                  <a:pt x="133944" y="66677"/>
                  <a:pt x="153056" y="49404"/>
                  <a:pt x="155355" y="26703"/>
                </a:cubicBezTo>
                <a:close/>
                <a:moveTo>
                  <a:pt x="55676" y="144462"/>
                </a:moveTo>
                <a:lnTo>
                  <a:pt x="55565" y="144462"/>
                </a:lnTo>
                <a:cubicBezTo>
                  <a:pt x="49685" y="144469"/>
                  <a:pt x="44828" y="149054"/>
                  <a:pt x="44484" y="154924"/>
                </a:cubicBezTo>
                <a:cubicBezTo>
                  <a:pt x="44139" y="160793"/>
                  <a:pt x="48426" y="165915"/>
                  <a:pt x="54265" y="166610"/>
                </a:cubicBezTo>
                <a:lnTo>
                  <a:pt x="55676" y="166688"/>
                </a:lnTo>
                <a:cubicBezTo>
                  <a:pt x="61813" y="166688"/>
                  <a:pt x="66789" y="161712"/>
                  <a:pt x="66789" y="155575"/>
                </a:cubicBezTo>
                <a:cubicBezTo>
                  <a:pt x="66789" y="149438"/>
                  <a:pt x="61813" y="144462"/>
                  <a:pt x="55676" y="144462"/>
                </a:cubicBezTo>
                <a:moveTo>
                  <a:pt x="122240" y="144462"/>
                </a:moveTo>
                <a:lnTo>
                  <a:pt x="100015" y="144462"/>
                </a:lnTo>
                <a:cubicBezTo>
                  <a:pt x="93878" y="144462"/>
                  <a:pt x="88902" y="149438"/>
                  <a:pt x="88902" y="155575"/>
                </a:cubicBezTo>
                <a:cubicBezTo>
                  <a:pt x="88902" y="161712"/>
                  <a:pt x="93878" y="166688"/>
                  <a:pt x="100015" y="166688"/>
                </a:cubicBezTo>
                <a:lnTo>
                  <a:pt x="122240" y="166688"/>
                </a:lnTo>
                <a:cubicBezTo>
                  <a:pt x="128377" y="166688"/>
                  <a:pt x="133352" y="161712"/>
                  <a:pt x="133352" y="155575"/>
                </a:cubicBezTo>
                <a:cubicBezTo>
                  <a:pt x="133352" y="149438"/>
                  <a:pt x="128377" y="144462"/>
                  <a:pt x="122240" y="144462"/>
                </a:cubicBezTo>
                <a:moveTo>
                  <a:pt x="55676" y="100012"/>
                </a:moveTo>
                <a:lnTo>
                  <a:pt x="55565" y="100012"/>
                </a:lnTo>
                <a:cubicBezTo>
                  <a:pt x="49685" y="100019"/>
                  <a:pt x="44828" y="104604"/>
                  <a:pt x="44484" y="110474"/>
                </a:cubicBezTo>
                <a:cubicBezTo>
                  <a:pt x="44139" y="116343"/>
                  <a:pt x="48426" y="121465"/>
                  <a:pt x="54265" y="122160"/>
                </a:cubicBezTo>
                <a:lnTo>
                  <a:pt x="55676" y="122237"/>
                </a:lnTo>
                <a:cubicBezTo>
                  <a:pt x="61813" y="122237"/>
                  <a:pt x="66789" y="117262"/>
                  <a:pt x="66789" y="111125"/>
                </a:cubicBezTo>
                <a:cubicBezTo>
                  <a:pt x="66789" y="104988"/>
                  <a:pt x="61813" y="100012"/>
                  <a:pt x="55676" y="100012"/>
                </a:cubicBezTo>
                <a:moveTo>
                  <a:pt x="122240" y="100012"/>
                </a:moveTo>
                <a:lnTo>
                  <a:pt x="100015" y="100012"/>
                </a:lnTo>
                <a:cubicBezTo>
                  <a:pt x="93878" y="100012"/>
                  <a:pt x="88902" y="104988"/>
                  <a:pt x="88902" y="111125"/>
                </a:cubicBezTo>
                <a:cubicBezTo>
                  <a:pt x="88902" y="117262"/>
                  <a:pt x="93878" y="122237"/>
                  <a:pt x="100015" y="122237"/>
                </a:cubicBezTo>
                <a:lnTo>
                  <a:pt x="122240" y="122237"/>
                </a:lnTo>
                <a:cubicBezTo>
                  <a:pt x="128377" y="122237"/>
                  <a:pt x="133352" y="117262"/>
                  <a:pt x="133352" y="111125"/>
                </a:cubicBezTo>
                <a:cubicBezTo>
                  <a:pt x="133352" y="104988"/>
                  <a:pt x="128377" y="100012"/>
                  <a:pt x="122240" y="100012"/>
                </a:cubicBezTo>
                <a:moveTo>
                  <a:pt x="111127" y="0"/>
                </a:moveTo>
                <a:cubicBezTo>
                  <a:pt x="123402" y="0"/>
                  <a:pt x="133352" y="9950"/>
                  <a:pt x="133352" y="22225"/>
                </a:cubicBezTo>
                <a:cubicBezTo>
                  <a:pt x="133352" y="34500"/>
                  <a:pt x="123402" y="44450"/>
                  <a:pt x="111127" y="44450"/>
                </a:cubicBezTo>
                <a:lnTo>
                  <a:pt x="66677" y="44450"/>
                </a:lnTo>
                <a:cubicBezTo>
                  <a:pt x="54403" y="44450"/>
                  <a:pt x="44452" y="34500"/>
                  <a:pt x="44452" y="22225"/>
                </a:cubicBezTo>
                <a:cubicBezTo>
                  <a:pt x="44452" y="9950"/>
                  <a:pt x="54403" y="0"/>
                  <a:pt x="66677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94470" y="13125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商品总数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28710" y="1518285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1,839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984039" y="15535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8.3%</a:t>
            </a:r>
          </a:p>
        </p:txBody>
      </p:sp>
      <p:sp>
        <p:nvSpPr>
          <p:cNvPr id="37" name="Freeform 37"/>
          <p:cNvSpPr/>
          <p:nvPr/>
        </p:nvSpPr>
        <p:spPr>
          <a:xfrm>
            <a:off x="5238750" y="2476500"/>
            <a:ext cx="3143250" cy="1238250"/>
          </a:xfrm>
          <a:custGeom>
            <a:avLst/>
            <a:gdLst/>
            <a:ahLst/>
            <a:cxnLst/>
            <a:rect l="l" t="t" r="r" b="b"/>
            <a:pathLst>
              <a:path w="3143250" h="1238250">
                <a:moveTo>
                  <a:pt x="114300" y="0"/>
                </a:moveTo>
                <a:lnTo>
                  <a:pt x="3028950" y="0"/>
                </a:lnTo>
                <a:cubicBezTo>
                  <a:pt x="3092076" y="0"/>
                  <a:pt x="3143250" y="51174"/>
                  <a:pt x="3143250" y="114300"/>
                </a:cubicBezTo>
                <a:lnTo>
                  <a:pt x="3143250" y="1123950"/>
                </a:lnTo>
                <a:cubicBezTo>
                  <a:pt x="3143250" y="1187076"/>
                  <a:pt x="3092076" y="1238250"/>
                  <a:pt x="302895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5473698" y="2670175"/>
            <a:ext cx="177805" cy="222250"/>
          </a:xfrm>
          <a:custGeom>
            <a:avLst/>
            <a:gdLst/>
            <a:ahLst/>
            <a:cxnLst/>
            <a:rect l="l" t="t" r="r" b="b"/>
            <a:pathLst>
              <a:path w="177805" h="222250">
                <a:moveTo>
                  <a:pt x="155544" y="24114"/>
                </a:moveTo>
                <a:cubicBezTo>
                  <a:pt x="168883" y="28814"/>
                  <a:pt x="177805" y="41420"/>
                  <a:pt x="177802" y="55563"/>
                </a:cubicBezTo>
                <a:lnTo>
                  <a:pt x="177802" y="188913"/>
                </a:lnTo>
                <a:cubicBezTo>
                  <a:pt x="177802" y="207324"/>
                  <a:pt x="162877" y="222250"/>
                  <a:pt x="144465" y="222250"/>
                </a:cubicBezTo>
                <a:lnTo>
                  <a:pt x="33340" y="222250"/>
                </a:lnTo>
                <a:cubicBezTo>
                  <a:pt x="14928" y="222250"/>
                  <a:pt x="2" y="207324"/>
                  <a:pt x="2" y="188913"/>
                </a:cubicBezTo>
                <a:lnTo>
                  <a:pt x="2" y="55563"/>
                </a:lnTo>
                <a:cubicBezTo>
                  <a:pt x="0" y="41420"/>
                  <a:pt x="8922" y="28814"/>
                  <a:pt x="22261" y="24114"/>
                </a:cubicBezTo>
                <a:cubicBezTo>
                  <a:pt x="23273" y="47910"/>
                  <a:pt x="42860" y="66679"/>
                  <a:pt x="66677" y="66675"/>
                </a:cubicBezTo>
                <a:lnTo>
                  <a:pt x="111127" y="66675"/>
                </a:lnTo>
                <a:cubicBezTo>
                  <a:pt x="133944" y="66677"/>
                  <a:pt x="153056" y="49404"/>
                  <a:pt x="155355" y="26703"/>
                </a:cubicBezTo>
                <a:close/>
                <a:moveTo>
                  <a:pt x="114383" y="103268"/>
                </a:moveTo>
                <a:lnTo>
                  <a:pt x="77790" y="139851"/>
                </a:lnTo>
                <a:lnTo>
                  <a:pt x="63421" y="125493"/>
                </a:lnTo>
                <a:cubicBezTo>
                  <a:pt x="60631" y="122605"/>
                  <a:pt x="56500" y="121446"/>
                  <a:pt x="52614" y="122463"/>
                </a:cubicBezTo>
                <a:cubicBezTo>
                  <a:pt x="48729" y="123480"/>
                  <a:pt x="45695" y="126514"/>
                  <a:pt x="44678" y="130400"/>
                </a:cubicBezTo>
                <a:cubicBezTo>
                  <a:pt x="43661" y="134285"/>
                  <a:pt x="44820" y="138416"/>
                  <a:pt x="47708" y="141207"/>
                </a:cubicBezTo>
                <a:lnTo>
                  <a:pt x="69933" y="163432"/>
                </a:lnTo>
                <a:cubicBezTo>
                  <a:pt x="74273" y="167770"/>
                  <a:pt x="81307" y="167770"/>
                  <a:pt x="85646" y="163432"/>
                </a:cubicBezTo>
                <a:lnTo>
                  <a:pt x="130096" y="118982"/>
                </a:lnTo>
                <a:cubicBezTo>
                  <a:pt x="134308" y="114621"/>
                  <a:pt x="134248" y="107690"/>
                  <a:pt x="129961" y="103404"/>
                </a:cubicBezTo>
                <a:cubicBezTo>
                  <a:pt x="125675" y="99117"/>
                  <a:pt x="118744" y="99057"/>
                  <a:pt x="114383" y="103268"/>
                </a:cubicBezTo>
                <a:moveTo>
                  <a:pt x="111127" y="0"/>
                </a:moveTo>
                <a:cubicBezTo>
                  <a:pt x="123402" y="0"/>
                  <a:pt x="133352" y="9950"/>
                  <a:pt x="133352" y="22225"/>
                </a:cubicBezTo>
                <a:cubicBezTo>
                  <a:pt x="133352" y="34500"/>
                  <a:pt x="123402" y="44450"/>
                  <a:pt x="111127" y="44450"/>
                </a:cubicBezTo>
                <a:lnTo>
                  <a:pt x="66677" y="44450"/>
                </a:lnTo>
                <a:cubicBezTo>
                  <a:pt x="54403" y="44450"/>
                  <a:pt x="44452" y="34500"/>
                  <a:pt x="44452" y="22225"/>
                </a:cubicBezTo>
                <a:cubicBezTo>
                  <a:pt x="44452" y="9950"/>
                  <a:pt x="54403" y="0"/>
                  <a:pt x="66677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60720" y="27412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订单总数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94960" y="2947035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892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04284" y="29822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15.7%</a:t>
            </a:r>
          </a:p>
        </p:txBody>
      </p:sp>
      <p:sp>
        <p:nvSpPr>
          <p:cNvPr id="42" name="Freeform 42"/>
          <p:cNvSpPr/>
          <p:nvPr/>
        </p:nvSpPr>
        <p:spPr>
          <a:xfrm>
            <a:off x="8572500" y="2476500"/>
            <a:ext cx="3143250" cy="1238250"/>
          </a:xfrm>
          <a:custGeom>
            <a:avLst/>
            <a:gdLst/>
            <a:ahLst/>
            <a:cxnLst/>
            <a:rect l="l" t="t" r="r" b="b"/>
            <a:pathLst>
              <a:path w="3143250" h="1238250">
                <a:moveTo>
                  <a:pt x="114300" y="0"/>
                </a:moveTo>
                <a:lnTo>
                  <a:pt x="3028950" y="0"/>
                </a:lnTo>
                <a:cubicBezTo>
                  <a:pt x="3092076" y="0"/>
                  <a:pt x="3143250" y="51174"/>
                  <a:pt x="3143250" y="114300"/>
                </a:cubicBezTo>
                <a:lnTo>
                  <a:pt x="3143250" y="1123950"/>
                </a:lnTo>
                <a:cubicBezTo>
                  <a:pt x="3143250" y="1187076"/>
                  <a:pt x="3092076" y="1238250"/>
                  <a:pt x="302895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9D5FF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8773534" y="2659085"/>
            <a:ext cx="245509" cy="233989"/>
          </a:xfrm>
          <a:custGeom>
            <a:avLst/>
            <a:gdLst/>
            <a:ahLst/>
            <a:cxnLst/>
            <a:rect l="l" t="t" r="r" b="b"/>
            <a:pathLst>
              <a:path w="245509" h="233989">
                <a:moveTo>
                  <a:pt x="81066" y="70431"/>
                </a:moveTo>
                <a:lnTo>
                  <a:pt x="10168" y="80710"/>
                </a:lnTo>
                <a:lnTo>
                  <a:pt x="8913" y="80965"/>
                </a:lnTo>
                <a:cubicBezTo>
                  <a:pt x="5042" y="81993"/>
                  <a:pt x="2024" y="85023"/>
                  <a:pt x="1012" y="88897"/>
                </a:cubicBezTo>
                <a:cubicBezTo>
                  <a:pt x="0" y="92771"/>
                  <a:pt x="1150" y="96890"/>
                  <a:pt x="4023" y="99679"/>
                </a:cubicBezTo>
                <a:lnTo>
                  <a:pt x="55385" y="149674"/>
                </a:lnTo>
                <a:lnTo>
                  <a:pt x="43272" y="220294"/>
                </a:lnTo>
                <a:lnTo>
                  <a:pt x="43128" y="221516"/>
                </a:lnTo>
                <a:cubicBezTo>
                  <a:pt x="42891" y="225519"/>
                  <a:pt x="44829" y="229339"/>
                  <a:pt x="48199" y="231512"/>
                </a:cubicBezTo>
                <a:cubicBezTo>
                  <a:pt x="51569" y="233685"/>
                  <a:pt x="55848" y="233874"/>
                  <a:pt x="59397" y="232006"/>
                </a:cubicBezTo>
                <a:lnTo>
                  <a:pt x="122805" y="198669"/>
                </a:lnTo>
                <a:lnTo>
                  <a:pt x="186068" y="232006"/>
                </a:lnTo>
                <a:lnTo>
                  <a:pt x="187179" y="232518"/>
                </a:lnTo>
                <a:cubicBezTo>
                  <a:pt x="190914" y="233989"/>
                  <a:pt x="195151" y="233331"/>
                  <a:pt x="198265" y="230798"/>
                </a:cubicBezTo>
                <a:cubicBezTo>
                  <a:pt x="201379" y="228265"/>
                  <a:pt x="202884" y="224250"/>
                  <a:pt x="202203" y="220294"/>
                </a:cubicBezTo>
                <a:lnTo>
                  <a:pt x="190080" y="149674"/>
                </a:lnTo>
                <a:lnTo>
                  <a:pt x="241464" y="99668"/>
                </a:lnTo>
                <a:lnTo>
                  <a:pt x="242331" y="98723"/>
                </a:lnTo>
                <a:cubicBezTo>
                  <a:pt x="244851" y="95619"/>
                  <a:pt x="245509" y="91399"/>
                  <a:pt x="244054" y="87674"/>
                </a:cubicBezTo>
                <a:cubicBezTo>
                  <a:pt x="242599" y="83950"/>
                  <a:pt x="239254" y="81294"/>
                  <a:pt x="235296" y="80721"/>
                </a:cubicBezTo>
                <a:lnTo>
                  <a:pt x="164399" y="70431"/>
                </a:lnTo>
                <a:lnTo>
                  <a:pt x="132706" y="6200"/>
                </a:lnTo>
                <a:cubicBezTo>
                  <a:pt x="130835" y="2404"/>
                  <a:pt x="126970" y="0"/>
                  <a:pt x="122738" y="0"/>
                </a:cubicBezTo>
                <a:cubicBezTo>
                  <a:pt x="118506" y="0"/>
                  <a:pt x="114641" y="2404"/>
                  <a:pt x="112770" y="6200"/>
                </a:cubicBezTo>
                <a:lnTo>
                  <a:pt x="81066" y="70431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094470" y="27412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评价总数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28710" y="2947035"/>
            <a:ext cx="7517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654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84039" y="29822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6.2%</a:t>
            </a:r>
          </a:p>
        </p:txBody>
      </p:sp>
      <p:sp>
        <p:nvSpPr>
          <p:cNvPr id="47" name="Freeform 47"/>
          <p:cNvSpPr/>
          <p:nvPr/>
        </p:nvSpPr>
        <p:spPr>
          <a:xfrm>
            <a:off x="5238750" y="3905250"/>
            <a:ext cx="6477000" cy="1238250"/>
          </a:xfrm>
          <a:custGeom>
            <a:avLst/>
            <a:gdLst/>
            <a:ahLst/>
            <a:cxnLst/>
            <a:rect l="l" t="t" r="r" b="b"/>
            <a:pathLst>
              <a:path w="6477000" h="1238250">
                <a:moveTo>
                  <a:pt x="114300" y="0"/>
                </a:moveTo>
                <a:lnTo>
                  <a:pt x="6362700" y="0"/>
                </a:lnTo>
                <a:cubicBezTo>
                  <a:pt x="6425826" y="0"/>
                  <a:pt x="6477000" y="51174"/>
                  <a:pt x="6477000" y="114300"/>
                </a:cubicBezTo>
                <a:lnTo>
                  <a:pt x="6477000" y="1123950"/>
                </a:lnTo>
                <a:cubicBezTo>
                  <a:pt x="6477000" y="1187076"/>
                  <a:pt x="6425826" y="1238250"/>
                  <a:pt x="6362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9FAFB"/>
          </a:solidFill>
          <a:ln w="9525">
            <a:solidFill>
              <a:srgbClr val="E5E7E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415915" y="4030028"/>
            <a:ext cx="9203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7日数据趋势</a:t>
            </a:r>
          </a:p>
        </p:txBody>
      </p:sp>
      <p:sp>
        <p:nvSpPr>
          <p:cNvPr id="49" name="Polyline 49"/>
          <p:cNvSpPr/>
          <p:nvPr/>
        </p:nvSpPr>
        <p:spPr>
          <a:xfrm>
            <a:off x="5715000" y="4333875"/>
            <a:ext cx="3429000" cy="523875"/>
          </a:xfrm>
          <a:custGeom>
            <a:avLst/>
            <a:gdLst/>
            <a:ahLst/>
            <a:cxnLst/>
            <a:rect l="l" t="t" r="r" b="b"/>
            <a:pathLst>
              <a:path w="3429000" h="523875">
                <a:moveTo>
                  <a:pt x="0" y="523875"/>
                </a:moveTo>
                <a:lnTo>
                  <a:pt x="571500" y="428625"/>
                </a:lnTo>
                <a:lnTo>
                  <a:pt x="1143000" y="333375"/>
                </a:lnTo>
                <a:lnTo>
                  <a:pt x="1714500" y="381000"/>
                </a:lnTo>
                <a:lnTo>
                  <a:pt x="2286000" y="219075"/>
                </a:lnTo>
                <a:lnTo>
                  <a:pt x="2857500" y="123825"/>
                </a:lnTo>
                <a:lnTo>
                  <a:pt x="3429000" y="0"/>
                </a:lnTo>
              </a:path>
            </a:pathLst>
          </a:custGeom>
          <a:noFill/>
          <a:ln w="19050">
            <a:solidFill>
              <a:srgbClr val="3B82F6"/>
            </a:solidFill>
          </a:ln>
        </p:spPr>
      </p:sp>
      <p:sp>
        <p:nvSpPr>
          <p:cNvPr id="50" name="Polyline 50"/>
          <p:cNvSpPr/>
          <p:nvPr/>
        </p:nvSpPr>
        <p:spPr>
          <a:xfrm>
            <a:off x="5715000" y="4619625"/>
            <a:ext cx="3429000" cy="333375"/>
          </a:xfrm>
          <a:custGeom>
            <a:avLst/>
            <a:gdLst/>
            <a:ahLst/>
            <a:cxnLst/>
            <a:rect l="l" t="t" r="r" b="b"/>
            <a:pathLst>
              <a:path w="3429000" h="333375">
                <a:moveTo>
                  <a:pt x="0" y="333375"/>
                </a:moveTo>
                <a:lnTo>
                  <a:pt x="571500" y="285750"/>
                </a:lnTo>
                <a:lnTo>
                  <a:pt x="1143000" y="219075"/>
                </a:lnTo>
                <a:lnTo>
                  <a:pt x="1714500" y="238125"/>
                </a:lnTo>
                <a:lnTo>
                  <a:pt x="2286000" y="142875"/>
                </a:lnTo>
                <a:lnTo>
                  <a:pt x="2857500" y="66675"/>
                </a:lnTo>
                <a:lnTo>
                  <a:pt x="3429000" y="0"/>
                </a:ln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51" name="Polyline 51"/>
          <p:cNvSpPr/>
          <p:nvPr/>
        </p:nvSpPr>
        <p:spPr>
          <a:xfrm>
            <a:off x="5715000" y="4876800"/>
            <a:ext cx="3429000" cy="171450"/>
          </a:xfrm>
          <a:custGeom>
            <a:avLst/>
            <a:gdLst/>
            <a:ahLst/>
            <a:cxnLst/>
            <a:rect l="l" t="t" r="r" b="b"/>
            <a:pathLst>
              <a:path w="3429000" h="171450">
                <a:moveTo>
                  <a:pt x="0" y="171450"/>
                </a:moveTo>
                <a:lnTo>
                  <a:pt x="571500" y="152400"/>
                </a:lnTo>
                <a:lnTo>
                  <a:pt x="1143000" y="123825"/>
                </a:lnTo>
                <a:lnTo>
                  <a:pt x="1714500" y="133350"/>
                </a:lnTo>
                <a:lnTo>
                  <a:pt x="2286000" y="95250"/>
                </a:lnTo>
                <a:lnTo>
                  <a:pt x="2857500" y="57150"/>
                </a:lnTo>
                <a:lnTo>
                  <a:pt x="3429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14522" y="4292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新增用户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14522" y="45305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新增商品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14522" y="47686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新增订单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98676" y="5138738"/>
            <a:ext cx="2326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727984" y="5138738"/>
            <a:ext cx="2600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870984" y="5138738"/>
            <a:ext cx="2600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013984" y="5138738"/>
            <a:ext cx="2600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Day7</a:t>
            </a:r>
          </a:p>
        </p:txBody>
      </p:sp>
      <p:sp>
        <p:nvSpPr>
          <p:cNvPr id="59" name="Freeform 59"/>
          <p:cNvSpPr/>
          <p:nvPr/>
        </p:nvSpPr>
        <p:spPr>
          <a:xfrm>
            <a:off x="5238750" y="5334000"/>
            <a:ext cx="6477000" cy="762000"/>
          </a:xfrm>
          <a:custGeom>
            <a:avLst/>
            <a:gdLst/>
            <a:ahLst/>
            <a:cxnLst/>
            <a:rect l="l" t="t" r="r" b="b"/>
            <a:pathLst>
              <a:path w="6477000" h="762000">
                <a:moveTo>
                  <a:pt x="76200" y="0"/>
                </a:moveTo>
                <a:lnTo>
                  <a:pt x="6400800" y="0"/>
                </a:lnTo>
                <a:cubicBezTo>
                  <a:pt x="6442884" y="0"/>
                  <a:pt x="6477000" y="34116"/>
                  <a:pt x="6477000" y="76200"/>
                </a:cubicBezTo>
                <a:lnTo>
                  <a:pt x="6477000" y="685800"/>
                </a:lnTo>
                <a:cubicBezTo>
                  <a:pt x="6477000" y="727884"/>
                  <a:pt x="6442884" y="762000"/>
                  <a:pt x="6400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4288">
            <a:solidFill>
              <a:srgbClr val="93C5FD"/>
            </a:solidFill>
            <a:custDash>
              <a:ds d="400000" sp="266666"/>
            </a:custDash>
          </a:ln>
        </p:spPr>
      </p:sp>
      <p:sp>
        <p:nvSpPr>
          <p:cNvPr id="60" name="TextBox 60"/>
          <p:cNvSpPr txBox="1"/>
          <p:nvPr/>
        </p:nvSpPr>
        <p:spPr>
          <a:xfrm>
            <a:off x="7042928" y="5665470"/>
            <a:ext cx="28686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待插入: admin_dashboard.png (管理后台截图)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完整交易闭环流程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25569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FROM BROWSE TO REVIEW — 7 STEPS</a:t>
            </a:r>
          </a:p>
        </p:txBody>
      </p:sp>
      <p:sp>
        <p:nvSpPr>
          <p:cNvPr id="6" name="Line 6"/>
          <p:cNvSpPr/>
          <p:nvPr/>
        </p:nvSpPr>
        <p:spPr>
          <a:xfrm>
            <a:off x="6096000" y="104775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10B981"/>
                </a:gs>
              </a:gsLst>
              <a:lin ang="5400000" scaled="1"/>
            </a:gradFill>
          </a:ln>
        </p:spPr>
      </p:sp>
      <p:sp>
        <p:nvSpPr>
          <p:cNvPr id="7" name="Ellipse 7"/>
          <p:cNvSpPr/>
          <p:nvPr/>
        </p:nvSpPr>
        <p:spPr>
          <a:xfrm>
            <a:off x="5962650" y="1104900"/>
            <a:ext cx="266700" cy="2667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63867" y="1188720"/>
            <a:ext cx="642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047750"/>
            <a:ext cx="4572000" cy="476250"/>
          </a:xfrm>
          <a:custGeom>
            <a:avLst/>
            <a:gdLst/>
            <a:ahLst/>
            <a:cxnLst/>
            <a:rect l="l" t="t" r="r" b="b"/>
            <a:pathLst>
              <a:path w="4572000" h="47625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00050"/>
                </a:lnTo>
                <a:cubicBezTo>
                  <a:pt x="4572000" y="442134"/>
                  <a:pt x="4537884" y="476250"/>
                  <a:pt x="4495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184910"/>
            <a:ext cx="15210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买家点击"我想要"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1350645"/>
            <a:ext cx="2263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跳转至IM聊天界面，自动发送商品卡片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6070" y="12172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0</a:t>
            </a:r>
          </a:p>
        </p:txBody>
      </p:sp>
      <p:sp>
        <p:nvSpPr>
          <p:cNvPr id="13" name="Ellipse 13"/>
          <p:cNvSpPr/>
          <p:nvPr/>
        </p:nvSpPr>
        <p:spPr>
          <a:xfrm>
            <a:off x="5962650" y="1866900"/>
            <a:ext cx="266700" cy="2667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046615" y="1950720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Freeform 15"/>
          <p:cNvSpPr/>
          <p:nvPr/>
        </p:nvSpPr>
        <p:spPr>
          <a:xfrm>
            <a:off x="6667500" y="1809750"/>
            <a:ext cx="4572000" cy="476250"/>
          </a:xfrm>
          <a:custGeom>
            <a:avLst/>
            <a:gdLst/>
            <a:ahLst/>
            <a:cxnLst/>
            <a:rect l="l" t="t" r="r" b="b"/>
            <a:pathLst>
              <a:path w="4572000" h="47625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00050"/>
                </a:lnTo>
                <a:cubicBezTo>
                  <a:pt x="4572000" y="442134"/>
                  <a:pt x="4537884" y="476250"/>
                  <a:pt x="4495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842760" y="1946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双方沟通协商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46570" y="21126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最终价格确认，面交时间地点协定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0229" y="1979295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0-1</a:t>
            </a:r>
          </a:p>
        </p:txBody>
      </p:sp>
      <p:sp>
        <p:nvSpPr>
          <p:cNvPr id="19" name="Ellipse 19"/>
          <p:cNvSpPr/>
          <p:nvPr/>
        </p:nvSpPr>
        <p:spPr>
          <a:xfrm>
            <a:off x="5943600" y="2609850"/>
            <a:ext cx="304800" cy="304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46615" y="272224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533650"/>
            <a:ext cx="4572000" cy="533400"/>
          </a:xfrm>
          <a:custGeom>
            <a:avLst/>
            <a:gdLst/>
            <a:ahLst/>
            <a:cxnLst/>
            <a:rect l="l" t="t" r="r" b="b"/>
            <a:pathLst>
              <a:path w="4572000" h="5334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57200"/>
                </a:lnTo>
                <a:cubicBezTo>
                  <a:pt x="4572000" y="499284"/>
                  <a:pt x="4537884" y="533400"/>
                  <a:pt x="4495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 w="14288">
            <a:solidFill>
              <a:srgbClr val="FCD34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6760" y="26708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创建订单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570" y="2874645"/>
            <a:ext cx="1961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Redis分布式锁 · 72小时计时开始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6070" y="27031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1</a:t>
            </a:r>
          </a:p>
        </p:txBody>
      </p:sp>
      <p:sp>
        <p:nvSpPr>
          <p:cNvPr id="25" name="Ellipse 25"/>
          <p:cNvSpPr/>
          <p:nvPr/>
        </p:nvSpPr>
        <p:spPr>
          <a:xfrm>
            <a:off x="5962650" y="3390900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046615" y="3474720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3333750"/>
            <a:ext cx="4572000" cy="476250"/>
          </a:xfrm>
          <a:custGeom>
            <a:avLst/>
            <a:gdLst/>
            <a:ahLst/>
            <a:cxnLst/>
            <a:rect l="l" t="t" r="r" b="b"/>
            <a:pathLst>
              <a:path w="4572000" h="47625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00050"/>
                </a:lnTo>
                <a:cubicBezTo>
                  <a:pt x="4572000" y="442134"/>
                  <a:pt x="4537884" y="476250"/>
                  <a:pt x="4495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42760" y="3470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卖家确认接单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46570" y="363664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状态变更：待接单→待面交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4819" y="35032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1</a:t>
            </a:r>
          </a:p>
        </p:txBody>
      </p:sp>
      <p:sp>
        <p:nvSpPr>
          <p:cNvPr id="31" name="Ellipse 31"/>
          <p:cNvSpPr/>
          <p:nvPr/>
        </p:nvSpPr>
        <p:spPr>
          <a:xfrm>
            <a:off x="5943600" y="4133850"/>
            <a:ext cx="304800" cy="304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046615" y="4246245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057650"/>
            <a:ext cx="4572000" cy="533400"/>
          </a:xfrm>
          <a:custGeom>
            <a:avLst/>
            <a:gdLst/>
            <a:ahLst/>
            <a:cxnLst/>
            <a:rect l="l" t="t" r="r" b="b"/>
            <a:pathLst>
              <a:path w="4572000" h="5334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57200"/>
                </a:lnTo>
                <a:cubicBezTo>
                  <a:pt x="4572000" y="499284"/>
                  <a:pt x="4537884" y="533400"/>
                  <a:pt x="4495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 w="14288">
            <a:solidFill>
              <a:srgbClr val="FCD34D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46760" y="41948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双向确认面交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0570" y="4398645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卖家确认+买家确认→自动完成，核心创新点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6070" y="42271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2</a:t>
            </a:r>
          </a:p>
        </p:txBody>
      </p:sp>
      <p:sp>
        <p:nvSpPr>
          <p:cNvPr id="37" name="Ellipse 37"/>
          <p:cNvSpPr/>
          <p:nvPr/>
        </p:nvSpPr>
        <p:spPr>
          <a:xfrm>
            <a:off x="5962650" y="4914900"/>
            <a:ext cx="266700" cy="2667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046615" y="4998720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39" name="Freeform 39"/>
          <p:cNvSpPr/>
          <p:nvPr/>
        </p:nvSpPr>
        <p:spPr>
          <a:xfrm>
            <a:off x="6667500" y="4857750"/>
            <a:ext cx="4572000" cy="476250"/>
          </a:xfrm>
          <a:custGeom>
            <a:avLst/>
            <a:gdLst/>
            <a:ahLst/>
            <a:cxnLst/>
            <a:rect l="l" t="t" r="r" b="b"/>
            <a:pathLst>
              <a:path w="4572000" h="47625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00050"/>
                </a:lnTo>
                <a:cubicBezTo>
                  <a:pt x="4572000" y="442134"/>
                  <a:pt x="4537884" y="476250"/>
                  <a:pt x="4495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3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42760" y="49949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交易后互评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6570" y="5160645"/>
            <a:ext cx="24743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7天窗口，三维度评分（描述/态度/体验）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7368" y="5027295"/>
            <a:ext cx="496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2-9</a:t>
            </a:r>
          </a:p>
        </p:txBody>
      </p:sp>
      <p:sp>
        <p:nvSpPr>
          <p:cNvPr id="43" name="Ellipse 43"/>
          <p:cNvSpPr/>
          <p:nvPr/>
        </p:nvSpPr>
        <p:spPr>
          <a:xfrm>
            <a:off x="5962650" y="5676900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46615" y="5760720"/>
            <a:ext cx="987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5619750"/>
            <a:ext cx="4572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304800"/>
                </a:lnTo>
                <a:cubicBezTo>
                  <a:pt x="4572000" y="346884"/>
                  <a:pt x="4537884" y="381000"/>
                  <a:pt x="4495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46760" y="5728335"/>
            <a:ext cx="22663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流程结束 — 用户信誉分更新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56070" y="5760720"/>
            <a:ext cx="6537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Day 9 完成</a:t>
            </a:r>
          </a:p>
        </p:txBody>
      </p:sp>
      <p:sp>
        <p:nvSpPr>
          <p:cNvPr id="48" name="Freeform 48"/>
          <p:cNvSpPr/>
          <p:nvPr/>
        </p:nvSpPr>
        <p:spPr>
          <a:xfrm>
            <a:off x="571500" y="628650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381768" y="6420802"/>
            <a:ext cx="104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平均周期</a:t>
            </a:r>
            <a:r>
              <a:rPr lang="zh-CN" sz="10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3.5天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17777" y="6420802"/>
            <a:ext cx="9084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完成率</a:t>
            </a:r>
            <a:r>
              <a:rPr lang="zh-CN" sz="10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87.3%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13446" y="64208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好评率</a:t>
            </a:r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92.1%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107924" y="6420802"/>
            <a:ext cx="12151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重复交易率</a:t>
            </a:r>
            <a:r>
              <a:rPr lang="zh-CN" sz="10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34.6%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490076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自建WebSocket即时通讯方案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25493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REAL-TIME COMMUNICATION SYSTEM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219200"/>
                </a:lnTo>
                <a:cubicBezTo>
                  <a:pt x="11049000" y="1282326"/>
                  <a:pt x="10997826" y="1333500"/>
                  <a:pt x="10934700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15403" y="121729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客户端</a:t>
            </a:r>
          </a:p>
        </p:txBody>
      </p:sp>
      <p:sp>
        <p:nvSpPr>
          <p:cNvPr id="8" name="Freeform 8"/>
          <p:cNvSpPr/>
          <p:nvPr/>
        </p:nvSpPr>
        <p:spPr>
          <a:xfrm>
            <a:off x="1047750" y="1409700"/>
            <a:ext cx="952500" cy="571500"/>
          </a:xfrm>
          <a:custGeom>
            <a:avLst/>
            <a:gdLst/>
            <a:ahLst/>
            <a:cxnLst/>
            <a:rect l="l" t="t" r="r" b="b"/>
            <a:pathLst>
              <a:path w="952500" h="571500">
                <a:moveTo>
                  <a:pt x="76200" y="0"/>
                </a:moveTo>
                <a:lnTo>
                  <a:pt x="876300" y="0"/>
                </a:lnTo>
                <a:cubicBezTo>
                  <a:pt x="918384" y="0"/>
                  <a:pt x="952500" y="34116"/>
                  <a:pt x="952500" y="76200"/>
                </a:cubicBezTo>
                <a:lnTo>
                  <a:pt x="952500" y="495300"/>
                </a:lnTo>
                <a:cubicBezTo>
                  <a:pt x="952500" y="537384"/>
                  <a:pt x="918384" y="571500"/>
                  <a:pt x="876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6607" y="1628299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WebSocket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4835" y="1796891"/>
            <a:ext cx="3583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Client</a:t>
            </a:r>
          </a:p>
        </p:txBody>
      </p:sp>
      <p:sp>
        <p:nvSpPr>
          <p:cNvPr id="11" name="Line 11"/>
          <p:cNvSpPr/>
          <p:nvPr/>
        </p:nvSpPr>
        <p:spPr>
          <a:xfrm>
            <a:off x="2095500" y="1695450"/>
            <a:ext cx="1238250" cy="1"/>
          </a:xfrm>
          <a:prstGeom prst="line">
            <a:avLst/>
          </a:prstGeom>
          <a:noFill/>
          <a:ln w="19050">
            <a:solidFill>
              <a:srgbClr val="60A5FA"/>
            </a:solidFill>
            <a:tailEnd type="triangle" w="lg" len="lg"/>
          </a:ln>
        </p:spPr>
      </p:sp>
      <p:sp>
        <p:nvSpPr>
          <p:cNvPr id="12" name="TextBox 12"/>
          <p:cNvSpPr txBox="1"/>
          <p:nvPr/>
        </p:nvSpPr>
        <p:spPr>
          <a:xfrm>
            <a:off x="2321719" y="1538288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0A5FA"/>
                </a:solidFill>
                <a:latin typeface="Consolas"/>
                <a:ea typeface="Microsoft YaHei"/>
                <a:cs typeface="Consolas"/>
              </a:rPr>
              <a:t>ws://host/ws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7152" y="121729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服务端</a:t>
            </a:r>
          </a:p>
        </p:txBody>
      </p:sp>
      <p:sp>
        <p:nvSpPr>
          <p:cNvPr id="14" name="Freeform 14"/>
          <p:cNvSpPr/>
          <p:nvPr/>
        </p:nvSpPr>
        <p:spPr>
          <a:xfrm>
            <a:off x="3429000" y="1409700"/>
            <a:ext cx="1333500" cy="571500"/>
          </a:xfrm>
          <a:custGeom>
            <a:avLst/>
            <a:gdLst/>
            <a:ahLst/>
            <a:cxnLst/>
            <a:rect l="l" t="t" r="r" b="b"/>
            <a:pathLst>
              <a:path w="1333500" h="571500">
                <a:moveTo>
                  <a:pt x="76200" y="0"/>
                </a:moveTo>
                <a:lnTo>
                  <a:pt x="1257300" y="0"/>
                </a:lnTo>
                <a:cubicBezTo>
                  <a:pt x="1299384" y="0"/>
                  <a:pt x="1333500" y="34116"/>
                  <a:pt x="1333500" y="76200"/>
                </a:cubicBezTo>
                <a:lnTo>
                  <a:pt x="1333500" y="495300"/>
                </a:lnTo>
                <a:cubicBezTo>
                  <a:pt x="1333500" y="537384"/>
                  <a:pt x="1299384" y="571500"/>
                  <a:pt x="1257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98357" y="1590199"/>
            <a:ext cx="7947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WebSocket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86462" y="1758791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1FAE5"/>
                </a:solidFill>
                <a:latin typeface="Arial"/>
                <a:ea typeface="Microsoft YaHei"/>
                <a:cs typeface="Arial"/>
              </a:rPr>
              <a:t>Server</a:t>
            </a:r>
          </a:p>
        </p:txBody>
      </p:sp>
      <p:sp>
        <p:nvSpPr>
          <p:cNvPr id="17" name="Line 17"/>
          <p:cNvSpPr/>
          <p:nvPr/>
        </p:nvSpPr>
        <p:spPr>
          <a:xfrm>
            <a:off x="4857750" y="16954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rgbClr val="60A5FA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6000750" y="1476375"/>
            <a:ext cx="952500" cy="438150"/>
          </a:xfrm>
          <a:custGeom>
            <a:avLst/>
            <a:gdLst/>
            <a:ahLst/>
            <a:cxnLst/>
            <a:rect l="l" t="t" r="r" b="b"/>
            <a:pathLst>
              <a:path w="952500" h="438150">
                <a:moveTo>
                  <a:pt x="76200" y="0"/>
                </a:moveTo>
                <a:lnTo>
                  <a:pt x="876300" y="0"/>
                </a:lnTo>
                <a:cubicBezTo>
                  <a:pt x="918384" y="0"/>
                  <a:pt x="952500" y="34116"/>
                  <a:pt x="952500" y="76200"/>
                </a:cubicBezTo>
                <a:lnTo>
                  <a:pt x="952500" y="361950"/>
                </a:lnTo>
                <a:cubicBezTo>
                  <a:pt x="952500" y="404034"/>
                  <a:pt x="918384" y="438150"/>
                  <a:pt x="87630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240339" y="16282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分发器</a:t>
            </a:r>
          </a:p>
        </p:txBody>
      </p:sp>
      <p:sp>
        <p:nvSpPr>
          <p:cNvPr id="20" name="Line 20"/>
          <p:cNvSpPr/>
          <p:nvPr/>
        </p:nvSpPr>
        <p:spPr>
          <a:xfrm>
            <a:off x="7048500" y="1409700"/>
            <a:ext cx="857250" cy="161925"/>
          </a:xfrm>
          <a:custGeom>
            <a:avLst/>
            <a:gdLst/>
            <a:ahLst/>
            <a:cxnLst/>
            <a:rect l="l" t="t" r="r" b="b"/>
            <a:pathLst>
              <a:path w="857250" h="161925">
                <a:moveTo>
                  <a:pt x="0" y="161925"/>
                </a:moveTo>
                <a:lnTo>
                  <a:pt x="857250" y="0"/>
                </a:lnTo>
              </a:path>
            </a:pathLst>
          </a:custGeom>
          <a:noFill/>
          <a:ln w="14288">
            <a:solidFill>
              <a:srgbClr val="60A5FA"/>
            </a:solidFill>
          </a:ln>
        </p:spPr>
      </p:sp>
      <p:sp>
        <p:nvSpPr>
          <p:cNvPr id="21" name="Line 21"/>
          <p:cNvSpPr/>
          <p:nvPr/>
        </p:nvSpPr>
        <p:spPr>
          <a:xfrm>
            <a:off x="7048500" y="169545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14288">
            <a:solidFill>
              <a:srgbClr val="60A5FA"/>
            </a:solidFill>
          </a:ln>
        </p:spPr>
      </p:sp>
      <p:sp>
        <p:nvSpPr>
          <p:cNvPr id="22" name="Line 22"/>
          <p:cNvSpPr/>
          <p:nvPr/>
        </p:nvSpPr>
        <p:spPr>
          <a:xfrm>
            <a:off x="7048500" y="1819275"/>
            <a:ext cx="857250" cy="161925"/>
          </a:xfrm>
          <a:custGeom>
            <a:avLst/>
            <a:gdLst/>
            <a:ahLst/>
            <a:cxnLst/>
            <a:rect l="l" t="t" r="r" b="b"/>
            <a:pathLst>
              <a:path w="857250" h="161925">
                <a:moveTo>
                  <a:pt x="0" y="0"/>
                </a:moveTo>
                <a:lnTo>
                  <a:pt x="857250" y="161925"/>
                </a:lnTo>
              </a:path>
            </a:pathLst>
          </a:custGeom>
          <a:noFill/>
          <a:ln w="14288">
            <a:solidFill>
              <a:srgbClr val="60A5FA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001000" y="1257300"/>
            <a:ext cx="1333500" cy="285750"/>
          </a:xfrm>
          <a:custGeom>
            <a:avLst/>
            <a:gdLst/>
            <a:ahLst/>
            <a:cxnLst/>
            <a:rect l="l" t="t" r="r" b="b"/>
            <a:pathLst>
              <a:path w="1333500" h="285750">
                <a:moveTo>
                  <a:pt x="57150" y="0"/>
                </a:moveTo>
                <a:lnTo>
                  <a:pt x="1276350" y="0"/>
                </a:lnTo>
                <a:cubicBezTo>
                  <a:pt x="1307913" y="0"/>
                  <a:pt x="1333500" y="25587"/>
                  <a:pt x="1333500" y="57150"/>
                </a:cubicBezTo>
                <a:lnTo>
                  <a:pt x="1333500" y="228600"/>
                </a:lnTo>
                <a:cubicBezTo>
                  <a:pt x="1333500" y="260163"/>
                  <a:pt x="1307913" y="285750"/>
                  <a:pt x="1276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334155"/>
          </a:solidFill>
          <a:ln w="9525">
            <a:solidFill>
              <a:srgbClr val="3B82F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307848" y="1358741"/>
            <a:ext cx="7198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3C5FD"/>
                </a:solidFill>
                <a:latin typeface="Consolas"/>
                <a:ea typeface="Microsoft YaHei"/>
                <a:cs typeface="Consolas"/>
              </a:rPr>
              <a:t>ChatHandler</a:t>
            </a:r>
          </a:p>
        </p:txBody>
      </p:sp>
      <p:sp>
        <p:nvSpPr>
          <p:cNvPr id="25" name="Freeform 25"/>
          <p:cNvSpPr/>
          <p:nvPr/>
        </p:nvSpPr>
        <p:spPr>
          <a:xfrm>
            <a:off x="8001000" y="1619250"/>
            <a:ext cx="1333500" cy="285750"/>
          </a:xfrm>
          <a:custGeom>
            <a:avLst/>
            <a:gdLst/>
            <a:ahLst/>
            <a:cxnLst/>
            <a:rect l="l" t="t" r="r" b="b"/>
            <a:pathLst>
              <a:path w="1333500" h="285750">
                <a:moveTo>
                  <a:pt x="57150" y="0"/>
                </a:moveTo>
                <a:lnTo>
                  <a:pt x="1276350" y="0"/>
                </a:lnTo>
                <a:cubicBezTo>
                  <a:pt x="1307913" y="0"/>
                  <a:pt x="1333500" y="25587"/>
                  <a:pt x="1333500" y="57150"/>
                </a:cubicBezTo>
                <a:lnTo>
                  <a:pt x="1333500" y="228600"/>
                </a:lnTo>
                <a:cubicBezTo>
                  <a:pt x="1333500" y="260163"/>
                  <a:pt x="1307913" y="285750"/>
                  <a:pt x="1276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334155"/>
          </a:solidFill>
          <a:ln w="9525">
            <a:solidFill>
              <a:srgbClr val="10B98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307848" y="1720691"/>
            <a:ext cx="7198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E7B7"/>
                </a:solidFill>
                <a:latin typeface="Consolas"/>
                <a:ea typeface="Microsoft YaHei"/>
                <a:cs typeface="Consolas"/>
              </a:rPr>
              <a:t>ReadHandler</a:t>
            </a:r>
          </a:p>
        </p:txBody>
      </p:sp>
      <p:sp>
        <p:nvSpPr>
          <p:cNvPr id="27" name="Freeform 27"/>
          <p:cNvSpPr/>
          <p:nvPr/>
        </p:nvSpPr>
        <p:spPr>
          <a:xfrm>
            <a:off x="8001000" y="1981200"/>
            <a:ext cx="1333500" cy="285750"/>
          </a:xfrm>
          <a:custGeom>
            <a:avLst/>
            <a:gdLst/>
            <a:ahLst/>
            <a:cxnLst/>
            <a:rect l="l" t="t" r="r" b="b"/>
            <a:pathLst>
              <a:path w="1333500" h="285750">
                <a:moveTo>
                  <a:pt x="57150" y="0"/>
                </a:moveTo>
                <a:lnTo>
                  <a:pt x="1276350" y="0"/>
                </a:lnTo>
                <a:cubicBezTo>
                  <a:pt x="1307913" y="0"/>
                  <a:pt x="1333500" y="25587"/>
                  <a:pt x="1333500" y="57150"/>
                </a:cubicBezTo>
                <a:lnTo>
                  <a:pt x="1333500" y="228600"/>
                </a:lnTo>
                <a:cubicBezTo>
                  <a:pt x="1333500" y="260163"/>
                  <a:pt x="1307913" y="285750"/>
                  <a:pt x="1276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334155"/>
          </a:solidFill>
          <a:ln w="9525">
            <a:solidFill>
              <a:srgbClr val="F59E0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322909" y="2082641"/>
            <a:ext cx="6896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CD34D"/>
                </a:solidFill>
                <a:latin typeface="Consolas"/>
                <a:ea typeface="Microsoft YaHei"/>
                <a:cs typeface="Consolas"/>
              </a:rPr>
              <a:t>PingHandler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257175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819750" y="2806700"/>
            <a:ext cx="265489" cy="254136"/>
          </a:xfrm>
          <a:custGeom>
            <a:avLst/>
            <a:gdLst/>
            <a:ahLst/>
            <a:cxnLst/>
            <a:rect l="l" t="t" r="r" b="b"/>
            <a:pathLst>
              <a:path w="265489" h="254136">
                <a:moveTo>
                  <a:pt x="132725" y="0"/>
                </a:moveTo>
                <a:lnTo>
                  <a:pt x="134224" y="89"/>
                </a:lnTo>
                <a:lnTo>
                  <a:pt x="134973" y="190"/>
                </a:lnTo>
                <a:lnTo>
                  <a:pt x="135748" y="356"/>
                </a:lnTo>
                <a:lnTo>
                  <a:pt x="137157" y="787"/>
                </a:lnTo>
                <a:cubicBezTo>
                  <a:pt x="138131" y="1146"/>
                  <a:pt x="139057" y="1624"/>
                  <a:pt x="139913" y="2210"/>
                </a:cubicBezTo>
                <a:lnTo>
                  <a:pt x="141234" y="3251"/>
                </a:lnTo>
                <a:lnTo>
                  <a:pt x="144473" y="6020"/>
                </a:lnTo>
                <a:cubicBezTo>
                  <a:pt x="170092" y="27299"/>
                  <a:pt x="202472" y="38726"/>
                  <a:pt x="235773" y="38240"/>
                </a:cubicBezTo>
                <a:lnTo>
                  <a:pt x="240116" y="38113"/>
                </a:lnTo>
                <a:cubicBezTo>
                  <a:pt x="245960" y="37846"/>
                  <a:pt x="251230" y="41606"/>
                  <a:pt x="252880" y="47219"/>
                </a:cubicBezTo>
                <a:cubicBezTo>
                  <a:pt x="265489" y="90110"/>
                  <a:pt x="260164" y="136281"/>
                  <a:pt x="238124" y="175177"/>
                </a:cubicBezTo>
                <a:cubicBezTo>
                  <a:pt x="216084" y="214073"/>
                  <a:pt x="179212" y="242368"/>
                  <a:pt x="135938" y="253594"/>
                </a:cubicBezTo>
                <a:cubicBezTo>
                  <a:pt x="133848" y="254136"/>
                  <a:pt x="131653" y="254136"/>
                  <a:pt x="129563" y="253594"/>
                </a:cubicBezTo>
                <a:cubicBezTo>
                  <a:pt x="86286" y="242371"/>
                  <a:pt x="49412" y="214077"/>
                  <a:pt x="27369" y="175181"/>
                </a:cubicBezTo>
                <a:cubicBezTo>
                  <a:pt x="5326" y="136285"/>
                  <a:pt x="0" y="90112"/>
                  <a:pt x="12608" y="47219"/>
                </a:cubicBezTo>
                <a:cubicBezTo>
                  <a:pt x="14258" y="41606"/>
                  <a:pt x="19528" y="37846"/>
                  <a:pt x="25372" y="38113"/>
                </a:cubicBezTo>
                <a:cubicBezTo>
                  <a:pt x="60138" y="39702"/>
                  <a:pt x="94245" y="28257"/>
                  <a:pt x="121016" y="6020"/>
                </a:cubicBezTo>
                <a:lnTo>
                  <a:pt x="124356" y="3162"/>
                </a:lnTo>
                <a:lnTo>
                  <a:pt x="125575" y="2210"/>
                </a:lnTo>
                <a:cubicBezTo>
                  <a:pt x="126432" y="1624"/>
                  <a:pt x="127357" y="1146"/>
                  <a:pt x="128331" y="787"/>
                </a:cubicBezTo>
                <a:lnTo>
                  <a:pt x="129753" y="356"/>
                </a:lnTo>
                <a:cubicBezTo>
                  <a:pt x="130251" y="235"/>
                  <a:pt x="130756" y="146"/>
                  <a:pt x="131265" y="89"/>
                </a:cubicBezTo>
                <a:lnTo>
                  <a:pt x="132725" y="0"/>
                </a:lnTo>
                <a:close/>
                <a:moveTo>
                  <a:pt x="132750" y="88900"/>
                </a:moveTo>
                <a:cubicBezTo>
                  <a:pt x="119458" y="88896"/>
                  <a:pt x="108411" y="99140"/>
                  <a:pt x="107414" y="112395"/>
                </a:cubicBezTo>
                <a:lnTo>
                  <a:pt x="107350" y="114300"/>
                </a:lnTo>
                <a:lnTo>
                  <a:pt x="107414" y="116205"/>
                </a:lnTo>
                <a:cubicBezTo>
                  <a:pt x="108050" y="124575"/>
                  <a:pt x="112779" y="132090"/>
                  <a:pt x="120050" y="136284"/>
                </a:cubicBezTo>
                <a:lnTo>
                  <a:pt x="120050" y="158750"/>
                </a:lnTo>
                <a:lnTo>
                  <a:pt x="120139" y="160236"/>
                </a:lnTo>
                <a:cubicBezTo>
                  <a:pt x="120933" y="166908"/>
                  <a:pt x="126787" y="171808"/>
                  <a:pt x="133495" y="171414"/>
                </a:cubicBezTo>
                <a:cubicBezTo>
                  <a:pt x="140203" y="171020"/>
                  <a:pt x="145443" y="165469"/>
                  <a:pt x="145450" y="158750"/>
                </a:cubicBezTo>
                <a:lnTo>
                  <a:pt x="145463" y="136296"/>
                </a:lnTo>
                <a:cubicBezTo>
                  <a:pt x="155421" y="130547"/>
                  <a:pt x="160274" y="118825"/>
                  <a:pt x="157295" y="107720"/>
                </a:cubicBezTo>
                <a:cubicBezTo>
                  <a:pt x="154316" y="96614"/>
                  <a:pt x="144249" y="88895"/>
                  <a:pt x="132750" y="8890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202055" y="28451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握手鉴权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6765" y="320135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ChatHandshakeInterceptor 验证JWT Token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7718" y="3457099"/>
            <a:ext cx="2174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URL参数token解析 → JwtUtil验证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7718" y="3685699"/>
            <a:ext cx="27445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userId存入Attributes → 验证失败返回403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7718" y="3990499"/>
            <a:ext cx="25737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封号用户拒绝连接 · Token过期自动断开</a:t>
            </a:r>
          </a:p>
        </p:txBody>
      </p:sp>
      <p:sp>
        <p:nvSpPr>
          <p:cNvPr id="36" name="Freeform 36"/>
          <p:cNvSpPr/>
          <p:nvPr/>
        </p:nvSpPr>
        <p:spPr>
          <a:xfrm>
            <a:off x="6286500" y="257175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6553199" y="2806700"/>
            <a:ext cx="228601" cy="254000"/>
            <a:chOff x="6553199" y="2806700"/>
            <a:chExt cx="228601" cy="254000"/>
          </a:xfrm>
        </p:grpSpPr>
        <p:sp>
          <p:nvSpPr>
            <p:cNvPr id="37" name="Freeform 37"/>
            <p:cNvSpPr/>
            <p:nvPr/>
          </p:nvSpPr>
          <p:spPr>
            <a:xfrm>
              <a:off x="6553200" y="2981084"/>
              <a:ext cx="228600" cy="79616"/>
            </a:xfrm>
            <a:custGeom>
              <a:avLst/>
              <a:gdLst/>
              <a:ahLst/>
              <a:cxnLst/>
              <a:rect l="l" t="t" r="r" b="b"/>
              <a:pathLst>
                <a:path w="228600" h="79616">
                  <a:moveTo>
                    <a:pt x="0" y="0"/>
                  </a:moveTo>
                  <a:cubicBezTo>
                    <a:pt x="24994" y="19139"/>
                    <a:pt x="66472" y="28816"/>
                    <a:pt x="114300" y="28816"/>
                  </a:cubicBezTo>
                  <a:cubicBezTo>
                    <a:pt x="162052" y="28816"/>
                    <a:pt x="203518" y="19164"/>
                    <a:pt x="228600" y="216"/>
                  </a:cubicBezTo>
                  <a:lnTo>
                    <a:pt x="228600" y="28816"/>
                  </a:lnTo>
                  <a:cubicBezTo>
                    <a:pt x="228600" y="59614"/>
                    <a:pt x="179133" y="78803"/>
                    <a:pt x="118199" y="79591"/>
                  </a:cubicBezTo>
                  <a:lnTo>
                    <a:pt x="114300" y="79616"/>
                  </a:lnTo>
                  <a:cubicBezTo>
                    <a:pt x="51587" y="79616"/>
                    <a:pt x="0" y="60274"/>
                    <a:pt x="0" y="28816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553200" y="2904884"/>
              <a:ext cx="228600" cy="79616"/>
            </a:xfrm>
            <a:custGeom>
              <a:avLst/>
              <a:gdLst/>
              <a:ahLst/>
              <a:cxnLst/>
              <a:rect l="l" t="t" r="r" b="b"/>
              <a:pathLst>
                <a:path w="228600" h="79616">
                  <a:moveTo>
                    <a:pt x="0" y="0"/>
                  </a:moveTo>
                  <a:cubicBezTo>
                    <a:pt x="24994" y="19139"/>
                    <a:pt x="66472" y="28816"/>
                    <a:pt x="114300" y="28816"/>
                  </a:cubicBezTo>
                  <a:cubicBezTo>
                    <a:pt x="162052" y="28816"/>
                    <a:pt x="203518" y="19164"/>
                    <a:pt x="228600" y="216"/>
                  </a:cubicBezTo>
                  <a:lnTo>
                    <a:pt x="228600" y="28816"/>
                  </a:lnTo>
                  <a:cubicBezTo>
                    <a:pt x="228600" y="60274"/>
                    <a:pt x="177013" y="79616"/>
                    <a:pt x="114300" y="79616"/>
                  </a:cubicBezTo>
                  <a:cubicBezTo>
                    <a:pt x="53365" y="79616"/>
                    <a:pt x="2921" y="61354"/>
                    <a:pt x="267" y="31420"/>
                  </a:cubicBezTo>
                  <a:lnTo>
                    <a:pt x="63" y="30137"/>
                  </a:lnTo>
                  <a:lnTo>
                    <a:pt x="0" y="28816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553199" y="2806700"/>
              <a:ext cx="228601" cy="101600"/>
            </a:xfrm>
            <a:custGeom>
              <a:avLst/>
              <a:gdLst/>
              <a:ahLst/>
              <a:cxnLst/>
              <a:rect l="l" t="t" r="r" b="b"/>
              <a:pathLst>
                <a:path w="228601" h="101600">
                  <a:moveTo>
                    <a:pt x="114301" y="0"/>
                  </a:moveTo>
                  <a:cubicBezTo>
                    <a:pt x="127522" y="0"/>
                    <a:pt x="140260" y="864"/>
                    <a:pt x="152109" y="2515"/>
                  </a:cubicBezTo>
                  <a:lnTo>
                    <a:pt x="158065" y="3416"/>
                  </a:lnTo>
                  <a:cubicBezTo>
                    <a:pt x="165177" y="4602"/>
                    <a:pt x="171891" y="6075"/>
                    <a:pt x="178207" y="7836"/>
                  </a:cubicBezTo>
                  <a:lnTo>
                    <a:pt x="183795" y="9500"/>
                  </a:lnTo>
                  <a:lnTo>
                    <a:pt x="184748" y="9804"/>
                  </a:lnTo>
                  <a:cubicBezTo>
                    <a:pt x="188204" y="10941"/>
                    <a:pt x="191614" y="12212"/>
                    <a:pt x="194971" y="13614"/>
                  </a:cubicBezTo>
                  <a:lnTo>
                    <a:pt x="197499" y="14707"/>
                  </a:lnTo>
                  <a:cubicBezTo>
                    <a:pt x="202028" y="16756"/>
                    <a:pt x="206122" y="18999"/>
                    <a:pt x="209780" y="21438"/>
                  </a:cubicBezTo>
                  <a:cubicBezTo>
                    <a:pt x="211177" y="22369"/>
                    <a:pt x="212502" y="23321"/>
                    <a:pt x="213755" y="24295"/>
                  </a:cubicBezTo>
                  <a:cubicBezTo>
                    <a:pt x="216929" y="26758"/>
                    <a:pt x="219783" y="29608"/>
                    <a:pt x="222251" y="32779"/>
                  </a:cubicBezTo>
                  <a:lnTo>
                    <a:pt x="223407" y="34404"/>
                  </a:lnTo>
                  <a:cubicBezTo>
                    <a:pt x="223999" y="35293"/>
                    <a:pt x="224545" y="36187"/>
                    <a:pt x="225045" y="37084"/>
                  </a:cubicBezTo>
                  <a:lnTo>
                    <a:pt x="225934" y="38849"/>
                  </a:lnTo>
                  <a:cubicBezTo>
                    <a:pt x="227314" y="41813"/>
                    <a:pt x="228161" y="44903"/>
                    <a:pt x="228474" y="48120"/>
                  </a:cubicBezTo>
                  <a:lnTo>
                    <a:pt x="228601" y="50800"/>
                  </a:lnTo>
                  <a:cubicBezTo>
                    <a:pt x="228601" y="82258"/>
                    <a:pt x="177014" y="101600"/>
                    <a:pt x="114301" y="101600"/>
                  </a:cubicBezTo>
                  <a:cubicBezTo>
                    <a:pt x="53366" y="101600"/>
                    <a:pt x="2922" y="83337"/>
                    <a:pt x="268" y="53403"/>
                  </a:cubicBezTo>
                  <a:cubicBezTo>
                    <a:pt x="89" y="52547"/>
                    <a:pt x="0" y="51675"/>
                    <a:pt x="1" y="50800"/>
                  </a:cubicBezTo>
                  <a:lnTo>
                    <a:pt x="64" y="49479"/>
                  </a:lnTo>
                  <a:lnTo>
                    <a:pt x="268" y="48209"/>
                  </a:lnTo>
                  <a:cubicBezTo>
                    <a:pt x="2871" y="18923"/>
                    <a:pt x="51195" y="800"/>
                    <a:pt x="110339" y="25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6917055" y="28451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消息持久化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01765" y="3201352"/>
            <a:ext cx="2142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chat_message表存储全部消息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02718" y="3457099"/>
            <a:ext cx="2972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session_key + sender/receiver + msg_type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02718" y="3685699"/>
            <a:ext cx="23529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分页每页20条 · 最近50条热数据缓存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02718" y="3990499"/>
            <a:ext cx="25879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当前: 12,345条约8.5MB · 支持无限回溯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5720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850325" y="4806950"/>
            <a:ext cx="204350" cy="258712"/>
          </a:xfrm>
          <a:custGeom>
            <a:avLst/>
            <a:gdLst/>
            <a:ahLst/>
            <a:cxnLst/>
            <a:rect l="l" t="t" r="r" b="b"/>
            <a:pathLst>
              <a:path w="204350" h="258712">
                <a:moveTo>
                  <a:pt x="114875" y="0"/>
                </a:moveTo>
                <a:lnTo>
                  <a:pt x="115104" y="13"/>
                </a:lnTo>
                <a:lnTo>
                  <a:pt x="115307" y="25"/>
                </a:lnTo>
                <a:lnTo>
                  <a:pt x="116361" y="89"/>
                </a:lnTo>
                <a:lnTo>
                  <a:pt x="116501" y="114"/>
                </a:lnTo>
                <a:lnTo>
                  <a:pt x="116640" y="114"/>
                </a:lnTo>
                <a:lnTo>
                  <a:pt x="117123" y="229"/>
                </a:lnTo>
                <a:lnTo>
                  <a:pt x="117783" y="330"/>
                </a:lnTo>
                <a:lnTo>
                  <a:pt x="117987" y="406"/>
                </a:lnTo>
                <a:lnTo>
                  <a:pt x="118126" y="419"/>
                </a:lnTo>
                <a:lnTo>
                  <a:pt x="118495" y="559"/>
                </a:lnTo>
                <a:lnTo>
                  <a:pt x="119155" y="737"/>
                </a:lnTo>
                <a:lnTo>
                  <a:pt x="119396" y="851"/>
                </a:lnTo>
                <a:lnTo>
                  <a:pt x="119587" y="902"/>
                </a:lnTo>
                <a:lnTo>
                  <a:pt x="119942" y="1079"/>
                </a:lnTo>
                <a:lnTo>
                  <a:pt x="120450" y="1295"/>
                </a:lnTo>
                <a:lnTo>
                  <a:pt x="120717" y="1448"/>
                </a:lnTo>
                <a:lnTo>
                  <a:pt x="120996" y="1575"/>
                </a:lnTo>
                <a:lnTo>
                  <a:pt x="121289" y="1765"/>
                </a:lnTo>
                <a:lnTo>
                  <a:pt x="121682" y="1981"/>
                </a:lnTo>
                <a:lnTo>
                  <a:pt x="122114" y="2286"/>
                </a:lnTo>
                <a:lnTo>
                  <a:pt x="122343" y="2426"/>
                </a:lnTo>
                <a:lnTo>
                  <a:pt x="122508" y="2578"/>
                </a:lnTo>
                <a:lnTo>
                  <a:pt x="122813" y="2794"/>
                </a:lnTo>
                <a:lnTo>
                  <a:pt x="123295" y="3226"/>
                </a:lnTo>
                <a:lnTo>
                  <a:pt x="123575" y="3442"/>
                </a:lnTo>
                <a:lnTo>
                  <a:pt x="123676" y="3569"/>
                </a:lnTo>
                <a:lnTo>
                  <a:pt x="123854" y="3721"/>
                </a:lnTo>
                <a:lnTo>
                  <a:pt x="124311" y="4242"/>
                </a:lnTo>
                <a:lnTo>
                  <a:pt x="124641" y="4585"/>
                </a:lnTo>
                <a:lnTo>
                  <a:pt x="124718" y="4699"/>
                </a:lnTo>
                <a:cubicBezTo>
                  <a:pt x="126242" y="6566"/>
                  <a:pt x="127207" y="8788"/>
                  <a:pt x="127486" y="11214"/>
                </a:cubicBezTo>
                <a:lnTo>
                  <a:pt x="127499" y="11366"/>
                </a:lnTo>
                <a:lnTo>
                  <a:pt x="127524" y="11887"/>
                </a:lnTo>
                <a:lnTo>
                  <a:pt x="127575" y="12700"/>
                </a:lnTo>
                <a:lnTo>
                  <a:pt x="127575" y="88900"/>
                </a:lnTo>
                <a:lnTo>
                  <a:pt x="191075" y="88900"/>
                </a:lnTo>
                <a:cubicBezTo>
                  <a:pt x="195605" y="88899"/>
                  <a:pt x="199793" y="91311"/>
                  <a:pt x="202065" y="95230"/>
                </a:cubicBezTo>
                <a:cubicBezTo>
                  <a:pt x="204337" y="99148"/>
                  <a:pt x="204350" y="103981"/>
                  <a:pt x="202099" y="107912"/>
                </a:cubicBezTo>
                <a:lnTo>
                  <a:pt x="201337" y="109068"/>
                </a:lnTo>
                <a:lnTo>
                  <a:pt x="99737" y="248768"/>
                </a:lnTo>
                <a:cubicBezTo>
                  <a:pt x="92523" y="258712"/>
                  <a:pt x="76775" y="253594"/>
                  <a:pt x="76775" y="241300"/>
                </a:cubicBezTo>
                <a:lnTo>
                  <a:pt x="76775" y="165100"/>
                </a:lnTo>
                <a:lnTo>
                  <a:pt x="13275" y="165100"/>
                </a:lnTo>
                <a:cubicBezTo>
                  <a:pt x="8745" y="165101"/>
                  <a:pt x="4557" y="162689"/>
                  <a:pt x="2285" y="158770"/>
                </a:cubicBezTo>
                <a:cubicBezTo>
                  <a:pt x="13" y="154852"/>
                  <a:pt x="0" y="150019"/>
                  <a:pt x="2251" y="146088"/>
                </a:cubicBezTo>
                <a:lnTo>
                  <a:pt x="3013" y="144932"/>
                </a:lnTo>
                <a:lnTo>
                  <a:pt x="104613" y="5232"/>
                </a:lnTo>
                <a:lnTo>
                  <a:pt x="104740" y="5067"/>
                </a:lnTo>
                <a:lnTo>
                  <a:pt x="104969" y="4762"/>
                </a:lnTo>
                <a:lnTo>
                  <a:pt x="105388" y="4280"/>
                </a:lnTo>
                <a:lnTo>
                  <a:pt x="105617" y="4000"/>
                </a:lnTo>
                <a:lnTo>
                  <a:pt x="105731" y="3899"/>
                </a:lnTo>
                <a:lnTo>
                  <a:pt x="105896" y="3721"/>
                </a:lnTo>
                <a:lnTo>
                  <a:pt x="106404" y="3264"/>
                </a:lnTo>
                <a:lnTo>
                  <a:pt x="106760" y="2934"/>
                </a:lnTo>
                <a:lnTo>
                  <a:pt x="106861" y="2857"/>
                </a:lnTo>
                <a:cubicBezTo>
                  <a:pt x="108350" y="1639"/>
                  <a:pt x="110095" y="775"/>
                  <a:pt x="111967" y="330"/>
                </a:cubicBezTo>
                <a:lnTo>
                  <a:pt x="112106" y="317"/>
                </a:lnTo>
                <a:lnTo>
                  <a:pt x="112449" y="254"/>
                </a:lnTo>
                <a:lnTo>
                  <a:pt x="113389" y="89"/>
                </a:lnTo>
                <a:lnTo>
                  <a:pt x="113529" y="76"/>
                </a:lnTo>
                <a:lnTo>
                  <a:pt x="114050" y="51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202055" y="48453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心跳保活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6765" y="5201602"/>
            <a:ext cx="18515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30秒PING/PONG · 60秒TTL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7718" y="5457349"/>
            <a:ext cx="23814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Redis Key: im:heartbeat:{userId}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7718" y="5685949"/>
            <a:ext cx="25452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WebSocketHeartbeatTask 每30秒扫描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7718" y="599074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超时强制断开 + 清理SessionManager</a:t>
            </a:r>
          </a:p>
        </p:txBody>
      </p:sp>
      <p:sp>
        <p:nvSpPr>
          <p:cNvPr id="53" name="Freeform 53"/>
          <p:cNvSpPr/>
          <p:nvPr/>
        </p:nvSpPr>
        <p:spPr>
          <a:xfrm>
            <a:off x="6286500" y="45720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grpSp>
        <p:nvGrpSpPr>
          <p:cNvPr id="56" name="Group 56"/>
          <p:cNvGrpSpPr/>
          <p:nvPr/>
        </p:nvGrpSpPr>
        <p:grpSpPr>
          <a:xfrm>
            <a:off x="6548285" y="4806950"/>
            <a:ext cx="237998" cy="254012"/>
            <a:chOff x="6548285" y="4806950"/>
            <a:chExt cx="237998" cy="254012"/>
          </a:xfrm>
        </p:grpSpPr>
        <p:sp>
          <p:nvSpPr>
            <p:cNvPr id="54" name="Freeform 54"/>
            <p:cNvSpPr/>
            <p:nvPr/>
          </p:nvSpPr>
          <p:spPr>
            <a:xfrm>
              <a:off x="6622644" y="5022850"/>
              <a:ext cx="90030" cy="38112"/>
            </a:xfrm>
            <a:custGeom>
              <a:avLst/>
              <a:gdLst/>
              <a:ahLst/>
              <a:cxnLst/>
              <a:rect l="l" t="t" r="r" b="b"/>
              <a:pathLst>
                <a:path w="90030" h="38112">
                  <a:moveTo>
                    <a:pt x="73241" y="0"/>
                  </a:moveTo>
                  <a:cubicBezTo>
                    <a:pt x="84226" y="0"/>
                    <a:pt x="90030" y="13005"/>
                    <a:pt x="82702" y="21184"/>
                  </a:cubicBezTo>
                  <a:cubicBezTo>
                    <a:pt x="73074" y="31958"/>
                    <a:pt x="59306" y="38112"/>
                    <a:pt x="44856" y="38100"/>
                  </a:cubicBezTo>
                  <a:cubicBezTo>
                    <a:pt x="30407" y="38112"/>
                    <a:pt x="16639" y="31958"/>
                    <a:pt x="7010" y="21184"/>
                  </a:cubicBezTo>
                  <a:cubicBezTo>
                    <a:pt x="0" y="13360"/>
                    <a:pt x="5004" y="1130"/>
                    <a:pt x="15062" y="89"/>
                  </a:cubicBezTo>
                  <a:lnTo>
                    <a:pt x="16459" y="13"/>
                  </a:lnTo>
                  <a:lnTo>
                    <a:pt x="73241" y="13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548285" y="4806950"/>
              <a:ext cx="237998" cy="203200"/>
            </a:xfrm>
            <a:custGeom>
              <a:avLst/>
              <a:gdLst/>
              <a:ahLst/>
              <a:cxnLst/>
              <a:rect l="l" t="t" r="r" b="b"/>
              <a:pathLst>
                <a:path w="237998" h="203200">
                  <a:moveTo>
                    <a:pt x="119215" y="0"/>
                  </a:moveTo>
                  <a:cubicBezTo>
                    <a:pt x="136461" y="0"/>
                    <a:pt x="151041" y="11468"/>
                    <a:pt x="155727" y="27191"/>
                  </a:cubicBezTo>
                  <a:lnTo>
                    <a:pt x="156312" y="29362"/>
                  </a:lnTo>
                  <a:lnTo>
                    <a:pt x="156413" y="29908"/>
                  </a:lnTo>
                  <a:cubicBezTo>
                    <a:pt x="184812" y="45930"/>
                    <a:pt x="203815" y="74589"/>
                    <a:pt x="207518" y="106985"/>
                  </a:cubicBezTo>
                  <a:lnTo>
                    <a:pt x="207874" y="110630"/>
                  </a:lnTo>
                  <a:lnTo>
                    <a:pt x="208115" y="114300"/>
                  </a:lnTo>
                  <a:lnTo>
                    <a:pt x="208115" y="151524"/>
                  </a:lnTo>
                  <a:lnTo>
                    <a:pt x="208382" y="153251"/>
                  </a:lnTo>
                  <a:cubicBezTo>
                    <a:pt x="210121" y="162609"/>
                    <a:pt x="215299" y="170976"/>
                    <a:pt x="222898" y="176708"/>
                  </a:cubicBezTo>
                  <a:lnTo>
                    <a:pt x="225019" y="178194"/>
                  </a:lnTo>
                  <a:lnTo>
                    <a:pt x="227076" y="179451"/>
                  </a:lnTo>
                  <a:cubicBezTo>
                    <a:pt x="237998" y="185636"/>
                    <a:pt x="234188" y="201879"/>
                    <a:pt x="222288" y="203124"/>
                  </a:cubicBezTo>
                  <a:lnTo>
                    <a:pt x="220815" y="203200"/>
                  </a:lnTo>
                  <a:lnTo>
                    <a:pt x="17615" y="203200"/>
                  </a:lnTo>
                  <a:cubicBezTo>
                    <a:pt x="4559" y="203200"/>
                    <a:pt x="0" y="185877"/>
                    <a:pt x="11354" y="179451"/>
                  </a:cubicBezTo>
                  <a:cubicBezTo>
                    <a:pt x="21149" y="173908"/>
                    <a:pt x="27993" y="164317"/>
                    <a:pt x="30048" y="153251"/>
                  </a:cubicBezTo>
                  <a:lnTo>
                    <a:pt x="30315" y="151435"/>
                  </a:lnTo>
                  <a:lnTo>
                    <a:pt x="30328" y="113716"/>
                  </a:lnTo>
                  <a:cubicBezTo>
                    <a:pt x="31900" y="80034"/>
                    <a:pt x="50080" y="49327"/>
                    <a:pt x="78854" y="31750"/>
                  </a:cubicBezTo>
                  <a:lnTo>
                    <a:pt x="82004" y="29896"/>
                  </a:lnTo>
                  <a:lnTo>
                    <a:pt x="82131" y="29350"/>
                  </a:lnTo>
                  <a:cubicBezTo>
                    <a:pt x="85811" y="13795"/>
                    <a:pt x="98800" y="2185"/>
                    <a:pt x="114668" y="267"/>
                  </a:cubicBezTo>
                  <a:lnTo>
                    <a:pt x="116980" y="51"/>
                  </a:lnTo>
                  <a:lnTo>
                    <a:pt x="119215" y="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6917055" y="48453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离线消息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01765" y="520160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接收方不在线 → 存储+站内通知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02718" y="5457349"/>
            <a:ext cx="20895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Redis未读数+1 · 上线后自动拉取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502718" y="568594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会话级 + 全局级未读管理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02718" y="599074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单会话最多缓存500条未读</a:t>
            </a:r>
          </a:p>
        </p:txBody>
      </p:sp>
      <p:sp>
        <p:nvSpPr>
          <p:cNvPr id="62" name="Freeform 62"/>
          <p:cNvSpPr/>
          <p:nvPr/>
        </p:nvSpPr>
        <p:spPr>
          <a:xfrm>
            <a:off x="571500" y="64770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228600"/>
                </a:lnTo>
                <a:cubicBezTo>
                  <a:pt x="5334000" y="260163"/>
                  <a:pt x="5308413" y="285750"/>
                  <a:pt x="52768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475569"/>
            </a:solidFill>
            <a:custDash>
              <a:ds d="600000" sp="400000"/>
            </a:custDash>
          </a:ln>
        </p:spPr>
      </p:sp>
      <p:sp>
        <p:nvSpPr>
          <p:cNvPr id="63" name="TextBox 63"/>
          <p:cNvSpPr txBox="1"/>
          <p:nvPr/>
        </p:nvSpPr>
        <p:spPr>
          <a:xfrm>
            <a:off x="2026122" y="6578441"/>
            <a:ext cx="2424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待插入: chat_interface.png (IM聊天界面)</a:t>
            </a:r>
          </a:p>
        </p:txBody>
      </p:sp>
      <p:sp>
        <p:nvSpPr>
          <p:cNvPr id="64" name="Freeform 64"/>
          <p:cNvSpPr/>
          <p:nvPr/>
        </p:nvSpPr>
        <p:spPr>
          <a:xfrm>
            <a:off x="6286500" y="6477000"/>
            <a:ext cx="5334000" cy="285750"/>
          </a:xfrm>
          <a:custGeom>
            <a:avLst/>
            <a:gdLst/>
            <a:ahLst/>
            <a:cxnLst/>
            <a:rect l="l" t="t" r="r" b="b"/>
            <a:pathLst>
              <a:path w="5334000" h="28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09550"/>
                </a:lnTo>
                <a:cubicBezTo>
                  <a:pt x="5334000" y="251634"/>
                  <a:pt x="5299884" y="285750"/>
                  <a:pt x="5257800" y="285750"/>
                </a:cubicBezTo>
                <a:lnTo>
                  <a:pt x="76200" y="285750"/>
                </a:lnTo>
                <a:cubicBezTo>
                  <a:pt x="34116" y="285750"/>
                  <a:pt x="0" y="251634"/>
                  <a:pt x="0" y="20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737080" y="6562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并发</a:t>
            </a:r>
            <a:r>
              <a:rPr lang="zh-CN" sz="975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500+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588681" y="6562249"/>
            <a:ext cx="7296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延迟</a:t>
            </a:r>
            <a:r>
              <a:rPr lang="zh-CN" sz="97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&lt;50ms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246221" y="6562249"/>
            <a:ext cx="843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成功率</a:t>
            </a:r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99.2%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数据库设计与核心表结构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22张表 · 286字段 · 45索引 · 125MB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5334000" cy="5238750"/>
          </a:xfrm>
          <a:custGeom>
            <a:avLst/>
            <a:gdLst/>
            <a:ahLst/>
            <a:cxnLst/>
            <a:rect l="l" t="t" r="r" b="b"/>
            <a:pathLst>
              <a:path w="5334000" h="5238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5124450"/>
                </a:lnTo>
                <a:cubicBezTo>
                  <a:pt x="5334000" y="5187576"/>
                  <a:pt x="5282826" y="5238750"/>
                  <a:pt x="5219700" y="5238750"/>
                </a:cubicBezTo>
                <a:lnTo>
                  <a:pt x="114300" y="5238750"/>
                </a:lnTo>
                <a:cubicBezTo>
                  <a:pt x="51174" y="5238750"/>
                  <a:pt x="0" y="5187576"/>
                  <a:pt x="0" y="512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46013" y="1203960"/>
            <a:ext cx="7849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ER关系图</a:t>
            </a:r>
          </a:p>
        </p:txBody>
      </p:sp>
      <p:sp>
        <p:nvSpPr>
          <p:cNvPr id="8" name="Freeform 8"/>
          <p:cNvSpPr/>
          <p:nvPr/>
        </p:nvSpPr>
        <p:spPr>
          <a:xfrm>
            <a:off x="1524000" y="1571625"/>
            <a:ext cx="1905000" cy="1047750"/>
          </a:xfrm>
          <a:custGeom>
            <a:avLst/>
            <a:gdLst/>
            <a:ahLst/>
            <a:cxnLst/>
            <a:rect l="l" t="t" r="r" b="b"/>
            <a:pathLst>
              <a:path w="1905000" h="104775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971550"/>
                </a:lnTo>
                <a:cubicBezTo>
                  <a:pt x="1905000" y="1013634"/>
                  <a:pt x="1870884" y="1047750"/>
                  <a:pt x="1828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BEAFE"/>
          </a:solidFill>
          <a:ln w="14288">
            <a:solidFill>
              <a:srgbClr val="3B82F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012309" y="1696402"/>
            <a:ext cx="9283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user (用户)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4022" y="1930241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id (PK)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4022" y="2101691"/>
            <a:ext cx="888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open_id, phone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4022" y="2273141"/>
            <a:ext cx="11114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nick_name, status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4022" y="2444591"/>
            <a:ext cx="11836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auth_status, score</a:t>
            </a:r>
          </a:p>
        </p:txBody>
      </p:sp>
      <p:sp>
        <p:nvSpPr>
          <p:cNvPr id="14" name="Freeform 14"/>
          <p:cNvSpPr/>
          <p:nvPr/>
        </p:nvSpPr>
        <p:spPr>
          <a:xfrm>
            <a:off x="476250" y="3143250"/>
            <a:ext cx="1905000" cy="952500"/>
          </a:xfrm>
          <a:custGeom>
            <a:avLst/>
            <a:gdLst/>
            <a:ahLst/>
            <a:cxnLst/>
            <a:rect l="l" t="t" r="r" b="b"/>
            <a:pathLst>
              <a:path w="1905000" h="9525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876300"/>
                </a:lnTo>
                <a:cubicBezTo>
                  <a:pt x="1905000" y="918384"/>
                  <a:pt x="1870884" y="952500"/>
                  <a:pt x="1828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1FAE5"/>
          </a:solidFill>
          <a:ln w="14288">
            <a:solidFill>
              <a:srgbClr val="10B98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31717" y="3268028"/>
            <a:ext cx="1194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product (商品)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272" y="35018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id (PK)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6272" y="3673316"/>
            <a:ext cx="11294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user_id (FK), title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6272" y="3844766"/>
            <a:ext cx="14548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price, status, category</a:t>
            </a:r>
          </a:p>
        </p:txBody>
      </p:sp>
      <p:sp>
        <p:nvSpPr>
          <p:cNvPr id="19" name="Freeform 19"/>
          <p:cNvSpPr/>
          <p:nvPr/>
        </p:nvSpPr>
        <p:spPr>
          <a:xfrm>
            <a:off x="2952750" y="31432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76300"/>
                </a:lnTo>
                <a:cubicBezTo>
                  <a:pt x="2095500" y="918384"/>
                  <a:pt x="2061384" y="952500"/>
                  <a:pt x="2019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3C7"/>
          </a:solidFill>
          <a:ln w="14288">
            <a:solidFill>
              <a:srgbClr val="F59E0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226345" y="3268028"/>
            <a:ext cx="1548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trade_order (订单)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32772" y="350186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id (PK)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32772" y="3673316"/>
            <a:ext cx="11294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buyer_id, seller_id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32772" y="3844766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status, confirmed双向</a:t>
            </a:r>
          </a:p>
        </p:txBody>
      </p:sp>
      <p:sp>
        <p:nvSpPr>
          <p:cNvPr id="24" name="Freeform 24"/>
          <p:cNvSpPr/>
          <p:nvPr/>
        </p:nvSpPr>
        <p:spPr>
          <a:xfrm>
            <a:off x="3333750" y="4381500"/>
            <a:ext cx="1714500" cy="857250"/>
          </a:xfrm>
          <a:custGeom>
            <a:avLst/>
            <a:gdLst/>
            <a:ahLst/>
            <a:cxnLst/>
            <a:rect l="l" t="t" r="r" b="b"/>
            <a:pathLst>
              <a:path w="1714500" h="85725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781050"/>
                </a:lnTo>
                <a:cubicBezTo>
                  <a:pt x="1714500" y="823134"/>
                  <a:pt x="1680384" y="857250"/>
                  <a:pt x="1638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3FF"/>
          </a:solidFill>
          <a:ln w="14288">
            <a:solidFill>
              <a:srgbClr val="8B5CF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642273" y="4506278"/>
            <a:ext cx="10974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review (评价)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13772" y="474011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id (PK)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13772" y="4911566"/>
            <a:ext cx="10210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order_id, scores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43815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BEAFE"/>
          </a:solidFill>
          <a:ln w="14288">
            <a:solidFill>
              <a:srgbClr val="3B82F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71868" y="4506278"/>
            <a:ext cx="15805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campus_auth (认证)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022" y="4740116"/>
            <a:ext cx="424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id (PK)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2022" y="4911566"/>
            <a:ext cx="11294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user_id, college_id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476875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590550"/>
                </a:lnTo>
                <a:cubicBezTo>
                  <a:pt x="2000250" y="632634"/>
                  <a:pt x="1966134" y="666750"/>
                  <a:pt x="192405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 w="14288">
            <a:solidFill>
              <a:srgbClr val="10B98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237551" y="5601652"/>
            <a:ext cx="10491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chat_session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2022" y="5835491"/>
            <a:ext cx="12559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session_key, user_id</a:t>
            </a:r>
          </a:p>
        </p:txBody>
      </p:sp>
      <p:sp>
        <p:nvSpPr>
          <p:cNvPr id="35" name="Freeform 35"/>
          <p:cNvSpPr/>
          <p:nvPr/>
        </p:nvSpPr>
        <p:spPr>
          <a:xfrm>
            <a:off x="3143250" y="5476875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590550"/>
                </a:lnTo>
                <a:cubicBezTo>
                  <a:pt x="2000250" y="632634"/>
                  <a:pt x="1966134" y="666750"/>
                  <a:pt x="192405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 w="14288">
            <a:solidFill>
              <a:srgbClr val="10B98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582572" y="5601652"/>
            <a:ext cx="11216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chat_message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323272" y="5835491"/>
            <a:ext cx="13885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sender, receiver, type</a:t>
            </a:r>
          </a:p>
        </p:txBody>
      </p:sp>
      <p:sp>
        <p:nvSpPr>
          <p:cNvPr id="38" name="Line 38"/>
          <p:cNvSpPr/>
          <p:nvPr/>
        </p:nvSpPr>
        <p:spPr>
          <a:xfrm>
            <a:off x="1428750" y="2619375"/>
            <a:ext cx="1047750" cy="523875"/>
          </a:xfrm>
          <a:custGeom>
            <a:avLst/>
            <a:gdLst/>
            <a:ahLst/>
            <a:cxnLst/>
            <a:rect l="l" t="t" r="r" b="b"/>
            <a:pathLst>
              <a:path w="1047750" h="523875">
                <a:moveTo>
                  <a:pt x="1047750" y="0"/>
                </a:moveTo>
                <a:lnTo>
                  <a:pt x="0" y="523875"/>
                </a:lnTo>
              </a:path>
            </a:pathLst>
          </a:custGeom>
          <a:noFill/>
          <a:ln w="14288">
            <a:solidFill>
              <a:srgbClr val="10B98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846898" y="2816066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1:N</a:t>
            </a:r>
          </a:p>
        </p:txBody>
      </p:sp>
      <p:sp>
        <p:nvSpPr>
          <p:cNvPr id="40" name="Line 40"/>
          <p:cNvSpPr/>
          <p:nvPr/>
        </p:nvSpPr>
        <p:spPr>
          <a:xfrm>
            <a:off x="2476500" y="2619375"/>
            <a:ext cx="1524000" cy="523875"/>
          </a:xfrm>
          <a:custGeom>
            <a:avLst/>
            <a:gdLst/>
            <a:ahLst/>
            <a:cxnLst/>
            <a:rect l="l" t="t" r="r" b="b"/>
            <a:pathLst>
              <a:path w="1524000" h="523875">
                <a:moveTo>
                  <a:pt x="0" y="0"/>
                </a:moveTo>
                <a:lnTo>
                  <a:pt x="1524000" y="523875"/>
                </a:lnTo>
              </a:path>
            </a:pathLst>
          </a:custGeom>
          <a:noFill/>
          <a:ln w="14288">
            <a:solidFill>
              <a:srgbClr val="F59E0B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323272" y="2816066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1:N</a:t>
            </a:r>
          </a:p>
        </p:txBody>
      </p:sp>
      <p:sp>
        <p:nvSpPr>
          <p:cNvPr id="42" name="Line 42"/>
          <p:cNvSpPr/>
          <p:nvPr/>
        </p:nvSpPr>
        <p:spPr>
          <a:xfrm>
            <a:off x="4000500" y="4095750"/>
            <a:ext cx="190500" cy="285750"/>
          </a:xfrm>
          <a:custGeom>
            <a:avLst/>
            <a:gdLst/>
            <a:ahLst/>
            <a:cxnLst/>
            <a:rect l="l" t="t" r="r" b="b"/>
            <a:pathLst>
              <a:path w="190500" h="285750">
                <a:moveTo>
                  <a:pt x="0" y="0"/>
                </a:move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8B5CF6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228148" y="417814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1:2</a:t>
            </a:r>
          </a:p>
        </p:txBody>
      </p:sp>
      <p:sp>
        <p:nvSpPr>
          <p:cNvPr id="44" name="Line 44"/>
          <p:cNvSpPr/>
          <p:nvPr/>
        </p:nvSpPr>
        <p:spPr>
          <a:xfrm>
            <a:off x="1762125" y="2619375"/>
            <a:ext cx="714375" cy="1762125"/>
          </a:xfrm>
          <a:custGeom>
            <a:avLst/>
            <a:gdLst/>
            <a:ahLst/>
            <a:cxnLst/>
            <a:rect l="l" t="t" r="r" b="b"/>
            <a:pathLst>
              <a:path w="714375" h="1762125">
                <a:moveTo>
                  <a:pt x="714375" y="0"/>
                </a:moveTo>
                <a:lnTo>
                  <a:pt x="0" y="1762125"/>
                </a:lnTo>
              </a:path>
            </a:pathLst>
          </a:custGeom>
          <a:noFill/>
          <a:ln w="14288">
            <a:solidFill>
              <a:srgbClr val="3B82F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989772" y="3530441"/>
            <a:ext cx="159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1:1</a:t>
            </a:r>
          </a:p>
        </p:txBody>
      </p:sp>
      <p:sp>
        <p:nvSpPr>
          <p:cNvPr id="46" name="Freeform 46"/>
          <p:cNvSpPr/>
          <p:nvPr/>
        </p:nvSpPr>
        <p:spPr>
          <a:xfrm>
            <a:off x="6191250" y="1047750"/>
            <a:ext cx="5429250" cy="1143000"/>
          </a:xfrm>
          <a:custGeom>
            <a:avLst/>
            <a:gdLst/>
            <a:ahLst/>
            <a:cxnLst/>
            <a:rect l="l" t="t" r="r" b="b"/>
            <a:pathLst>
              <a:path w="5429250" h="1143000">
                <a:moveTo>
                  <a:pt x="114300" y="0"/>
                </a:moveTo>
                <a:lnTo>
                  <a:pt x="5314950" y="0"/>
                </a:lnTo>
                <a:cubicBezTo>
                  <a:pt x="5378076" y="0"/>
                  <a:pt x="5429250" y="51174"/>
                  <a:pt x="5429250" y="114300"/>
                </a:cubicBezTo>
                <a:lnTo>
                  <a:pt x="5429250" y="1028700"/>
                </a:lnTo>
                <a:cubicBezTo>
                  <a:pt x="5429250" y="1091826"/>
                  <a:pt x="5378076" y="1143000"/>
                  <a:pt x="531495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366510" y="11849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数据库概览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68415" y="1458278"/>
            <a:ext cx="24649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总表数: 22张 (业务表14 + 配置表8)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68415" y="1696402"/>
            <a:ext cx="39371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当前数据: 用户5,247 | 商品1,839 | 订单892 | 消息12,345</a:t>
            </a:r>
          </a:p>
        </p:txBody>
      </p:sp>
      <p:sp>
        <p:nvSpPr>
          <p:cNvPr id="50" name="Freeform 50"/>
          <p:cNvSpPr/>
          <p:nvPr/>
        </p:nvSpPr>
        <p:spPr>
          <a:xfrm>
            <a:off x="6191250" y="2381250"/>
            <a:ext cx="2619375" cy="1524000"/>
          </a:xfrm>
          <a:custGeom>
            <a:avLst/>
            <a:gdLst/>
            <a:ahLst/>
            <a:cxnLst/>
            <a:rect l="l" t="t" r="r" b="b"/>
            <a:pathLst>
              <a:path w="2619375" h="1524000">
                <a:moveTo>
                  <a:pt x="114300" y="0"/>
                </a:moveTo>
                <a:lnTo>
                  <a:pt x="2505075" y="0"/>
                </a:lnTo>
                <a:cubicBezTo>
                  <a:pt x="2568201" y="0"/>
                  <a:pt x="2619375" y="51174"/>
                  <a:pt x="2619375" y="114300"/>
                </a:cubicBezTo>
                <a:lnTo>
                  <a:pt x="2619375" y="1409700"/>
                </a:lnTo>
                <a:cubicBezTo>
                  <a:pt x="2619375" y="1472826"/>
                  <a:pt x="2568201" y="1524000"/>
                  <a:pt x="2505075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368415" y="2534602"/>
            <a:ext cx="10894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user (用户表)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2760345"/>
            <a:ext cx="8838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15字段 · 4索引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296989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唯一: idx_open_id, idx_phone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3179445"/>
            <a:ext cx="16462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score: 综合评分(默认5.0)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70320" y="3388995"/>
            <a:ext cx="19353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auth_status: 0未认证/2已认证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370320" y="3598545"/>
            <a:ext cx="1955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自动填充: create/update_time</a:t>
            </a:r>
          </a:p>
        </p:txBody>
      </p:sp>
      <p:sp>
        <p:nvSpPr>
          <p:cNvPr id="57" name="Freeform 57"/>
          <p:cNvSpPr/>
          <p:nvPr/>
        </p:nvSpPr>
        <p:spPr>
          <a:xfrm>
            <a:off x="9001125" y="2381250"/>
            <a:ext cx="2619375" cy="1524000"/>
          </a:xfrm>
          <a:custGeom>
            <a:avLst/>
            <a:gdLst/>
            <a:ahLst/>
            <a:cxnLst/>
            <a:rect l="l" t="t" r="r" b="b"/>
            <a:pathLst>
              <a:path w="2619375" h="1524000">
                <a:moveTo>
                  <a:pt x="114300" y="0"/>
                </a:moveTo>
                <a:lnTo>
                  <a:pt x="2505075" y="0"/>
                </a:lnTo>
                <a:cubicBezTo>
                  <a:pt x="2568201" y="0"/>
                  <a:pt x="2619375" y="51174"/>
                  <a:pt x="2619375" y="114300"/>
                </a:cubicBezTo>
                <a:lnTo>
                  <a:pt x="2619375" y="1409700"/>
                </a:lnTo>
                <a:cubicBezTo>
                  <a:pt x="2619375" y="1472826"/>
                  <a:pt x="2568201" y="1524000"/>
                  <a:pt x="2505075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9178290" y="2534602"/>
            <a:ext cx="17093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trade_order (订单表)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180195" y="27603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17字段 · 双向确认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80195" y="2969895"/>
            <a:ext cx="23362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seller_confirmed + buyer_confirmed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180195" y="3179445"/>
            <a:ext cx="16922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expire_time: 创建后72小时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180195" y="338899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confirm_deadline: 创建后7天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80195" y="3598545"/>
            <a:ext cx="13175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软删除: 双方独立删除</a:t>
            </a:r>
          </a:p>
        </p:txBody>
      </p:sp>
      <p:sp>
        <p:nvSpPr>
          <p:cNvPr id="64" name="Freeform 64"/>
          <p:cNvSpPr/>
          <p:nvPr/>
        </p:nvSpPr>
        <p:spPr>
          <a:xfrm>
            <a:off x="6191250" y="4095750"/>
            <a:ext cx="2619375" cy="1238250"/>
          </a:xfrm>
          <a:custGeom>
            <a:avLst/>
            <a:gdLst/>
            <a:ahLst/>
            <a:cxnLst/>
            <a:rect l="l" t="t" r="r" b="b"/>
            <a:pathLst>
              <a:path w="2619375" h="1238250">
                <a:moveTo>
                  <a:pt x="114300" y="0"/>
                </a:moveTo>
                <a:lnTo>
                  <a:pt x="2505075" y="0"/>
                </a:lnTo>
                <a:cubicBezTo>
                  <a:pt x="2568201" y="0"/>
                  <a:pt x="2619375" y="51174"/>
                  <a:pt x="2619375" y="114300"/>
                </a:cubicBezTo>
                <a:lnTo>
                  <a:pt x="2619375" y="1123950"/>
                </a:lnTo>
                <a:cubicBezTo>
                  <a:pt x="2619375" y="1187076"/>
                  <a:pt x="2568201" y="1238250"/>
                  <a:pt x="2505075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368415" y="4249102"/>
            <a:ext cx="15805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campus_auth (认证)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370320" y="4474845"/>
            <a:ext cx="14950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主表 + auth_history 1:N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370320" y="46843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每次提交创建历史快照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370320" y="489394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支持全轨迹回溯+版本对比</a:t>
            </a:r>
          </a:p>
        </p:txBody>
      </p:sp>
      <p:sp>
        <p:nvSpPr>
          <p:cNvPr id="69" name="Freeform 69"/>
          <p:cNvSpPr/>
          <p:nvPr/>
        </p:nvSpPr>
        <p:spPr>
          <a:xfrm>
            <a:off x="9001125" y="4095750"/>
            <a:ext cx="2619375" cy="1238250"/>
          </a:xfrm>
          <a:custGeom>
            <a:avLst/>
            <a:gdLst/>
            <a:ahLst/>
            <a:cxnLst/>
            <a:rect l="l" t="t" r="r" b="b"/>
            <a:pathLst>
              <a:path w="2619375" h="1238250">
                <a:moveTo>
                  <a:pt x="114300" y="0"/>
                </a:moveTo>
                <a:lnTo>
                  <a:pt x="2505075" y="0"/>
                </a:lnTo>
                <a:cubicBezTo>
                  <a:pt x="2568201" y="0"/>
                  <a:pt x="2619375" y="51174"/>
                  <a:pt x="2619375" y="114300"/>
                </a:cubicBezTo>
                <a:lnTo>
                  <a:pt x="2619375" y="1123950"/>
                </a:lnTo>
                <a:cubicBezTo>
                  <a:pt x="2619375" y="1187076"/>
                  <a:pt x="2568201" y="1238250"/>
                  <a:pt x="2505075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9178290" y="4249102"/>
            <a:ext cx="10974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chat (IM聊天)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180195" y="4474845"/>
            <a:ext cx="21128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session_key: min_max_productId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80195" y="4684395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双份记录: 各自管理unread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0195" y="4893945"/>
            <a:ext cx="17973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5种消息类型: 文字/卡片/系统</a:t>
            </a:r>
          </a:p>
        </p:txBody>
      </p:sp>
      <p:sp>
        <p:nvSpPr>
          <p:cNvPr id="74" name="Freeform 74"/>
          <p:cNvSpPr/>
          <p:nvPr/>
        </p:nvSpPr>
        <p:spPr>
          <a:xfrm>
            <a:off x="6191250" y="5524500"/>
            <a:ext cx="5429250" cy="762000"/>
          </a:xfrm>
          <a:custGeom>
            <a:avLst/>
            <a:gdLst/>
            <a:ahLst/>
            <a:cxnLst/>
            <a:rect l="l" t="t" r="r" b="b"/>
            <a:pathLst>
              <a:path w="5429250" h="762000">
                <a:moveTo>
                  <a:pt x="114300" y="0"/>
                </a:moveTo>
                <a:lnTo>
                  <a:pt x="5314950" y="0"/>
                </a:lnTo>
                <a:cubicBezTo>
                  <a:pt x="5378076" y="0"/>
                  <a:pt x="5429250" y="51174"/>
                  <a:pt x="5429250" y="114300"/>
                </a:cubicBezTo>
                <a:lnTo>
                  <a:pt x="5429250" y="647700"/>
                </a:lnTo>
                <a:cubicBezTo>
                  <a:pt x="5429250" y="710826"/>
                  <a:pt x="5378076" y="762000"/>
                  <a:pt x="531495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568285" y="56969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14张业务表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927413" y="5982652"/>
            <a:ext cx="40521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45个组合索引 · 逻辑删除+软删除 · MyBatis-Plus自动填充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七层安全防护体系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2158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SECURITY PROTECTION SYSTEM</a:t>
            </a:r>
          </a:p>
        </p:txBody>
      </p:sp>
      <p:sp>
        <p:nvSpPr>
          <p:cNvPr id="6" name="Freeform 6"/>
          <p:cNvSpPr/>
          <p:nvPr/>
        </p:nvSpPr>
        <p:spPr>
          <a:xfrm>
            <a:off x="5048250" y="2667000"/>
            <a:ext cx="2095500" cy="1143000"/>
          </a:xfrm>
          <a:custGeom>
            <a:avLst/>
            <a:gdLst/>
            <a:ahLst/>
            <a:cxnLst/>
            <a:rect l="l" t="t" r="r" b="b"/>
            <a:pathLst>
              <a:path w="2095500" h="1143000">
                <a:moveTo>
                  <a:pt x="152400" y="0"/>
                </a:moveTo>
                <a:lnTo>
                  <a:pt x="1943100" y="0"/>
                </a:lnTo>
                <a:cubicBezTo>
                  <a:pt x="2027268" y="0"/>
                  <a:pt x="2095500" y="68232"/>
                  <a:pt x="2095500" y="152400"/>
                </a:cubicBezTo>
                <a:lnTo>
                  <a:pt x="2095500" y="990600"/>
                </a:lnTo>
                <a:cubicBezTo>
                  <a:pt x="2095500" y="1074768"/>
                  <a:pt x="2027268" y="1143000"/>
                  <a:pt x="19431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839724" y="2847975"/>
            <a:ext cx="398233" cy="381204"/>
          </a:xfrm>
          <a:custGeom>
            <a:avLst/>
            <a:gdLst/>
            <a:ahLst/>
            <a:cxnLst/>
            <a:rect l="l" t="t" r="r" b="b"/>
            <a:pathLst>
              <a:path w="398233" h="381204">
                <a:moveTo>
                  <a:pt x="199088" y="0"/>
                </a:moveTo>
                <a:lnTo>
                  <a:pt x="201336" y="133"/>
                </a:lnTo>
                <a:lnTo>
                  <a:pt x="202459" y="286"/>
                </a:lnTo>
                <a:lnTo>
                  <a:pt x="203622" y="533"/>
                </a:lnTo>
                <a:lnTo>
                  <a:pt x="205736" y="1181"/>
                </a:lnTo>
                <a:cubicBezTo>
                  <a:pt x="207197" y="1720"/>
                  <a:pt x="208585" y="2436"/>
                  <a:pt x="209870" y="3315"/>
                </a:cubicBezTo>
                <a:lnTo>
                  <a:pt x="211851" y="4877"/>
                </a:lnTo>
                <a:lnTo>
                  <a:pt x="216709" y="9030"/>
                </a:lnTo>
                <a:cubicBezTo>
                  <a:pt x="255139" y="40949"/>
                  <a:pt x="303708" y="58089"/>
                  <a:pt x="353659" y="57360"/>
                </a:cubicBezTo>
                <a:lnTo>
                  <a:pt x="360174" y="57169"/>
                </a:lnTo>
                <a:cubicBezTo>
                  <a:pt x="368940" y="56769"/>
                  <a:pt x="376845" y="62409"/>
                  <a:pt x="379320" y="70828"/>
                </a:cubicBezTo>
                <a:cubicBezTo>
                  <a:pt x="398233" y="135165"/>
                  <a:pt x="390247" y="204422"/>
                  <a:pt x="357186" y="262766"/>
                </a:cubicBezTo>
                <a:cubicBezTo>
                  <a:pt x="324126" y="321110"/>
                  <a:pt x="268818" y="363552"/>
                  <a:pt x="203907" y="380390"/>
                </a:cubicBezTo>
                <a:cubicBezTo>
                  <a:pt x="200771" y="381204"/>
                  <a:pt x="197480" y="381204"/>
                  <a:pt x="194344" y="380390"/>
                </a:cubicBezTo>
                <a:cubicBezTo>
                  <a:pt x="129430" y="363556"/>
                  <a:pt x="74117" y="321116"/>
                  <a:pt x="41053" y="262771"/>
                </a:cubicBezTo>
                <a:cubicBezTo>
                  <a:pt x="7989" y="204427"/>
                  <a:pt x="0" y="135168"/>
                  <a:pt x="18913" y="70828"/>
                </a:cubicBezTo>
                <a:cubicBezTo>
                  <a:pt x="21387" y="62409"/>
                  <a:pt x="29292" y="56769"/>
                  <a:pt x="38058" y="57169"/>
                </a:cubicBezTo>
                <a:cubicBezTo>
                  <a:pt x="90207" y="59553"/>
                  <a:pt x="141367" y="42386"/>
                  <a:pt x="181524" y="9030"/>
                </a:cubicBezTo>
                <a:lnTo>
                  <a:pt x="186534" y="4743"/>
                </a:lnTo>
                <a:lnTo>
                  <a:pt x="188362" y="3315"/>
                </a:lnTo>
                <a:cubicBezTo>
                  <a:pt x="189647" y="2436"/>
                  <a:pt x="191036" y="1720"/>
                  <a:pt x="192496" y="1181"/>
                </a:cubicBezTo>
                <a:lnTo>
                  <a:pt x="194630" y="533"/>
                </a:lnTo>
                <a:cubicBezTo>
                  <a:pt x="195377" y="353"/>
                  <a:pt x="196134" y="219"/>
                  <a:pt x="196897" y="133"/>
                </a:cubicBezTo>
                <a:lnTo>
                  <a:pt x="199088" y="0"/>
                </a:lnTo>
                <a:close/>
                <a:moveTo>
                  <a:pt x="269763" y="138932"/>
                </a:moveTo>
                <a:cubicBezTo>
                  <a:pt x="266190" y="135354"/>
                  <a:pt x="261341" y="133345"/>
                  <a:pt x="256285" y="133345"/>
                </a:cubicBezTo>
                <a:cubicBezTo>
                  <a:pt x="251229" y="133345"/>
                  <a:pt x="246381" y="135354"/>
                  <a:pt x="242807" y="138932"/>
                </a:cubicBezTo>
                <a:lnTo>
                  <a:pt x="180076" y="201644"/>
                </a:lnTo>
                <a:lnTo>
                  <a:pt x="155444" y="177032"/>
                </a:lnTo>
                <a:lnTo>
                  <a:pt x="153653" y="175451"/>
                </a:lnTo>
                <a:cubicBezTo>
                  <a:pt x="145707" y="169306"/>
                  <a:pt x="134355" y="170388"/>
                  <a:pt x="127712" y="177922"/>
                </a:cubicBezTo>
                <a:cubicBezTo>
                  <a:pt x="121069" y="185456"/>
                  <a:pt x="121417" y="196854"/>
                  <a:pt x="128507" y="203968"/>
                </a:cubicBezTo>
                <a:lnTo>
                  <a:pt x="166607" y="242068"/>
                </a:lnTo>
                <a:lnTo>
                  <a:pt x="168398" y="243649"/>
                </a:lnTo>
                <a:cubicBezTo>
                  <a:pt x="175982" y="249532"/>
                  <a:pt x="186757" y="248855"/>
                  <a:pt x="193544" y="242068"/>
                </a:cubicBezTo>
                <a:lnTo>
                  <a:pt x="269744" y="165868"/>
                </a:lnTo>
                <a:lnTo>
                  <a:pt x="271325" y="164078"/>
                </a:lnTo>
                <a:cubicBezTo>
                  <a:pt x="277208" y="156494"/>
                  <a:pt x="276530" y="145719"/>
                  <a:pt x="269744" y="1389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457777" y="33308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核心数据安全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17940" y="3598545"/>
            <a:ext cx="956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F3C7"/>
                </a:solidFill>
                <a:latin typeface="Arial"/>
                <a:ea typeface="Microsoft YaHei"/>
                <a:cs typeface="Arial"/>
              </a:rPr>
              <a:t>用户/交易/聊天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047750"/>
            <a:ext cx="4191000" cy="714375"/>
          </a:xfrm>
          <a:custGeom>
            <a:avLst/>
            <a:gdLst/>
            <a:ahLst/>
            <a:cxnLst/>
            <a:rect l="l" t="t" r="r" b="b"/>
            <a:pathLst>
              <a:path w="4191000" h="714375">
                <a:moveTo>
                  <a:pt x="95250" y="0"/>
                </a:moveTo>
                <a:lnTo>
                  <a:pt x="4095750" y="0"/>
                </a:lnTo>
                <a:cubicBezTo>
                  <a:pt x="4148355" y="0"/>
                  <a:pt x="4191000" y="42645"/>
                  <a:pt x="4191000" y="95250"/>
                </a:cubicBezTo>
                <a:lnTo>
                  <a:pt x="4191000" y="619125"/>
                </a:lnTo>
                <a:cubicBezTo>
                  <a:pt x="4191000" y="671730"/>
                  <a:pt x="4148355" y="714375"/>
                  <a:pt x="4095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6760" y="11849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1. JWT认证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1418749"/>
            <a:ext cx="32928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双端独立Token · 24小时有效期 · Interceptor拦截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0" y="1047750"/>
            <a:ext cx="4191000" cy="714375"/>
          </a:xfrm>
          <a:custGeom>
            <a:avLst/>
            <a:gdLst/>
            <a:ahLst/>
            <a:cxnLst/>
            <a:rect l="l" t="t" r="r" b="b"/>
            <a:pathLst>
              <a:path w="4191000" h="714375">
                <a:moveTo>
                  <a:pt x="95250" y="0"/>
                </a:moveTo>
                <a:lnTo>
                  <a:pt x="4095750" y="0"/>
                </a:lnTo>
                <a:cubicBezTo>
                  <a:pt x="4148355" y="0"/>
                  <a:pt x="4191000" y="42645"/>
                  <a:pt x="4191000" y="95250"/>
                </a:cubicBezTo>
                <a:lnTo>
                  <a:pt x="4191000" y="619125"/>
                </a:lnTo>
                <a:cubicBezTo>
                  <a:pt x="4191000" y="671730"/>
                  <a:pt x="4148355" y="714375"/>
                  <a:pt x="4095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604760" y="1184910"/>
            <a:ext cx="16314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2. BCrypt密码加密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7618" y="1418749"/>
            <a:ext cx="24882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自适应哈希 · 自动加盐 · 无法逆向破解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1952625"/>
            <a:ext cx="4191000" cy="714375"/>
          </a:xfrm>
          <a:custGeom>
            <a:avLst/>
            <a:gdLst/>
            <a:ahLst/>
            <a:cxnLst/>
            <a:rect l="l" t="t" r="r" b="b"/>
            <a:pathLst>
              <a:path w="4191000" h="714375">
                <a:moveTo>
                  <a:pt x="95250" y="0"/>
                </a:moveTo>
                <a:lnTo>
                  <a:pt x="4095750" y="0"/>
                </a:lnTo>
                <a:cubicBezTo>
                  <a:pt x="4148355" y="0"/>
                  <a:pt x="4191000" y="42645"/>
                  <a:pt x="4191000" y="95250"/>
                </a:cubicBezTo>
                <a:lnTo>
                  <a:pt x="4191000" y="619125"/>
                </a:lnTo>
                <a:cubicBezTo>
                  <a:pt x="4191000" y="671730"/>
                  <a:pt x="4148355" y="714375"/>
                  <a:pt x="4095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6760" y="2089785"/>
            <a:ext cx="12082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3. 防暴力破解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618" y="2323624"/>
            <a:ext cx="2616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登录失败5次 → 锁定15分钟 · Redis计数器</a:t>
            </a:r>
          </a:p>
        </p:txBody>
      </p:sp>
      <p:sp>
        <p:nvSpPr>
          <p:cNvPr id="19" name="Freeform 19"/>
          <p:cNvSpPr/>
          <p:nvPr/>
        </p:nvSpPr>
        <p:spPr>
          <a:xfrm>
            <a:off x="7429500" y="1952625"/>
            <a:ext cx="4191000" cy="714375"/>
          </a:xfrm>
          <a:custGeom>
            <a:avLst/>
            <a:gdLst/>
            <a:ahLst/>
            <a:cxnLst/>
            <a:rect l="l" t="t" r="r" b="b"/>
            <a:pathLst>
              <a:path w="4191000" h="714375">
                <a:moveTo>
                  <a:pt x="95250" y="0"/>
                </a:moveTo>
                <a:lnTo>
                  <a:pt x="4095750" y="0"/>
                </a:lnTo>
                <a:cubicBezTo>
                  <a:pt x="4148355" y="0"/>
                  <a:pt x="4191000" y="42645"/>
                  <a:pt x="4191000" y="95250"/>
                </a:cubicBezTo>
                <a:lnTo>
                  <a:pt x="4191000" y="619125"/>
                </a:lnTo>
                <a:cubicBezTo>
                  <a:pt x="4191000" y="671730"/>
                  <a:pt x="4148355" y="714375"/>
                  <a:pt x="4095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604760" y="2089785"/>
            <a:ext cx="1364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4. SQL注入防护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07618" y="2323624"/>
            <a:ext cx="32002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#{}参数绑定 · LambdaQueryWrapper天然防注入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4000500"/>
            <a:ext cx="4191000" cy="714375"/>
          </a:xfrm>
          <a:custGeom>
            <a:avLst/>
            <a:gdLst/>
            <a:ahLst/>
            <a:cxnLst/>
            <a:rect l="l" t="t" r="r" b="b"/>
            <a:pathLst>
              <a:path w="4191000" h="714375">
                <a:moveTo>
                  <a:pt x="95250" y="0"/>
                </a:moveTo>
                <a:lnTo>
                  <a:pt x="4095750" y="0"/>
                </a:lnTo>
                <a:cubicBezTo>
                  <a:pt x="4148355" y="0"/>
                  <a:pt x="4191000" y="42645"/>
                  <a:pt x="4191000" y="95250"/>
                </a:cubicBezTo>
                <a:lnTo>
                  <a:pt x="4191000" y="619125"/>
                </a:lnTo>
                <a:cubicBezTo>
                  <a:pt x="4191000" y="671730"/>
                  <a:pt x="4148355" y="714375"/>
                  <a:pt x="4095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6760" y="4137660"/>
            <a:ext cx="1695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5. XSS跨站脚本防护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4371499"/>
            <a:ext cx="23814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前后端双重校验 · 输出HTML实体编码</a:t>
            </a:r>
          </a:p>
        </p:txBody>
      </p:sp>
      <p:sp>
        <p:nvSpPr>
          <p:cNvPr id="25" name="Freeform 25"/>
          <p:cNvSpPr/>
          <p:nvPr/>
        </p:nvSpPr>
        <p:spPr>
          <a:xfrm>
            <a:off x="7429500" y="4000500"/>
            <a:ext cx="4191000" cy="714375"/>
          </a:xfrm>
          <a:custGeom>
            <a:avLst/>
            <a:gdLst/>
            <a:ahLst/>
            <a:cxnLst/>
            <a:rect l="l" t="t" r="r" b="b"/>
            <a:pathLst>
              <a:path w="4191000" h="714375">
                <a:moveTo>
                  <a:pt x="95250" y="0"/>
                </a:moveTo>
                <a:lnTo>
                  <a:pt x="4095750" y="0"/>
                </a:lnTo>
                <a:cubicBezTo>
                  <a:pt x="4148355" y="0"/>
                  <a:pt x="4191000" y="42645"/>
                  <a:pt x="4191000" y="95250"/>
                </a:cubicBezTo>
                <a:lnTo>
                  <a:pt x="4191000" y="619125"/>
                </a:lnTo>
                <a:cubicBezTo>
                  <a:pt x="4191000" y="671730"/>
                  <a:pt x="4148355" y="714375"/>
                  <a:pt x="4095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04760" y="4137660"/>
            <a:ext cx="14842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6. Redis分布式锁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07618" y="4371499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订单创建防并发 · 30秒TTL自动释放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905375"/>
            <a:ext cx="11049000" cy="714375"/>
          </a:xfrm>
          <a:custGeom>
            <a:avLst/>
            <a:gdLst/>
            <a:ahLst/>
            <a:cxnLst/>
            <a:rect l="l" t="t" r="r" b="b"/>
            <a:pathLst>
              <a:path w="11049000" h="714375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619125"/>
                </a:lnTo>
                <a:cubicBezTo>
                  <a:pt x="11049000" y="671730"/>
                  <a:pt x="11006355" y="714375"/>
                  <a:pt x="10953750" y="714375"/>
                </a:cubicBezTo>
                <a:lnTo>
                  <a:pt x="95250" y="714375"/>
                </a:lnTo>
                <a:cubicBezTo>
                  <a:pt x="42645" y="714375"/>
                  <a:pt x="0" y="671730"/>
                  <a:pt x="0" y="6191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6760" y="5042535"/>
            <a:ext cx="1024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7. 越权防护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5276374"/>
            <a:ext cx="63116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水平越权：查询时强制加用户ID过滤 · 垂直越权：管理员独立拦截器 · 订单详情：买卖双方身份校验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810250"/>
            <a:ext cx="11049000" cy="428625"/>
          </a:xfrm>
          <a:custGeom>
            <a:avLst/>
            <a:gdLst/>
            <a:ahLst/>
            <a:cxnLst/>
            <a:rect l="l" t="t" r="r" b="b"/>
            <a:pathLst>
              <a:path w="11049000" h="428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52425"/>
                </a:lnTo>
                <a:cubicBezTo>
                  <a:pt x="11049000" y="394509"/>
                  <a:pt x="11014884" y="428625"/>
                  <a:pt x="109728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12580" y="59716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安全层级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60580" y="59716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实现方式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8580" y="59716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防护效果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75580" y="59716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事件统计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6286500"/>
            <a:ext cx="11049000" cy="209550"/>
          </a:xfrm>
          <a:custGeom>
            <a:avLst/>
            <a:gdLst/>
            <a:ahLst/>
            <a:cxnLst/>
            <a:rect l="l" t="t" r="r" b="b"/>
            <a:pathLst>
              <a:path w="11049000" h="2095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171450"/>
                </a:lnTo>
                <a:cubicBezTo>
                  <a:pt x="11049000" y="192492"/>
                  <a:pt x="11031942" y="209550"/>
                  <a:pt x="110109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475569">
              <a:alpha val="3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281577" y="634984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SQL注入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221135" y="6349841"/>
            <a:ext cx="7017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#{}参数绑定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2044" y="63498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62651" y="6349841"/>
            <a:ext cx="448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0次拦截</a:t>
            </a:r>
          </a:p>
        </p:txBody>
      </p:sp>
      <p:sp>
        <p:nvSpPr>
          <p:cNvPr id="41" name="Freeform 41"/>
          <p:cNvSpPr/>
          <p:nvPr/>
        </p:nvSpPr>
        <p:spPr>
          <a:xfrm>
            <a:off x="571500" y="6515100"/>
            <a:ext cx="11049000" cy="209550"/>
          </a:xfrm>
          <a:custGeom>
            <a:avLst/>
            <a:gdLst/>
            <a:ahLst/>
            <a:cxnLst/>
            <a:rect l="l" t="t" r="r" b="b"/>
            <a:pathLst>
              <a:path w="11049000" h="209550">
                <a:moveTo>
                  <a:pt x="38100" y="0"/>
                </a:moveTo>
                <a:lnTo>
                  <a:pt x="11010900" y="0"/>
                </a:lnTo>
                <a:cubicBezTo>
                  <a:pt x="11031942" y="0"/>
                  <a:pt x="11049000" y="17058"/>
                  <a:pt x="11049000" y="38100"/>
                </a:cubicBezTo>
                <a:lnTo>
                  <a:pt x="11049000" y="171450"/>
                </a:lnTo>
                <a:cubicBezTo>
                  <a:pt x="11049000" y="192492"/>
                  <a:pt x="11031942" y="209550"/>
                  <a:pt x="110109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475569">
              <a:alpha val="1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272540" y="6578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异常登录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90417" y="6578441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Redis限流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10117" y="65784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95%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69270" y="6578441"/>
            <a:ext cx="6354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23次已拦截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20775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7大自动化定时任务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35614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SCHEDULED TASKS — 24/7 RUNNING · 今日执行328次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00200"/>
                </a:lnTo>
                <a:cubicBezTo>
                  <a:pt x="3524250" y="1663326"/>
                  <a:pt x="3473076" y="1714500"/>
                  <a:pt x="340995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EF4444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84225" y="12554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8" y="111491"/>
                </a:lnTo>
                <a:lnTo>
                  <a:pt x="122238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89660" y="1299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订单超时取消</a:t>
            </a:r>
          </a:p>
        </p:txBody>
      </p:sp>
      <p:sp>
        <p:nvSpPr>
          <p:cNvPr id="9" name="Freeform 9"/>
          <p:cNvSpPr/>
          <p:nvPr/>
        </p:nvSpPr>
        <p:spPr>
          <a:xfrm>
            <a:off x="3048000" y="12192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252276" y="1292066"/>
            <a:ext cx="4486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每5分钟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590199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72小时未面交自动取消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179974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status→5(已取消) · 通知双方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0092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商品恢复在售状态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23622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123825" y="0"/>
                </a:moveTo>
                <a:lnTo>
                  <a:pt x="1209675" y="0"/>
                </a:lnTo>
                <a:cubicBezTo>
                  <a:pt x="1278062" y="0"/>
                  <a:pt x="1333500" y="55438"/>
                  <a:pt x="1333500" y="123825"/>
                </a:cubicBezTo>
                <a:lnTo>
                  <a:pt x="1333500" y="123825"/>
                </a:lnTo>
                <a:cubicBezTo>
                  <a:pt x="1333500" y="192212"/>
                  <a:pt x="1278062" y="247650"/>
                  <a:pt x="1209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38962" y="2436495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今日: 58次 / 120ms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047750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00200"/>
                </a:lnTo>
                <a:cubicBezTo>
                  <a:pt x="3524250" y="1663326"/>
                  <a:pt x="3473076" y="1714500"/>
                  <a:pt x="340995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3B82F6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568823" y="1260475"/>
            <a:ext cx="177805" cy="222250"/>
          </a:xfrm>
          <a:custGeom>
            <a:avLst/>
            <a:gdLst/>
            <a:ahLst/>
            <a:cxnLst/>
            <a:rect l="l" t="t" r="r" b="b"/>
            <a:pathLst>
              <a:path w="177805" h="222250">
                <a:moveTo>
                  <a:pt x="155544" y="24114"/>
                </a:moveTo>
                <a:cubicBezTo>
                  <a:pt x="168883" y="28814"/>
                  <a:pt x="177805" y="41420"/>
                  <a:pt x="177802" y="55562"/>
                </a:cubicBezTo>
                <a:lnTo>
                  <a:pt x="177802" y="188912"/>
                </a:lnTo>
                <a:cubicBezTo>
                  <a:pt x="177802" y="207324"/>
                  <a:pt x="162877" y="222250"/>
                  <a:pt x="144465" y="222250"/>
                </a:cubicBezTo>
                <a:lnTo>
                  <a:pt x="33340" y="222250"/>
                </a:lnTo>
                <a:cubicBezTo>
                  <a:pt x="14928" y="222250"/>
                  <a:pt x="2" y="207324"/>
                  <a:pt x="2" y="188912"/>
                </a:cubicBezTo>
                <a:lnTo>
                  <a:pt x="2" y="55562"/>
                </a:lnTo>
                <a:cubicBezTo>
                  <a:pt x="0" y="41420"/>
                  <a:pt x="8922" y="28814"/>
                  <a:pt x="22261" y="24114"/>
                </a:cubicBezTo>
                <a:cubicBezTo>
                  <a:pt x="23273" y="47910"/>
                  <a:pt x="42860" y="66679"/>
                  <a:pt x="66677" y="66675"/>
                </a:cubicBezTo>
                <a:lnTo>
                  <a:pt x="111127" y="66675"/>
                </a:lnTo>
                <a:cubicBezTo>
                  <a:pt x="133944" y="66677"/>
                  <a:pt x="153056" y="49404"/>
                  <a:pt x="155355" y="26703"/>
                </a:cubicBezTo>
                <a:close/>
                <a:moveTo>
                  <a:pt x="114383" y="103268"/>
                </a:moveTo>
                <a:lnTo>
                  <a:pt x="77790" y="139851"/>
                </a:lnTo>
                <a:lnTo>
                  <a:pt x="63421" y="125493"/>
                </a:lnTo>
                <a:cubicBezTo>
                  <a:pt x="60631" y="122605"/>
                  <a:pt x="56500" y="121446"/>
                  <a:pt x="52614" y="122463"/>
                </a:cubicBezTo>
                <a:cubicBezTo>
                  <a:pt x="48729" y="123480"/>
                  <a:pt x="45695" y="126514"/>
                  <a:pt x="44678" y="130400"/>
                </a:cubicBezTo>
                <a:cubicBezTo>
                  <a:pt x="43661" y="134285"/>
                  <a:pt x="44820" y="138416"/>
                  <a:pt x="47708" y="141207"/>
                </a:cubicBezTo>
                <a:lnTo>
                  <a:pt x="69933" y="163432"/>
                </a:lnTo>
                <a:cubicBezTo>
                  <a:pt x="74273" y="167770"/>
                  <a:pt x="81307" y="167770"/>
                  <a:pt x="85646" y="163432"/>
                </a:cubicBezTo>
                <a:lnTo>
                  <a:pt x="130096" y="118982"/>
                </a:lnTo>
                <a:cubicBezTo>
                  <a:pt x="134308" y="114621"/>
                  <a:pt x="134248" y="107690"/>
                  <a:pt x="129961" y="103404"/>
                </a:cubicBezTo>
                <a:cubicBezTo>
                  <a:pt x="125675" y="99117"/>
                  <a:pt x="118744" y="99057"/>
                  <a:pt x="114383" y="103268"/>
                </a:cubicBezTo>
                <a:moveTo>
                  <a:pt x="111127" y="0"/>
                </a:moveTo>
                <a:cubicBezTo>
                  <a:pt x="123402" y="0"/>
                  <a:pt x="133352" y="9950"/>
                  <a:pt x="133352" y="22225"/>
                </a:cubicBezTo>
                <a:cubicBezTo>
                  <a:pt x="133352" y="34500"/>
                  <a:pt x="123402" y="44450"/>
                  <a:pt x="111127" y="44450"/>
                </a:cubicBezTo>
                <a:lnTo>
                  <a:pt x="66677" y="44450"/>
                </a:lnTo>
                <a:cubicBezTo>
                  <a:pt x="54403" y="44450"/>
                  <a:pt x="44452" y="34500"/>
                  <a:pt x="44452" y="22225"/>
                </a:cubicBezTo>
                <a:cubicBezTo>
                  <a:pt x="44452" y="9950"/>
                  <a:pt x="54403" y="0"/>
                  <a:pt x="66677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852035" y="1299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订单自动确认</a:t>
            </a:r>
          </a:p>
        </p:txBody>
      </p:sp>
      <p:sp>
        <p:nvSpPr>
          <p:cNvPr id="19" name="Freeform 19"/>
          <p:cNvSpPr/>
          <p:nvPr/>
        </p:nvSpPr>
        <p:spPr>
          <a:xfrm>
            <a:off x="6810375" y="12192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957417" y="1292066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凌晨 2:00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1992" y="159019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创建后7天未确认自动完成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1992" y="1799749"/>
            <a:ext cx="2253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status→3(已完成) · 保障卖家权益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200929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商品状态→已售出</a:t>
            </a:r>
          </a:p>
        </p:txBody>
      </p:sp>
      <p:sp>
        <p:nvSpPr>
          <p:cNvPr id="24" name="Freeform 24"/>
          <p:cNvSpPr/>
          <p:nvPr/>
        </p:nvSpPr>
        <p:spPr>
          <a:xfrm>
            <a:off x="4524375" y="23622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123825" y="0"/>
                </a:moveTo>
                <a:lnTo>
                  <a:pt x="1209675" y="0"/>
                </a:lnTo>
                <a:cubicBezTo>
                  <a:pt x="1278062" y="0"/>
                  <a:pt x="1333500" y="55438"/>
                  <a:pt x="1333500" y="123825"/>
                </a:cubicBezTo>
                <a:lnTo>
                  <a:pt x="1333500" y="123825"/>
                </a:lnTo>
                <a:cubicBezTo>
                  <a:pt x="1333500" y="192212"/>
                  <a:pt x="1278062" y="247650"/>
                  <a:pt x="1209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01337" y="2436495"/>
            <a:ext cx="11795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昨日: 12个 / 350ms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96250" y="1047750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00200"/>
                </a:lnTo>
                <a:cubicBezTo>
                  <a:pt x="3524250" y="1663326"/>
                  <a:pt x="3473076" y="1714500"/>
                  <a:pt x="340995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8B5CF6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297284" y="1249385"/>
            <a:ext cx="245509" cy="233989"/>
          </a:xfrm>
          <a:custGeom>
            <a:avLst/>
            <a:gdLst/>
            <a:ahLst/>
            <a:cxnLst/>
            <a:rect l="l" t="t" r="r" b="b"/>
            <a:pathLst>
              <a:path w="245509" h="233989">
                <a:moveTo>
                  <a:pt x="81066" y="70431"/>
                </a:moveTo>
                <a:lnTo>
                  <a:pt x="10168" y="80710"/>
                </a:lnTo>
                <a:lnTo>
                  <a:pt x="8913" y="80965"/>
                </a:lnTo>
                <a:cubicBezTo>
                  <a:pt x="5042" y="81993"/>
                  <a:pt x="2024" y="85023"/>
                  <a:pt x="1012" y="88897"/>
                </a:cubicBezTo>
                <a:cubicBezTo>
                  <a:pt x="0" y="92771"/>
                  <a:pt x="1150" y="96890"/>
                  <a:pt x="4023" y="99679"/>
                </a:cubicBezTo>
                <a:lnTo>
                  <a:pt x="55385" y="149674"/>
                </a:lnTo>
                <a:lnTo>
                  <a:pt x="43272" y="220294"/>
                </a:lnTo>
                <a:lnTo>
                  <a:pt x="43128" y="221516"/>
                </a:lnTo>
                <a:cubicBezTo>
                  <a:pt x="42891" y="225519"/>
                  <a:pt x="44829" y="229339"/>
                  <a:pt x="48199" y="231512"/>
                </a:cubicBezTo>
                <a:cubicBezTo>
                  <a:pt x="51569" y="233685"/>
                  <a:pt x="55848" y="233874"/>
                  <a:pt x="59397" y="232006"/>
                </a:cubicBezTo>
                <a:lnTo>
                  <a:pt x="122805" y="198669"/>
                </a:lnTo>
                <a:lnTo>
                  <a:pt x="186068" y="232006"/>
                </a:lnTo>
                <a:lnTo>
                  <a:pt x="187179" y="232518"/>
                </a:lnTo>
                <a:cubicBezTo>
                  <a:pt x="190914" y="233989"/>
                  <a:pt x="195151" y="233331"/>
                  <a:pt x="198265" y="230798"/>
                </a:cubicBezTo>
                <a:cubicBezTo>
                  <a:pt x="201379" y="228265"/>
                  <a:pt x="202884" y="224250"/>
                  <a:pt x="202203" y="220294"/>
                </a:cubicBezTo>
                <a:lnTo>
                  <a:pt x="190080" y="149674"/>
                </a:lnTo>
                <a:lnTo>
                  <a:pt x="241464" y="99668"/>
                </a:lnTo>
                <a:lnTo>
                  <a:pt x="242331" y="98723"/>
                </a:lnTo>
                <a:cubicBezTo>
                  <a:pt x="244851" y="95619"/>
                  <a:pt x="245509" y="91399"/>
                  <a:pt x="244054" y="87674"/>
                </a:cubicBezTo>
                <a:cubicBezTo>
                  <a:pt x="242599" y="83950"/>
                  <a:pt x="239254" y="81294"/>
                  <a:pt x="235296" y="80721"/>
                </a:cubicBezTo>
                <a:lnTo>
                  <a:pt x="164399" y="70431"/>
                </a:lnTo>
                <a:lnTo>
                  <a:pt x="132706" y="6200"/>
                </a:lnTo>
                <a:cubicBezTo>
                  <a:pt x="130835" y="2404"/>
                  <a:pt x="126970" y="0"/>
                  <a:pt x="122738" y="0"/>
                </a:cubicBezTo>
                <a:cubicBezTo>
                  <a:pt x="118506" y="0"/>
                  <a:pt x="114641" y="2404"/>
                  <a:pt x="112770" y="6200"/>
                </a:cubicBezTo>
                <a:lnTo>
                  <a:pt x="81066" y="70431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14410" y="1299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自动好评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572750" y="12192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3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719792" y="1292066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凌晨 3:00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74368" y="1590199"/>
            <a:ext cx="1811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交易完成7天未评价默认好评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4368" y="1799749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三维5分 · is_auto=1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74368" y="20092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重新计算综合评分</a:t>
            </a:r>
          </a:p>
        </p:txBody>
      </p:sp>
      <p:sp>
        <p:nvSpPr>
          <p:cNvPr id="34" name="Freeform 34"/>
          <p:cNvSpPr/>
          <p:nvPr/>
        </p:nvSpPr>
        <p:spPr>
          <a:xfrm>
            <a:off x="8286750" y="23622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123825" y="0"/>
                </a:moveTo>
                <a:lnTo>
                  <a:pt x="1209675" y="0"/>
                </a:lnTo>
                <a:cubicBezTo>
                  <a:pt x="1278062" y="0"/>
                  <a:pt x="1333500" y="55438"/>
                  <a:pt x="1333500" y="123825"/>
                </a:cubicBezTo>
                <a:lnTo>
                  <a:pt x="1333500" y="123825"/>
                </a:lnTo>
                <a:cubicBezTo>
                  <a:pt x="1333500" y="192212"/>
                  <a:pt x="1278062" y="247650"/>
                  <a:pt x="1209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5F3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83429" y="2436495"/>
            <a:ext cx="1140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昨日: 8条 / 200ms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29527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F59E0B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791037" y="3165475"/>
            <a:ext cx="208248" cy="222261"/>
            <a:chOff x="791037" y="3165475"/>
            <a:chExt cx="208248" cy="222261"/>
          </a:xfrm>
        </p:grpSpPr>
        <p:sp>
          <p:nvSpPr>
            <p:cNvPr id="37" name="Freeform 37"/>
            <p:cNvSpPr/>
            <p:nvPr/>
          </p:nvSpPr>
          <p:spPr>
            <a:xfrm>
              <a:off x="856101" y="3354388"/>
              <a:ext cx="78777" cy="33348"/>
            </a:xfrm>
            <a:custGeom>
              <a:avLst/>
              <a:gdLst/>
              <a:ahLst/>
              <a:cxnLst/>
              <a:rect l="l" t="t" r="r" b="b"/>
              <a:pathLst>
                <a:path w="78777" h="33348">
                  <a:moveTo>
                    <a:pt x="64086" y="0"/>
                  </a:moveTo>
                  <a:cubicBezTo>
                    <a:pt x="73698" y="0"/>
                    <a:pt x="78777" y="11379"/>
                    <a:pt x="72365" y="18536"/>
                  </a:cubicBezTo>
                  <a:cubicBezTo>
                    <a:pt x="63940" y="27963"/>
                    <a:pt x="51893" y="33348"/>
                    <a:pt x="39249" y="33338"/>
                  </a:cubicBezTo>
                  <a:cubicBezTo>
                    <a:pt x="26606" y="33348"/>
                    <a:pt x="14559" y="27963"/>
                    <a:pt x="6134" y="18536"/>
                  </a:cubicBezTo>
                  <a:cubicBezTo>
                    <a:pt x="0" y="11690"/>
                    <a:pt x="4378" y="989"/>
                    <a:pt x="13179" y="78"/>
                  </a:cubicBezTo>
                  <a:lnTo>
                    <a:pt x="14402" y="11"/>
                  </a:lnTo>
                  <a:lnTo>
                    <a:pt x="64086" y="11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91037" y="3165475"/>
              <a:ext cx="208248" cy="177800"/>
            </a:xfrm>
            <a:custGeom>
              <a:avLst/>
              <a:gdLst/>
              <a:ahLst/>
              <a:cxnLst/>
              <a:rect l="l" t="t" r="r" b="b"/>
              <a:pathLst>
                <a:path w="208248" h="177800">
                  <a:moveTo>
                    <a:pt x="104313" y="0"/>
                  </a:moveTo>
                  <a:cubicBezTo>
                    <a:pt x="119404" y="0"/>
                    <a:pt x="132161" y="10035"/>
                    <a:pt x="136261" y="23792"/>
                  </a:cubicBezTo>
                  <a:lnTo>
                    <a:pt x="136773" y="25692"/>
                  </a:lnTo>
                  <a:lnTo>
                    <a:pt x="136862" y="26170"/>
                  </a:lnTo>
                  <a:cubicBezTo>
                    <a:pt x="161711" y="40188"/>
                    <a:pt x="178338" y="65265"/>
                    <a:pt x="181578" y="93612"/>
                  </a:cubicBezTo>
                  <a:lnTo>
                    <a:pt x="181889" y="96801"/>
                  </a:lnTo>
                  <a:lnTo>
                    <a:pt x="182101" y="100012"/>
                  </a:lnTo>
                  <a:lnTo>
                    <a:pt x="182101" y="132583"/>
                  </a:lnTo>
                  <a:lnTo>
                    <a:pt x="182334" y="134095"/>
                  </a:lnTo>
                  <a:cubicBezTo>
                    <a:pt x="183855" y="142282"/>
                    <a:pt x="188387" y="149604"/>
                    <a:pt x="195035" y="154619"/>
                  </a:cubicBezTo>
                  <a:lnTo>
                    <a:pt x="196891" y="155919"/>
                  </a:lnTo>
                  <a:lnTo>
                    <a:pt x="198692" y="157020"/>
                  </a:lnTo>
                  <a:cubicBezTo>
                    <a:pt x="208248" y="162431"/>
                    <a:pt x="204915" y="176644"/>
                    <a:pt x="194502" y="177733"/>
                  </a:cubicBezTo>
                  <a:lnTo>
                    <a:pt x="193213" y="177800"/>
                  </a:lnTo>
                  <a:lnTo>
                    <a:pt x="15413" y="177800"/>
                  </a:lnTo>
                  <a:cubicBezTo>
                    <a:pt x="3989" y="177800"/>
                    <a:pt x="0" y="162643"/>
                    <a:pt x="9935" y="157020"/>
                  </a:cubicBezTo>
                  <a:cubicBezTo>
                    <a:pt x="18506" y="152169"/>
                    <a:pt x="24493" y="143777"/>
                    <a:pt x="26292" y="134095"/>
                  </a:cubicBezTo>
                  <a:lnTo>
                    <a:pt x="26526" y="132505"/>
                  </a:lnTo>
                  <a:lnTo>
                    <a:pt x="26537" y="99501"/>
                  </a:lnTo>
                  <a:cubicBezTo>
                    <a:pt x="27912" y="70030"/>
                    <a:pt x="43820" y="43161"/>
                    <a:pt x="68998" y="27781"/>
                  </a:cubicBezTo>
                  <a:lnTo>
                    <a:pt x="71753" y="26159"/>
                  </a:lnTo>
                  <a:lnTo>
                    <a:pt x="71865" y="25681"/>
                  </a:lnTo>
                  <a:cubicBezTo>
                    <a:pt x="75084" y="12070"/>
                    <a:pt x="86450" y="1912"/>
                    <a:pt x="100335" y="233"/>
                  </a:cubicBezTo>
                  <a:lnTo>
                    <a:pt x="102357" y="44"/>
                  </a:lnTo>
                  <a:lnTo>
                    <a:pt x="104313" y="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089660" y="3204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评价提醒</a:t>
            </a:r>
          </a:p>
        </p:txBody>
      </p:sp>
      <p:sp>
        <p:nvSpPr>
          <p:cNvPr id="41" name="Freeform 41"/>
          <p:cNvSpPr/>
          <p:nvPr/>
        </p:nvSpPr>
        <p:spPr>
          <a:xfrm>
            <a:off x="3048000" y="31242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176968" y="3197066"/>
            <a:ext cx="5993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上午 10:00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9618" y="3495199"/>
            <a:ext cx="1690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完成第3天仍未评价 → 提醒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9618" y="370474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每笔订单仅提醒1次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9618" y="39142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站内通知推送</a:t>
            </a:r>
          </a:p>
        </p:txBody>
      </p:sp>
      <p:sp>
        <p:nvSpPr>
          <p:cNvPr id="46" name="Freeform 46"/>
          <p:cNvSpPr/>
          <p:nvPr/>
        </p:nvSpPr>
        <p:spPr>
          <a:xfrm>
            <a:off x="762000" y="42291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123825" y="0"/>
                </a:moveTo>
                <a:lnTo>
                  <a:pt x="1209675" y="0"/>
                </a:lnTo>
                <a:cubicBezTo>
                  <a:pt x="1278062" y="0"/>
                  <a:pt x="1333500" y="55438"/>
                  <a:pt x="1333500" y="123825"/>
                </a:cubicBezTo>
                <a:lnTo>
                  <a:pt x="1333500" y="123825"/>
                </a:lnTo>
                <a:cubicBezTo>
                  <a:pt x="1333500" y="192212"/>
                  <a:pt x="1278062" y="247650"/>
                  <a:pt x="1209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55393" y="4303395"/>
            <a:ext cx="11467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昨日: 15条 / 180ms</a:t>
            </a:r>
          </a:p>
        </p:txBody>
      </p:sp>
      <p:sp>
        <p:nvSpPr>
          <p:cNvPr id="48" name="Freeform 48"/>
          <p:cNvSpPr/>
          <p:nvPr/>
        </p:nvSpPr>
        <p:spPr>
          <a:xfrm>
            <a:off x="4333875" y="29527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0B981"/>
            </a:solidFill>
          </a:ln>
        </p:spPr>
      </p:sp>
      <p:sp>
        <p:nvSpPr>
          <p:cNvPr id="49" name="Freeform 49"/>
          <p:cNvSpPr/>
          <p:nvPr/>
        </p:nvSpPr>
        <p:spPr>
          <a:xfrm>
            <a:off x="4568823" y="3165475"/>
            <a:ext cx="177805" cy="222250"/>
          </a:xfrm>
          <a:custGeom>
            <a:avLst/>
            <a:gdLst/>
            <a:ahLst/>
            <a:cxnLst/>
            <a:rect l="l" t="t" r="r" b="b"/>
            <a:pathLst>
              <a:path w="177805" h="222250">
                <a:moveTo>
                  <a:pt x="155544" y="24114"/>
                </a:moveTo>
                <a:cubicBezTo>
                  <a:pt x="168883" y="28814"/>
                  <a:pt x="177805" y="41420"/>
                  <a:pt x="177802" y="55563"/>
                </a:cubicBezTo>
                <a:lnTo>
                  <a:pt x="177802" y="188913"/>
                </a:lnTo>
                <a:cubicBezTo>
                  <a:pt x="177802" y="207324"/>
                  <a:pt x="162877" y="222250"/>
                  <a:pt x="144465" y="222250"/>
                </a:cubicBezTo>
                <a:lnTo>
                  <a:pt x="33340" y="222250"/>
                </a:lnTo>
                <a:cubicBezTo>
                  <a:pt x="14928" y="222250"/>
                  <a:pt x="2" y="207324"/>
                  <a:pt x="2" y="188913"/>
                </a:cubicBezTo>
                <a:lnTo>
                  <a:pt x="2" y="55563"/>
                </a:lnTo>
                <a:cubicBezTo>
                  <a:pt x="0" y="41420"/>
                  <a:pt x="8922" y="28814"/>
                  <a:pt x="22261" y="24114"/>
                </a:cubicBezTo>
                <a:cubicBezTo>
                  <a:pt x="23273" y="47910"/>
                  <a:pt x="42860" y="66679"/>
                  <a:pt x="66677" y="66675"/>
                </a:cubicBezTo>
                <a:lnTo>
                  <a:pt x="111127" y="66675"/>
                </a:lnTo>
                <a:cubicBezTo>
                  <a:pt x="133944" y="66677"/>
                  <a:pt x="153056" y="49404"/>
                  <a:pt x="155355" y="26703"/>
                </a:cubicBezTo>
                <a:close/>
                <a:moveTo>
                  <a:pt x="55676" y="144463"/>
                </a:moveTo>
                <a:lnTo>
                  <a:pt x="55565" y="144463"/>
                </a:lnTo>
                <a:cubicBezTo>
                  <a:pt x="49685" y="144469"/>
                  <a:pt x="44828" y="149054"/>
                  <a:pt x="44484" y="154924"/>
                </a:cubicBezTo>
                <a:cubicBezTo>
                  <a:pt x="44139" y="160793"/>
                  <a:pt x="48426" y="165915"/>
                  <a:pt x="54265" y="166610"/>
                </a:cubicBezTo>
                <a:lnTo>
                  <a:pt x="55676" y="166688"/>
                </a:lnTo>
                <a:cubicBezTo>
                  <a:pt x="61813" y="166688"/>
                  <a:pt x="66789" y="161712"/>
                  <a:pt x="66789" y="155575"/>
                </a:cubicBezTo>
                <a:cubicBezTo>
                  <a:pt x="66789" y="149438"/>
                  <a:pt x="61813" y="144463"/>
                  <a:pt x="55676" y="144463"/>
                </a:cubicBezTo>
                <a:moveTo>
                  <a:pt x="122240" y="144463"/>
                </a:moveTo>
                <a:lnTo>
                  <a:pt x="100015" y="144463"/>
                </a:lnTo>
                <a:cubicBezTo>
                  <a:pt x="93878" y="144463"/>
                  <a:pt x="88902" y="149438"/>
                  <a:pt x="88902" y="155575"/>
                </a:cubicBezTo>
                <a:cubicBezTo>
                  <a:pt x="88902" y="161712"/>
                  <a:pt x="93878" y="166688"/>
                  <a:pt x="100015" y="166688"/>
                </a:cubicBezTo>
                <a:lnTo>
                  <a:pt x="122240" y="166688"/>
                </a:lnTo>
                <a:cubicBezTo>
                  <a:pt x="128377" y="166688"/>
                  <a:pt x="133352" y="161712"/>
                  <a:pt x="133352" y="155575"/>
                </a:cubicBezTo>
                <a:cubicBezTo>
                  <a:pt x="133352" y="149438"/>
                  <a:pt x="128377" y="144463"/>
                  <a:pt x="122240" y="144463"/>
                </a:cubicBezTo>
                <a:moveTo>
                  <a:pt x="55676" y="100012"/>
                </a:moveTo>
                <a:lnTo>
                  <a:pt x="55565" y="100012"/>
                </a:lnTo>
                <a:cubicBezTo>
                  <a:pt x="49685" y="100019"/>
                  <a:pt x="44828" y="104604"/>
                  <a:pt x="44484" y="110474"/>
                </a:cubicBezTo>
                <a:cubicBezTo>
                  <a:pt x="44139" y="116343"/>
                  <a:pt x="48426" y="121465"/>
                  <a:pt x="54265" y="122160"/>
                </a:cubicBezTo>
                <a:lnTo>
                  <a:pt x="55676" y="122238"/>
                </a:lnTo>
                <a:cubicBezTo>
                  <a:pt x="61813" y="122238"/>
                  <a:pt x="66789" y="117262"/>
                  <a:pt x="66789" y="111125"/>
                </a:cubicBezTo>
                <a:cubicBezTo>
                  <a:pt x="66789" y="104988"/>
                  <a:pt x="61813" y="100012"/>
                  <a:pt x="55676" y="100012"/>
                </a:cubicBezTo>
                <a:moveTo>
                  <a:pt x="122240" y="100012"/>
                </a:moveTo>
                <a:lnTo>
                  <a:pt x="100015" y="100012"/>
                </a:lnTo>
                <a:cubicBezTo>
                  <a:pt x="93878" y="100012"/>
                  <a:pt x="88902" y="104988"/>
                  <a:pt x="88902" y="111125"/>
                </a:cubicBezTo>
                <a:cubicBezTo>
                  <a:pt x="88902" y="117262"/>
                  <a:pt x="93878" y="122238"/>
                  <a:pt x="100015" y="122238"/>
                </a:cubicBezTo>
                <a:lnTo>
                  <a:pt x="122240" y="122238"/>
                </a:lnTo>
                <a:cubicBezTo>
                  <a:pt x="128377" y="122238"/>
                  <a:pt x="133352" y="117262"/>
                  <a:pt x="133352" y="111125"/>
                </a:cubicBezTo>
                <a:cubicBezTo>
                  <a:pt x="133352" y="104988"/>
                  <a:pt x="128377" y="100012"/>
                  <a:pt x="122240" y="100012"/>
                </a:cubicBezTo>
                <a:moveTo>
                  <a:pt x="111127" y="0"/>
                </a:moveTo>
                <a:cubicBezTo>
                  <a:pt x="123402" y="0"/>
                  <a:pt x="133352" y="9950"/>
                  <a:pt x="133352" y="22225"/>
                </a:cubicBezTo>
                <a:cubicBezTo>
                  <a:pt x="133352" y="34500"/>
                  <a:pt x="123402" y="44450"/>
                  <a:pt x="111127" y="44450"/>
                </a:cubicBezTo>
                <a:lnTo>
                  <a:pt x="66677" y="44450"/>
                </a:lnTo>
                <a:cubicBezTo>
                  <a:pt x="54403" y="44450"/>
                  <a:pt x="44452" y="34500"/>
                  <a:pt x="44452" y="22225"/>
                </a:cubicBezTo>
                <a:cubicBezTo>
                  <a:pt x="44452" y="9950"/>
                  <a:pt x="54403" y="0"/>
                  <a:pt x="66677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852035" y="3204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商品自动下架</a:t>
            </a:r>
          </a:p>
        </p:txBody>
      </p:sp>
      <p:sp>
        <p:nvSpPr>
          <p:cNvPr id="51" name="Freeform 51"/>
          <p:cNvSpPr/>
          <p:nvPr/>
        </p:nvSpPr>
        <p:spPr>
          <a:xfrm>
            <a:off x="6810375" y="31242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957417" y="3197066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凌晨 4:00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11992" y="349519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发布后90天自动下架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11992" y="3704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保持商品信息时效性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511992" y="39142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卖家可重新上架</a:t>
            </a:r>
          </a:p>
        </p:txBody>
      </p:sp>
      <p:sp>
        <p:nvSpPr>
          <p:cNvPr id="56" name="Freeform 56"/>
          <p:cNvSpPr/>
          <p:nvPr/>
        </p:nvSpPr>
        <p:spPr>
          <a:xfrm>
            <a:off x="4524375" y="42291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123825" y="0"/>
                </a:moveTo>
                <a:lnTo>
                  <a:pt x="1209675" y="0"/>
                </a:lnTo>
                <a:cubicBezTo>
                  <a:pt x="1278062" y="0"/>
                  <a:pt x="1333500" y="55438"/>
                  <a:pt x="1333500" y="123825"/>
                </a:cubicBezTo>
                <a:lnTo>
                  <a:pt x="1333500" y="123825"/>
                </a:lnTo>
                <a:cubicBezTo>
                  <a:pt x="1333500" y="192212"/>
                  <a:pt x="1278062" y="247650"/>
                  <a:pt x="1209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637484" y="4303395"/>
            <a:ext cx="1107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昨日: 5个 / 150ms</a:t>
            </a:r>
          </a:p>
        </p:txBody>
      </p:sp>
      <p:sp>
        <p:nvSpPr>
          <p:cNvPr id="58" name="Freeform 58"/>
          <p:cNvSpPr/>
          <p:nvPr/>
        </p:nvSpPr>
        <p:spPr>
          <a:xfrm>
            <a:off x="8096250" y="2952750"/>
            <a:ext cx="3524250" cy="1619250"/>
          </a:xfrm>
          <a:custGeom>
            <a:avLst/>
            <a:gdLst/>
            <a:ahLst/>
            <a:cxnLst/>
            <a:rect l="l" t="t" r="r" b="b"/>
            <a:pathLst>
              <a:path w="3524250" h="16192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504950"/>
                </a:lnTo>
                <a:cubicBezTo>
                  <a:pt x="3524250" y="1568076"/>
                  <a:pt x="3473076" y="1619250"/>
                  <a:pt x="3409950" y="1619250"/>
                </a:cubicBezTo>
                <a:lnTo>
                  <a:pt x="114300" y="1619250"/>
                </a:lnTo>
                <a:cubicBezTo>
                  <a:pt x="51174" y="1619250"/>
                  <a:pt x="0" y="1568076"/>
                  <a:pt x="0" y="1504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6B72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8614410" y="3204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注销账号清理</a:t>
            </a:r>
          </a:p>
        </p:txBody>
      </p:sp>
      <p:sp>
        <p:nvSpPr>
          <p:cNvPr id="60" name="Freeform 60"/>
          <p:cNvSpPr/>
          <p:nvPr/>
        </p:nvSpPr>
        <p:spPr>
          <a:xfrm>
            <a:off x="10572750" y="312420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0719792" y="3197066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凌晨 5:00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74368" y="349519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申请注销后30天数据清理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274368" y="3704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保留历史数据完整性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274368" y="3914299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30天内可恢复</a:t>
            </a:r>
          </a:p>
        </p:txBody>
      </p:sp>
      <p:sp>
        <p:nvSpPr>
          <p:cNvPr id="65" name="Freeform 65"/>
          <p:cNvSpPr/>
          <p:nvPr/>
        </p:nvSpPr>
        <p:spPr>
          <a:xfrm>
            <a:off x="8286750" y="4229100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123825" y="0"/>
                </a:moveTo>
                <a:lnTo>
                  <a:pt x="1209675" y="0"/>
                </a:lnTo>
                <a:cubicBezTo>
                  <a:pt x="1278062" y="0"/>
                  <a:pt x="1333500" y="55438"/>
                  <a:pt x="1333500" y="123825"/>
                </a:cubicBezTo>
                <a:lnTo>
                  <a:pt x="1333500" y="123825"/>
                </a:lnTo>
                <a:cubicBezTo>
                  <a:pt x="1333500" y="192212"/>
                  <a:pt x="1278062" y="247650"/>
                  <a:pt x="1209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3F4F6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399859" y="4303395"/>
            <a:ext cx="1107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昨日: 2个 / 100ms</a:t>
            </a:r>
          </a:p>
        </p:txBody>
      </p:sp>
      <p:sp>
        <p:nvSpPr>
          <p:cNvPr id="67" name="Freeform 67"/>
          <p:cNvSpPr/>
          <p:nvPr/>
        </p:nvSpPr>
        <p:spPr>
          <a:xfrm>
            <a:off x="571500" y="485775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552450"/>
                </a:lnTo>
                <a:cubicBezTo>
                  <a:pt x="11049000" y="615576"/>
                  <a:pt x="10997826" y="666750"/>
                  <a:pt x="109347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0B981"/>
            </a:solidFill>
          </a:ln>
        </p:spPr>
      </p:sp>
      <p:sp>
        <p:nvSpPr>
          <p:cNvPr id="68" name="Freeform 68"/>
          <p:cNvSpPr/>
          <p:nvPr/>
        </p:nvSpPr>
        <p:spPr>
          <a:xfrm>
            <a:off x="805947" y="505142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089660" y="509016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WebSocket心跳检测</a:t>
            </a:r>
          </a:p>
        </p:txBody>
      </p:sp>
      <p:sp>
        <p:nvSpPr>
          <p:cNvPr id="70" name="Freeform 70"/>
          <p:cNvSpPr/>
          <p:nvPr/>
        </p:nvSpPr>
        <p:spPr>
          <a:xfrm>
            <a:off x="3048000" y="5010150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114300" y="0"/>
                </a:moveTo>
                <a:lnTo>
                  <a:pt x="742950" y="0"/>
                </a:lnTo>
                <a:cubicBezTo>
                  <a:pt x="806076" y="0"/>
                  <a:pt x="857250" y="51174"/>
                  <a:pt x="857250" y="114300"/>
                </a:cubicBezTo>
                <a:lnTo>
                  <a:pt x="857250" y="114300"/>
                </a:lnTo>
                <a:cubicBezTo>
                  <a:pt x="857250" y="177426"/>
                  <a:pt x="806076" y="228600"/>
                  <a:pt x="74295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279386" y="5083016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每30秒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178618" y="5114449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心跳TTL 60秒 · 超时强制断开 · 清理SessionManager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178618" y="5323999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当前在线: 328人 · 平均延迟: 42ms</a:t>
            </a:r>
          </a:p>
        </p:txBody>
      </p:sp>
      <p:sp>
        <p:nvSpPr>
          <p:cNvPr id="74" name="Freeform 74"/>
          <p:cNvSpPr/>
          <p:nvPr/>
        </p:nvSpPr>
        <p:spPr>
          <a:xfrm>
            <a:off x="571500" y="5810250"/>
            <a:ext cx="11049000" cy="857250"/>
          </a:xfrm>
          <a:custGeom>
            <a:avLst/>
            <a:gdLst/>
            <a:ahLst/>
            <a:cxnLst/>
            <a:rect l="l" t="t" r="r" b="b"/>
            <a:pathLst>
              <a:path w="11049000" h="857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742950"/>
                </a:lnTo>
                <a:cubicBezTo>
                  <a:pt x="11049000" y="806076"/>
                  <a:pt x="10997826" y="857250"/>
                  <a:pt x="10934700" y="857250"/>
                </a:cubicBezTo>
                <a:lnTo>
                  <a:pt x="114300" y="857250"/>
                </a:lnTo>
                <a:cubicBezTo>
                  <a:pt x="51174" y="857250"/>
                  <a:pt x="0" y="806076"/>
                  <a:pt x="0" y="742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2474024" y="59855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7个任务全部运行中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012168" y="6276499"/>
            <a:ext cx="24526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可通过 application.yml 独立开关控制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410390" y="5985510"/>
            <a:ext cx="13712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今日总执行</a:t>
            </a:r>
            <a:r>
              <a:rPr lang="zh-CN" sz="12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328</a:t>
            </a:r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次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85222" y="62764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平均耗时 156ms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259128" y="5985510"/>
            <a:ext cx="13887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任务成功率</a:t>
            </a:r>
            <a:r>
              <a:rPr lang="zh-CN" sz="12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99.7%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503241" y="6276499"/>
            <a:ext cx="9005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失败重试: 1次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92544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Redis多级缓存优化策略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42208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MULTI-LEVEL CACHING STRATEGY — 命中率87.3% · Key 5,247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4381500" cy="5238750"/>
          </a:xfrm>
          <a:custGeom>
            <a:avLst/>
            <a:gdLst/>
            <a:ahLst/>
            <a:cxnLst/>
            <a:rect l="l" t="t" r="r" b="b"/>
            <a:pathLst>
              <a:path w="4381500" h="5238750">
                <a:moveTo>
                  <a:pt x="114300" y="0"/>
                </a:moveTo>
                <a:lnTo>
                  <a:pt x="4267200" y="0"/>
                </a:lnTo>
                <a:cubicBezTo>
                  <a:pt x="4330326" y="0"/>
                  <a:pt x="4381500" y="51174"/>
                  <a:pt x="4381500" y="114300"/>
                </a:cubicBezTo>
                <a:lnTo>
                  <a:pt x="4381500" y="5124450"/>
                </a:lnTo>
                <a:cubicBezTo>
                  <a:pt x="4381500" y="5187576"/>
                  <a:pt x="4330326" y="5238750"/>
                  <a:pt x="4267200" y="5238750"/>
                </a:cubicBezTo>
                <a:lnTo>
                  <a:pt x="114300" y="5238750"/>
                </a:lnTo>
                <a:cubicBezTo>
                  <a:pt x="51174" y="5238750"/>
                  <a:pt x="0" y="5187576"/>
                  <a:pt x="0" y="512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63700" y="1223010"/>
            <a:ext cx="17971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缓存Key体系 (4大类)</a:t>
            </a:r>
          </a:p>
        </p:txBody>
      </p:sp>
      <p:sp>
        <p:nvSpPr>
          <p:cNvPr id="8" name="Freeform 8"/>
          <p:cNvSpPr/>
          <p:nvPr/>
        </p:nvSpPr>
        <p:spPr>
          <a:xfrm>
            <a:off x="762000" y="1543050"/>
            <a:ext cx="4000500" cy="1047750"/>
          </a:xfrm>
          <a:custGeom>
            <a:avLst/>
            <a:gdLst/>
            <a:ahLst/>
            <a:cxnLst/>
            <a:rect l="l" t="t" r="r" b="b"/>
            <a:pathLst>
              <a:path w="4000500" h="1047750">
                <a:moveTo>
                  <a:pt x="76200" y="0"/>
                </a:moveTo>
                <a:lnTo>
                  <a:pt x="3924300" y="0"/>
                </a:lnTo>
                <a:cubicBezTo>
                  <a:pt x="3966384" y="0"/>
                  <a:pt x="4000500" y="34116"/>
                  <a:pt x="4000500" y="76200"/>
                </a:cubicBezTo>
                <a:lnTo>
                  <a:pt x="4000500" y="971550"/>
                </a:lnTo>
                <a:cubicBezTo>
                  <a:pt x="4000500" y="1013634"/>
                  <a:pt x="3966384" y="1047750"/>
                  <a:pt x="39243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9165" y="1658302"/>
            <a:ext cx="1830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业务缓存 (Cache-Aside)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022" y="1911191"/>
            <a:ext cx="24729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3C5FD"/>
                </a:solidFill>
                <a:latin typeface="Consolas"/>
                <a:ea typeface="Microsoft YaHei"/>
                <a:cs typeface="Consolas"/>
              </a:rPr>
              <a:t>product:detail:{id} -- 商品详情 TTL 30min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2022" y="2082641"/>
            <a:ext cx="29609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3C5FD"/>
                </a:solidFill>
                <a:latin typeface="Consolas"/>
                <a:ea typeface="Microsoft YaHei"/>
                <a:cs typeface="Consolas"/>
              </a:rPr>
              <a:t>product:list:{category}:{page} -- 列表 TTL 10min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2022" y="2254091"/>
            <a:ext cx="21175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3C5FD"/>
                </a:solidFill>
                <a:latin typeface="Consolas"/>
                <a:ea typeface="Microsoft YaHei"/>
                <a:cs typeface="Consolas"/>
              </a:rPr>
              <a:t>user:profile:{id} -- 用户信息 TTL 1h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2022" y="2425541"/>
            <a:ext cx="2310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3C5FD"/>
                </a:solidFill>
                <a:latin typeface="Consolas"/>
                <a:ea typeface="Microsoft YaHei"/>
                <a:cs typeface="Consolas"/>
              </a:rPr>
              <a:t>order:detail:{id} -- 订单详情 TTL 15min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2724150"/>
            <a:ext cx="4000500" cy="952500"/>
          </a:xfrm>
          <a:custGeom>
            <a:avLst/>
            <a:gdLst/>
            <a:ahLst/>
            <a:cxnLst/>
            <a:rect l="l" t="t" r="r" b="b"/>
            <a:pathLst>
              <a:path w="4000500" h="952500">
                <a:moveTo>
                  <a:pt x="76200" y="0"/>
                </a:moveTo>
                <a:lnTo>
                  <a:pt x="3924300" y="0"/>
                </a:lnTo>
                <a:cubicBezTo>
                  <a:pt x="3966384" y="0"/>
                  <a:pt x="4000500" y="34116"/>
                  <a:pt x="4000500" y="76200"/>
                </a:cubicBezTo>
                <a:lnTo>
                  <a:pt x="4000500" y="876300"/>
                </a:lnTo>
                <a:cubicBezTo>
                  <a:pt x="4000500" y="918384"/>
                  <a:pt x="3966384" y="952500"/>
                  <a:pt x="3924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9165" y="2839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会话缓存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022" y="3092291"/>
            <a:ext cx="2292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E7B7"/>
                </a:solidFill>
                <a:latin typeface="Consolas"/>
                <a:ea typeface="Microsoft YaHei"/>
                <a:cs typeface="Consolas"/>
              </a:rPr>
              <a:t>im:heartbeat:{userId} -- 心跳 TTL 60s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2022" y="3263741"/>
            <a:ext cx="18644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E7B7"/>
                </a:solidFill>
                <a:latin typeface="Consolas"/>
                <a:ea typeface="Microsoft YaHei"/>
                <a:cs typeface="Consolas"/>
              </a:rPr>
              <a:t>im:unread:{userId} -- 未读计数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022" y="3435191"/>
            <a:ext cx="27802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E7B7"/>
                </a:solidFill>
                <a:latin typeface="Consolas"/>
                <a:ea typeface="Microsoft YaHei"/>
                <a:cs typeface="Consolas"/>
              </a:rPr>
              <a:t>im:session:hot:{sessionKey} -- 热数据 TTL 24h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810000"/>
            <a:ext cx="4000500" cy="952500"/>
          </a:xfrm>
          <a:custGeom>
            <a:avLst/>
            <a:gdLst/>
            <a:ahLst/>
            <a:cxnLst/>
            <a:rect l="l" t="t" r="r" b="b"/>
            <a:pathLst>
              <a:path w="4000500" h="952500">
                <a:moveTo>
                  <a:pt x="76200" y="0"/>
                </a:moveTo>
                <a:lnTo>
                  <a:pt x="3924300" y="0"/>
                </a:lnTo>
                <a:cubicBezTo>
                  <a:pt x="3966384" y="0"/>
                  <a:pt x="4000500" y="34116"/>
                  <a:pt x="4000500" y="76200"/>
                </a:cubicBezTo>
                <a:lnTo>
                  <a:pt x="4000500" y="876300"/>
                </a:lnTo>
                <a:cubicBezTo>
                  <a:pt x="4000500" y="918384"/>
                  <a:pt x="3966384" y="952500"/>
                  <a:pt x="3924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9165" y="39252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安全缓存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2022" y="4178141"/>
            <a:ext cx="23584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CA5A5"/>
                </a:solidFill>
                <a:latin typeface="Consolas"/>
                <a:ea typeface="Microsoft YaHei"/>
                <a:cs typeface="Consolas"/>
              </a:rPr>
              <a:t>login:fail:{ip} -- 登录失败计数 TTL 15min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022" y="4349591"/>
            <a:ext cx="25753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CA5A5"/>
                </a:solidFill>
                <a:latin typeface="Consolas"/>
                <a:ea typeface="Microsoft YaHei"/>
                <a:cs typeface="Consolas"/>
              </a:rPr>
              <a:t>lock:order:{productId} -- 分布式锁 TTL 30s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22" y="4521041"/>
            <a:ext cx="21596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CA5A5"/>
                </a:solidFill>
                <a:latin typeface="Consolas"/>
                <a:ea typeface="Microsoft YaHei"/>
                <a:cs typeface="Consolas"/>
              </a:rPr>
              <a:t>token:blacklist:{jti} -- Token黑名单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2000" y="4895850"/>
            <a:ext cx="4000500" cy="571500"/>
          </a:xfrm>
          <a:custGeom>
            <a:avLst/>
            <a:gdLst/>
            <a:ahLst/>
            <a:cxnLst/>
            <a:rect l="l" t="t" r="r" b="b"/>
            <a:pathLst>
              <a:path w="4000500" h="571500">
                <a:moveTo>
                  <a:pt x="76200" y="0"/>
                </a:moveTo>
                <a:lnTo>
                  <a:pt x="3924300" y="0"/>
                </a:lnTo>
                <a:cubicBezTo>
                  <a:pt x="3966384" y="0"/>
                  <a:pt x="4000500" y="34116"/>
                  <a:pt x="4000500" y="76200"/>
                </a:cubicBezTo>
                <a:lnTo>
                  <a:pt x="4000500" y="495300"/>
                </a:lnTo>
                <a:cubicBezTo>
                  <a:pt x="4000500" y="537384"/>
                  <a:pt x="3966384" y="571500"/>
                  <a:pt x="39243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9165" y="5011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配置缓存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2022" y="5244941"/>
            <a:ext cx="34670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CD34D"/>
                </a:solidFill>
                <a:latin typeface="Consolas"/>
                <a:ea typeface="Microsoft YaHei"/>
                <a:cs typeface="Consolas"/>
              </a:rPr>
              <a:t>config:banner / config:category / config:notice -- TTL 2h</a:t>
            </a:r>
          </a:p>
        </p:txBody>
      </p:sp>
      <p:sp>
        <p:nvSpPr>
          <p:cNvPr id="27" name="Freeform 27"/>
          <p:cNvSpPr/>
          <p:nvPr/>
        </p:nvSpPr>
        <p:spPr>
          <a:xfrm>
            <a:off x="3619500" y="1600200"/>
            <a:ext cx="857250" cy="209550"/>
          </a:xfrm>
          <a:custGeom>
            <a:avLst/>
            <a:gdLst/>
            <a:ahLst/>
            <a:cxnLst/>
            <a:rect l="l" t="t" r="r" b="b"/>
            <a:pathLst>
              <a:path w="857250" h="209550">
                <a:moveTo>
                  <a:pt x="104775" y="0"/>
                </a:moveTo>
                <a:lnTo>
                  <a:pt x="752475" y="0"/>
                </a:lnTo>
                <a:cubicBezTo>
                  <a:pt x="810341" y="0"/>
                  <a:pt x="857250" y="46909"/>
                  <a:pt x="857250" y="104775"/>
                </a:cubicBezTo>
                <a:lnTo>
                  <a:pt x="857250" y="104775"/>
                </a:lnTo>
                <a:cubicBezTo>
                  <a:pt x="857250" y="162641"/>
                  <a:pt x="810341" y="209550"/>
                  <a:pt x="7524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736419" y="16635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2,180 keys</a:t>
            </a:r>
          </a:p>
        </p:txBody>
      </p:sp>
      <p:sp>
        <p:nvSpPr>
          <p:cNvPr id="29" name="Freeform 29"/>
          <p:cNvSpPr/>
          <p:nvPr/>
        </p:nvSpPr>
        <p:spPr>
          <a:xfrm>
            <a:off x="3619500" y="2781300"/>
            <a:ext cx="857250" cy="209550"/>
          </a:xfrm>
          <a:custGeom>
            <a:avLst/>
            <a:gdLst/>
            <a:ahLst/>
            <a:cxnLst/>
            <a:rect l="l" t="t" r="r" b="b"/>
            <a:pathLst>
              <a:path w="857250" h="209550">
                <a:moveTo>
                  <a:pt x="104775" y="0"/>
                </a:moveTo>
                <a:lnTo>
                  <a:pt x="752475" y="0"/>
                </a:lnTo>
                <a:cubicBezTo>
                  <a:pt x="810341" y="0"/>
                  <a:pt x="857250" y="46909"/>
                  <a:pt x="857250" y="104775"/>
                </a:cubicBezTo>
                <a:lnTo>
                  <a:pt x="857250" y="104775"/>
                </a:lnTo>
                <a:cubicBezTo>
                  <a:pt x="857250" y="162641"/>
                  <a:pt x="810341" y="209550"/>
                  <a:pt x="7524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736419" y="28446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E7B7"/>
                </a:solidFill>
                <a:latin typeface="Arial"/>
                <a:ea typeface="Microsoft YaHei"/>
                <a:cs typeface="Arial"/>
              </a:rPr>
              <a:t>1,520 keys</a:t>
            </a:r>
          </a:p>
        </p:txBody>
      </p:sp>
      <p:sp>
        <p:nvSpPr>
          <p:cNvPr id="31" name="Freeform 31"/>
          <p:cNvSpPr/>
          <p:nvPr/>
        </p:nvSpPr>
        <p:spPr>
          <a:xfrm>
            <a:off x="3619500" y="3867150"/>
            <a:ext cx="857250" cy="209550"/>
          </a:xfrm>
          <a:custGeom>
            <a:avLst/>
            <a:gdLst/>
            <a:ahLst/>
            <a:cxnLst/>
            <a:rect l="l" t="t" r="r" b="b"/>
            <a:pathLst>
              <a:path w="857250" h="209550">
                <a:moveTo>
                  <a:pt x="104775" y="0"/>
                </a:moveTo>
                <a:lnTo>
                  <a:pt x="752475" y="0"/>
                </a:lnTo>
                <a:cubicBezTo>
                  <a:pt x="810341" y="0"/>
                  <a:pt x="857250" y="46909"/>
                  <a:pt x="857250" y="104775"/>
                </a:cubicBezTo>
                <a:lnTo>
                  <a:pt x="857250" y="104775"/>
                </a:lnTo>
                <a:cubicBezTo>
                  <a:pt x="857250" y="162641"/>
                  <a:pt x="810341" y="209550"/>
                  <a:pt x="7524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787628" y="3930491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CA5A5"/>
                </a:solidFill>
                <a:latin typeface="Arial"/>
                <a:ea typeface="Microsoft YaHei"/>
                <a:cs typeface="Arial"/>
              </a:rPr>
              <a:t>890 keys</a:t>
            </a:r>
          </a:p>
        </p:txBody>
      </p:sp>
      <p:sp>
        <p:nvSpPr>
          <p:cNvPr id="33" name="Freeform 33"/>
          <p:cNvSpPr/>
          <p:nvPr/>
        </p:nvSpPr>
        <p:spPr>
          <a:xfrm>
            <a:off x="3619500" y="4953000"/>
            <a:ext cx="857250" cy="209550"/>
          </a:xfrm>
          <a:custGeom>
            <a:avLst/>
            <a:gdLst/>
            <a:ahLst/>
            <a:cxnLst/>
            <a:rect l="l" t="t" r="r" b="b"/>
            <a:pathLst>
              <a:path w="857250" h="209550">
                <a:moveTo>
                  <a:pt x="104775" y="0"/>
                </a:moveTo>
                <a:lnTo>
                  <a:pt x="752475" y="0"/>
                </a:lnTo>
                <a:cubicBezTo>
                  <a:pt x="810341" y="0"/>
                  <a:pt x="857250" y="46909"/>
                  <a:pt x="857250" y="104775"/>
                </a:cubicBezTo>
                <a:lnTo>
                  <a:pt x="857250" y="104775"/>
                </a:lnTo>
                <a:cubicBezTo>
                  <a:pt x="857250" y="162641"/>
                  <a:pt x="810341" y="209550"/>
                  <a:pt x="7524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787628" y="5016341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657 keys</a:t>
            </a:r>
          </a:p>
        </p:txBody>
      </p:sp>
      <p:sp>
        <p:nvSpPr>
          <p:cNvPr id="35" name="Freeform 35"/>
          <p:cNvSpPr/>
          <p:nvPr/>
        </p:nvSpPr>
        <p:spPr>
          <a:xfrm>
            <a:off x="5238750" y="1047750"/>
            <a:ext cx="6381750" cy="2476500"/>
          </a:xfrm>
          <a:custGeom>
            <a:avLst/>
            <a:gdLst/>
            <a:ahLst/>
            <a:cxnLst/>
            <a:rect l="l" t="t" r="r" b="b"/>
            <a:pathLst>
              <a:path w="6381750" h="2476500">
                <a:moveTo>
                  <a:pt x="114300" y="0"/>
                </a:moveTo>
                <a:lnTo>
                  <a:pt x="6267450" y="0"/>
                </a:lnTo>
                <a:cubicBezTo>
                  <a:pt x="6330576" y="0"/>
                  <a:pt x="6381750" y="51174"/>
                  <a:pt x="6381750" y="114300"/>
                </a:cubicBezTo>
                <a:lnTo>
                  <a:pt x="6381750" y="2362200"/>
                </a:lnTo>
                <a:cubicBezTo>
                  <a:pt x="6381750" y="2425326"/>
                  <a:pt x="6330576" y="2476500"/>
                  <a:pt x="626745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414010" y="11849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4大缓存策略</a:t>
            </a:r>
          </a:p>
        </p:txBody>
      </p:sp>
      <p:sp>
        <p:nvSpPr>
          <p:cNvPr id="37" name="Freeform 37"/>
          <p:cNvSpPr/>
          <p:nvPr/>
        </p:nvSpPr>
        <p:spPr>
          <a:xfrm>
            <a:off x="5429250" y="1447800"/>
            <a:ext cx="2952750" cy="904875"/>
          </a:xfrm>
          <a:custGeom>
            <a:avLst/>
            <a:gdLst/>
            <a:ahLst/>
            <a:cxnLst/>
            <a:rect l="l" t="t" r="r" b="b"/>
            <a:pathLst>
              <a:path w="2952750" h="904875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828675"/>
                </a:lnTo>
                <a:cubicBezTo>
                  <a:pt x="2952750" y="870759"/>
                  <a:pt x="2918634" y="904875"/>
                  <a:pt x="287655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 w="9525">
            <a:solidFill>
              <a:srgbClr val="3B82F6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606415" y="1563052"/>
            <a:ext cx="13309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Cache-Aside 模式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08320" y="178879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读: 查缓存 → miss → 查DB → 回填缓存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08320" y="19602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写: 更新DB → 删除缓存 → 下次读回填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09272" y="2177891"/>
            <a:ext cx="14909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3C5FD"/>
                </a:solidFill>
                <a:latin typeface="Consolas"/>
                <a:ea typeface="Microsoft YaHei"/>
                <a:cs typeface="Consolas"/>
              </a:rPr>
              <a:t>@Cacheable / @CacheEvict</a:t>
            </a:r>
          </a:p>
        </p:txBody>
      </p:sp>
      <p:sp>
        <p:nvSpPr>
          <p:cNvPr id="42" name="Freeform 42"/>
          <p:cNvSpPr/>
          <p:nvPr/>
        </p:nvSpPr>
        <p:spPr>
          <a:xfrm>
            <a:off x="8524875" y="1447800"/>
            <a:ext cx="2952750" cy="904875"/>
          </a:xfrm>
          <a:custGeom>
            <a:avLst/>
            <a:gdLst/>
            <a:ahLst/>
            <a:cxnLst/>
            <a:rect l="l" t="t" r="r" b="b"/>
            <a:pathLst>
              <a:path w="2952750" h="904875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828675"/>
                </a:lnTo>
                <a:cubicBezTo>
                  <a:pt x="2952750" y="870759"/>
                  <a:pt x="2918634" y="904875"/>
                  <a:pt x="287655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702040" y="15630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防缓存穿透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703945" y="1788795"/>
            <a:ext cx="16856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布隆过滤器拦截不存在的Key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03945" y="1960245"/>
            <a:ext cx="18959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空值缓存: TTL 5min 防重复查询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04898" y="2177891"/>
            <a:ext cx="8161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CA5A5"/>
                </a:solidFill>
                <a:latin typeface="Consolas"/>
                <a:ea typeface="Microsoft YaHei"/>
                <a:cs typeface="Consolas"/>
              </a:rPr>
              <a:t>拦截率: 99.2%</a:t>
            </a:r>
          </a:p>
        </p:txBody>
      </p:sp>
      <p:sp>
        <p:nvSpPr>
          <p:cNvPr id="47" name="Freeform 47"/>
          <p:cNvSpPr/>
          <p:nvPr/>
        </p:nvSpPr>
        <p:spPr>
          <a:xfrm>
            <a:off x="5429250" y="2476500"/>
            <a:ext cx="2952750" cy="904875"/>
          </a:xfrm>
          <a:custGeom>
            <a:avLst/>
            <a:gdLst/>
            <a:ahLst/>
            <a:cxnLst/>
            <a:rect l="l" t="t" r="r" b="b"/>
            <a:pathLst>
              <a:path w="2952750" h="904875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828675"/>
                </a:lnTo>
                <a:cubicBezTo>
                  <a:pt x="2952750" y="870759"/>
                  <a:pt x="2918634" y="904875"/>
                  <a:pt x="287655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 w="9525">
            <a:solidFill>
              <a:srgbClr val="10B981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606415" y="25917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防缓存雪崩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08320" y="2817495"/>
            <a:ext cx="24545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TTL加随机偏移 (base + random 0~300s)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08320" y="298894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热点数据永不过期 + 异步刷新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09272" y="32065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E7B7"/>
                </a:solidFill>
                <a:latin typeface="Consolas"/>
                <a:ea typeface="Microsoft YaHei"/>
                <a:cs typeface="Consolas"/>
              </a:rPr>
              <a:t>零雪崩事故</a:t>
            </a:r>
          </a:p>
        </p:txBody>
      </p:sp>
      <p:sp>
        <p:nvSpPr>
          <p:cNvPr id="52" name="Freeform 52"/>
          <p:cNvSpPr/>
          <p:nvPr/>
        </p:nvSpPr>
        <p:spPr>
          <a:xfrm>
            <a:off x="8524875" y="2476500"/>
            <a:ext cx="2952750" cy="904875"/>
          </a:xfrm>
          <a:custGeom>
            <a:avLst/>
            <a:gdLst/>
            <a:ahLst/>
            <a:cxnLst/>
            <a:rect l="l" t="t" r="r" b="b"/>
            <a:pathLst>
              <a:path w="2952750" h="904875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828675"/>
                </a:lnTo>
                <a:cubicBezTo>
                  <a:pt x="2952750" y="870759"/>
                  <a:pt x="2918634" y="904875"/>
                  <a:pt x="287655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702040" y="25917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主动失效机制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703945" y="28174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数据变更时立即删除相关缓存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703945" y="298894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级联失效: 商品→列表→搜索结果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704898" y="3206591"/>
            <a:ext cx="659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CD34D"/>
                </a:solidFill>
                <a:latin typeface="Consolas"/>
                <a:ea typeface="Microsoft YaHei"/>
                <a:cs typeface="Consolas"/>
              </a:rPr>
              <a:t>延迟 &lt; 10ms</a:t>
            </a:r>
          </a:p>
        </p:txBody>
      </p:sp>
      <p:sp>
        <p:nvSpPr>
          <p:cNvPr id="57" name="Freeform 57"/>
          <p:cNvSpPr/>
          <p:nvPr/>
        </p:nvSpPr>
        <p:spPr>
          <a:xfrm>
            <a:off x="5238750" y="3714750"/>
            <a:ext cx="6381750" cy="2571750"/>
          </a:xfrm>
          <a:custGeom>
            <a:avLst/>
            <a:gdLst/>
            <a:ahLst/>
            <a:cxnLst/>
            <a:rect l="l" t="t" r="r" b="b"/>
            <a:pathLst>
              <a:path w="6381750" h="2571750">
                <a:moveTo>
                  <a:pt x="114300" y="0"/>
                </a:moveTo>
                <a:lnTo>
                  <a:pt x="6267450" y="0"/>
                </a:lnTo>
                <a:cubicBezTo>
                  <a:pt x="6330576" y="0"/>
                  <a:pt x="6381750" y="51174"/>
                  <a:pt x="6381750" y="114300"/>
                </a:cubicBezTo>
                <a:lnTo>
                  <a:pt x="6381750" y="2457450"/>
                </a:lnTo>
                <a:cubicBezTo>
                  <a:pt x="6381750" y="2520576"/>
                  <a:pt x="6330576" y="2571750"/>
                  <a:pt x="6267450" y="2571750"/>
                </a:cubicBezTo>
                <a:lnTo>
                  <a:pt x="114300" y="2571750"/>
                </a:lnTo>
                <a:cubicBezTo>
                  <a:pt x="51174" y="2571750"/>
                  <a:pt x="0" y="2520576"/>
                  <a:pt x="0" y="2457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5414010" y="3851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缓存运行指标</a:t>
            </a:r>
          </a:p>
        </p:txBody>
      </p:sp>
      <p:sp>
        <p:nvSpPr>
          <p:cNvPr id="59" name="Freeform 59"/>
          <p:cNvSpPr/>
          <p:nvPr/>
        </p:nvSpPr>
        <p:spPr>
          <a:xfrm>
            <a:off x="5429250" y="4133850"/>
            <a:ext cx="1905000" cy="666750"/>
          </a:xfrm>
          <a:custGeom>
            <a:avLst/>
            <a:gdLst/>
            <a:ahLst/>
            <a:cxnLst/>
            <a:rect l="l" t="t" r="r" b="b"/>
            <a:pathLst>
              <a:path w="1905000" h="66675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590550"/>
                </a:lnTo>
                <a:cubicBezTo>
                  <a:pt x="1905000" y="632634"/>
                  <a:pt x="1870884" y="666750"/>
                  <a:pt x="1828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979343" y="4244340"/>
            <a:ext cx="804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87.3%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41708" y="45891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缓存命中率</a:t>
            </a:r>
          </a:p>
        </p:txBody>
      </p:sp>
      <p:sp>
        <p:nvSpPr>
          <p:cNvPr id="62" name="Freeform 62"/>
          <p:cNvSpPr/>
          <p:nvPr/>
        </p:nvSpPr>
        <p:spPr>
          <a:xfrm>
            <a:off x="7477125" y="4133850"/>
            <a:ext cx="1905000" cy="666750"/>
          </a:xfrm>
          <a:custGeom>
            <a:avLst/>
            <a:gdLst/>
            <a:ahLst/>
            <a:cxnLst/>
            <a:rect l="l" t="t" r="r" b="b"/>
            <a:pathLst>
              <a:path w="1905000" h="66675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590550"/>
                </a:lnTo>
                <a:cubicBezTo>
                  <a:pt x="1905000" y="632634"/>
                  <a:pt x="1870884" y="666750"/>
                  <a:pt x="1828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027218" y="4244340"/>
            <a:ext cx="804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5,247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046863" y="4589145"/>
            <a:ext cx="765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当前Key总数</a:t>
            </a:r>
          </a:p>
        </p:txBody>
      </p:sp>
      <p:sp>
        <p:nvSpPr>
          <p:cNvPr id="65" name="Freeform 65"/>
          <p:cNvSpPr/>
          <p:nvPr/>
        </p:nvSpPr>
        <p:spPr>
          <a:xfrm>
            <a:off x="9525000" y="4133850"/>
            <a:ext cx="1905000" cy="666750"/>
          </a:xfrm>
          <a:custGeom>
            <a:avLst/>
            <a:gdLst/>
            <a:ahLst/>
            <a:cxnLst/>
            <a:rect l="l" t="t" r="r" b="b"/>
            <a:pathLst>
              <a:path w="1905000" h="66675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590550"/>
                </a:lnTo>
                <a:cubicBezTo>
                  <a:pt x="1905000" y="632634"/>
                  <a:pt x="1870884" y="666750"/>
                  <a:pt x="1828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0081993" y="4244340"/>
            <a:ext cx="7910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128MB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950148" y="4589145"/>
            <a:ext cx="10547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内存使用 / 512MB</a:t>
            </a:r>
          </a:p>
        </p:txBody>
      </p:sp>
      <p:sp>
        <p:nvSpPr>
          <p:cNvPr id="68" name="Freeform 68"/>
          <p:cNvSpPr/>
          <p:nvPr/>
        </p:nvSpPr>
        <p:spPr>
          <a:xfrm>
            <a:off x="5429250" y="4991100"/>
            <a:ext cx="6000750" cy="152400"/>
          </a:xfrm>
          <a:custGeom>
            <a:avLst/>
            <a:gdLst/>
            <a:ahLst/>
            <a:cxnLst/>
            <a:rect l="l" t="t" r="r" b="b"/>
            <a:pathLst>
              <a:path w="6000750" h="152400">
                <a:moveTo>
                  <a:pt x="76200" y="0"/>
                </a:moveTo>
                <a:lnTo>
                  <a:pt x="5924550" y="0"/>
                </a:lnTo>
                <a:cubicBezTo>
                  <a:pt x="5966634" y="0"/>
                  <a:pt x="6000750" y="34116"/>
                  <a:pt x="6000750" y="76200"/>
                </a:cubicBezTo>
                <a:lnTo>
                  <a:pt x="6000750" y="76200"/>
                </a:lnTo>
                <a:cubicBezTo>
                  <a:pt x="6000750" y="118284"/>
                  <a:pt x="5966634" y="152400"/>
                  <a:pt x="592455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5429250" y="4991100"/>
            <a:ext cx="1504950" cy="152400"/>
          </a:xfrm>
          <a:custGeom>
            <a:avLst/>
            <a:gdLst/>
            <a:ahLst/>
            <a:cxnLst/>
            <a:rect l="l" t="t" r="r" b="b"/>
            <a:pathLst>
              <a:path w="1504950" h="152400">
                <a:moveTo>
                  <a:pt x="76200" y="0"/>
                </a:moveTo>
                <a:lnTo>
                  <a:pt x="1428750" y="0"/>
                </a:lnTo>
                <a:cubicBezTo>
                  <a:pt x="1470834" y="0"/>
                  <a:pt x="1504950" y="34116"/>
                  <a:pt x="1504950" y="76200"/>
                </a:cubicBezTo>
                <a:lnTo>
                  <a:pt x="1504950" y="76200"/>
                </a:lnTo>
                <a:cubicBezTo>
                  <a:pt x="1504950" y="118284"/>
                  <a:pt x="1470834" y="152400"/>
                  <a:pt x="142875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467350" y="502443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25%</a:t>
            </a:r>
          </a:p>
        </p:txBody>
      </p:sp>
      <p:sp>
        <p:nvSpPr>
          <p:cNvPr id="71" name="Freeform 71"/>
          <p:cNvSpPr/>
          <p:nvPr/>
        </p:nvSpPr>
        <p:spPr>
          <a:xfrm>
            <a:off x="5429250" y="5276850"/>
            <a:ext cx="2952750" cy="857250"/>
          </a:xfrm>
          <a:custGeom>
            <a:avLst/>
            <a:gdLst/>
            <a:ahLst/>
            <a:cxnLst/>
            <a:rect l="l" t="t" r="r" b="b"/>
            <a:pathLst>
              <a:path w="2952750" h="857250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781050"/>
                </a:lnTo>
                <a:cubicBezTo>
                  <a:pt x="2952750" y="823134"/>
                  <a:pt x="2918634" y="857250"/>
                  <a:pt x="28765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5607368" y="54001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读取命中分布</a:t>
            </a:r>
          </a:p>
        </p:txBody>
      </p:sp>
      <p:sp>
        <p:nvSpPr>
          <p:cNvPr id="73" name="Freeform 73"/>
          <p:cNvSpPr/>
          <p:nvPr/>
        </p:nvSpPr>
        <p:spPr>
          <a:xfrm>
            <a:off x="5619750" y="5619750"/>
            <a:ext cx="2571750" cy="95250"/>
          </a:xfrm>
          <a:custGeom>
            <a:avLst/>
            <a:gdLst/>
            <a:ahLst/>
            <a:cxnLst/>
            <a:rect l="l" t="t" r="r" b="b"/>
            <a:pathLst>
              <a:path w="2571750" h="95250">
                <a:moveTo>
                  <a:pt x="47625" y="0"/>
                </a:moveTo>
                <a:lnTo>
                  <a:pt x="2524125" y="0"/>
                </a:lnTo>
                <a:cubicBezTo>
                  <a:pt x="2550428" y="0"/>
                  <a:pt x="2571750" y="21322"/>
                  <a:pt x="2571750" y="47625"/>
                </a:cubicBezTo>
                <a:lnTo>
                  <a:pt x="2571750" y="47625"/>
                </a:lnTo>
                <a:cubicBezTo>
                  <a:pt x="2571750" y="73928"/>
                  <a:pt x="2550428" y="95250"/>
                  <a:pt x="2524125" y="95250"/>
                </a:cubicBezTo>
                <a:lnTo>
                  <a:pt x="47625" y="95250"/>
                </a:lnTo>
                <a:cubicBezTo>
                  <a:pt x="21322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74" name="Freeform 74"/>
          <p:cNvSpPr/>
          <p:nvPr/>
        </p:nvSpPr>
        <p:spPr>
          <a:xfrm>
            <a:off x="5619750" y="5619750"/>
            <a:ext cx="2238375" cy="95250"/>
          </a:xfrm>
          <a:custGeom>
            <a:avLst/>
            <a:gdLst/>
            <a:ahLst/>
            <a:cxnLst/>
            <a:rect l="l" t="t" r="r" b="b"/>
            <a:pathLst>
              <a:path w="2238375" h="95250">
                <a:moveTo>
                  <a:pt x="47625" y="0"/>
                </a:moveTo>
                <a:lnTo>
                  <a:pt x="2190750" y="0"/>
                </a:lnTo>
                <a:cubicBezTo>
                  <a:pt x="2217053" y="0"/>
                  <a:pt x="2238375" y="21322"/>
                  <a:pt x="2238375" y="47625"/>
                </a:cubicBezTo>
                <a:lnTo>
                  <a:pt x="2238375" y="47625"/>
                </a:lnTo>
                <a:cubicBezTo>
                  <a:pt x="2238375" y="73928"/>
                  <a:pt x="2217053" y="95250"/>
                  <a:pt x="2190750" y="95250"/>
                </a:cubicBezTo>
                <a:lnTo>
                  <a:pt x="47625" y="95250"/>
                </a:lnTo>
                <a:cubicBezTo>
                  <a:pt x="21322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75" name="Freeform 75"/>
          <p:cNvSpPr/>
          <p:nvPr/>
        </p:nvSpPr>
        <p:spPr>
          <a:xfrm>
            <a:off x="7858125" y="5619750"/>
            <a:ext cx="333375" cy="95250"/>
          </a:xfrm>
          <a:custGeom>
            <a:avLst/>
            <a:gdLst/>
            <a:ahLst/>
            <a:cxnLst/>
            <a:rect l="l" t="t" r="r" b="b"/>
            <a:pathLst>
              <a:path w="333375" h="95250">
                <a:moveTo>
                  <a:pt x="47625" y="0"/>
                </a:moveTo>
                <a:lnTo>
                  <a:pt x="285750" y="0"/>
                </a:lnTo>
                <a:cubicBezTo>
                  <a:pt x="312053" y="0"/>
                  <a:pt x="333375" y="21322"/>
                  <a:pt x="333375" y="47625"/>
                </a:cubicBezTo>
                <a:lnTo>
                  <a:pt x="333375" y="47625"/>
                </a:lnTo>
                <a:cubicBezTo>
                  <a:pt x="333375" y="73928"/>
                  <a:pt x="312053" y="95250"/>
                  <a:pt x="285750" y="95250"/>
                </a:cubicBezTo>
                <a:lnTo>
                  <a:pt x="47625" y="95250"/>
                </a:lnTo>
                <a:cubicBezTo>
                  <a:pt x="21322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609272" y="5797391"/>
            <a:ext cx="8704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缓存命中 87.3%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847522" y="5797391"/>
            <a:ext cx="7318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E7B7"/>
                </a:solidFill>
                <a:latin typeface="Arial"/>
                <a:ea typeface="Microsoft YaHei"/>
                <a:cs typeface="Arial"/>
              </a:rPr>
              <a:t>DB回填 10.2%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085772" y="5797391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穿透 2.5%</a:t>
            </a:r>
          </a:p>
        </p:txBody>
      </p:sp>
      <p:sp>
        <p:nvSpPr>
          <p:cNvPr id="79" name="Freeform 79"/>
          <p:cNvSpPr/>
          <p:nvPr/>
        </p:nvSpPr>
        <p:spPr>
          <a:xfrm>
            <a:off x="8524875" y="5276850"/>
            <a:ext cx="2952750" cy="857250"/>
          </a:xfrm>
          <a:custGeom>
            <a:avLst/>
            <a:gdLst/>
            <a:ahLst/>
            <a:cxnLst/>
            <a:rect l="l" t="t" r="r" b="b"/>
            <a:pathLst>
              <a:path w="2952750" h="857250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781050"/>
                </a:lnTo>
                <a:cubicBezTo>
                  <a:pt x="2952750" y="823134"/>
                  <a:pt x="2918634" y="857250"/>
                  <a:pt x="28765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8702992" y="54001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性能提升对比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703945" y="5617845"/>
            <a:ext cx="17382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无缓存: 平均 45ms (DB查询)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703945" y="5808345"/>
            <a:ext cx="18499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有缓存: 平均 3ms (Redis查询)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702040" y="5963602"/>
            <a:ext cx="1628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提升 15倍 · QPS 1200+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开发完成度与核心成果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46655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DEVELOPMENT PROGRESS — 22表 · 286字段 · 42API · 43,613行代码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600200"/>
                </a:lnTo>
                <a:cubicBezTo>
                  <a:pt x="11049000" y="1663326"/>
                  <a:pt x="10997826" y="1714500"/>
                  <a:pt x="1093470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579179" y="12039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三端开发完成度</a:t>
            </a:r>
          </a:p>
        </p:txBody>
      </p:sp>
      <p:sp>
        <p:nvSpPr>
          <p:cNvPr id="8" name="Ellipse 8"/>
          <p:cNvSpPr/>
          <p:nvPr/>
        </p:nvSpPr>
        <p:spPr>
          <a:xfrm>
            <a:off x="1428750" y="1619250"/>
            <a:ext cx="952500" cy="952500"/>
          </a:xfrm>
          <a:prstGeom prst="ellipse">
            <a:avLst/>
          </a:prstGeom>
          <a:noFill/>
          <a:ln w="76200">
            <a:solidFill>
              <a:srgbClr val="E5E7EB"/>
            </a:solidFill>
          </a:ln>
        </p:spPr>
      </p:sp>
      <p:sp>
        <p:nvSpPr>
          <p:cNvPr id="9" name="Arc 9"/>
          <p:cNvSpPr/>
          <p:nvPr/>
        </p:nvSpPr>
        <p:spPr>
          <a:xfrm>
            <a:off x="1390650" y="1581242"/>
            <a:ext cx="1028333" cy="1028139"/>
          </a:xfrm>
          <a:custGeom>
            <a:avLst/>
            <a:gdLst/>
            <a:ahLst/>
            <a:cxnLst/>
            <a:rect l="l" t="t" r="r" b="b"/>
            <a:pathLst>
              <a:path w="1028333" h="1028139">
                <a:moveTo>
                  <a:pt x="0" y="514258"/>
                </a:moveTo>
                <a:lnTo>
                  <a:pt x="2537" y="463239"/>
                </a:lnTo>
                <a:lnTo>
                  <a:pt x="10121" y="412723"/>
                </a:lnTo>
                <a:lnTo>
                  <a:pt x="22679" y="363209"/>
                </a:lnTo>
                <a:lnTo>
                  <a:pt x="40087" y="315184"/>
                </a:lnTo>
                <a:lnTo>
                  <a:pt x="62172" y="269123"/>
                </a:lnTo>
                <a:lnTo>
                  <a:pt x="88718" y="225480"/>
                </a:lnTo>
                <a:lnTo>
                  <a:pt x="119461" y="184685"/>
                </a:lnTo>
                <a:lnTo>
                  <a:pt x="154099" y="147141"/>
                </a:lnTo>
                <a:lnTo>
                  <a:pt x="192291" y="113217"/>
                </a:lnTo>
                <a:lnTo>
                  <a:pt x="233659" y="83250"/>
                </a:lnTo>
                <a:lnTo>
                  <a:pt x="277796" y="57533"/>
                </a:lnTo>
                <a:lnTo>
                  <a:pt x="324265" y="36321"/>
                </a:lnTo>
                <a:lnTo>
                  <a:pt x="372610" y="19824"/>
                </a:lnTo>
                <a:lnTo>
                  <a:pt x="422353" y="8203"/>
                </a:lnTo>
                <a:lnTo>
                  <a:pt x="473003" y="1573"/>
                </a:lnTo>
                <a:lnTo>
                  <a:pt x="524061" y="0"/>
                </a:lnTo>
                <a:lnTo>
                  <a:pt x="575023" y="3499"/>
                </a:lnTo>
                <a:lnTo>
                  <a:pt x="625387" y="12036"/>
                </a:lnTo>
                <a:lnTo>
                  <a:pt x="674655" y="25527"/>
                </a:lnTo>
                <a:lnTo>
                  <a:pt x="722343" y="43838"/>
                </a:lnTo>
                <a:lnTo>
                  <a:pt x="767979" y="66789"/>
                </a:lnTo>
                <a:lnTo>
                  <a:pt x="811113" y="94154"/>
                </a:lnTo>
                <a:lnTo>
                  <a:pt x="851320" y="125662"/>
                </a:lnTo>
                <a:lnTo>
                  <a:pt x="888204" y="161003"/>
                </a:lnTo>
                <a:lnTo>
                  <a:pt x="921400" y="199828"/>
                </a:lnTo>
                <a:lnTo>
                  <a:pt x="950581" y="241755"/>
                </a:lnTo>
                <a:lnTo>
                  <a:pt x="975460" y="286369"/>
                </a:lnTo>
                <a:lnTo>
                  <a:pt x="995791" y="333231"/>
                </a:lnTo>
                <a:lnTo>
                  <a:pt x="1011373" y="381879"/>
                </a:lnTo>
                <a:lnTo>
                  <a:pt x="1022052" y="431832"/>
                </a:lnTo>
                <a:lnTo>
                  <a:pt x="1027725" y="482598"/>
                </a:lnTo>
                <a:lnTo>
                  <a:pt x="1028333" y="533677"/>
                </a:lnTo>
                <a:lnTo>
                  <a:pt x="1023872" y="584564"/>
                </a:lnTo>
                <a:lnTo>
                  <a:pt x="1014386" y="634757"/>
                </a:lnTo>
                <a:lnTo>
                  <a:pt x="999967" y="683762"/>
                </a:lnTo>
                <a:lnTo>
                  <a:pt x="980759" y="731095"/>
                </a:lnTo>
                <a:lnTo>
                  <a:pt x="956951" y="776290"/>
                </a:lnTo>
                <a:lnTo>
                  <a:pt x="928777" y="818900"/>
                </a:lnTo>
                <a:lnTo>
                  <a:pt x="896515" y="858505"/>
                </a:lnTo>
                <a:lnTo>
                  <a:pt x="860484" y="894715"/>
                </a:lnTo>
                <a:lnTo>
                  <a:pt x="821039" y="927172"/>
                </a:lnTo>
                <a:lnTo>
                  <a:pt x="778569" y="955557"/>
                </a:lnTo>
                <a:lnTo>
                  <a:pt x="733493" y="979589"/>
                </a:lnTo>
                <a:lnTo>
                  <a:pt x="686255" y="999031"/>
                </a:lnTo>
                <a:lnTo>
                  <a:pt x="637322" y="1013692"/>
                </a:lnTo>
                <a:lnTo>
                  <a:pt x="587176" y="1023427"/>
                </a:lnTo>
                <a:lnTo>
                  <a:pt x="536312" y="1028139"/>
                </a:lnTo>
                <a:lnTo>
                  <a:pt x="485231" y="1027783"/>
                </a:lnTo>
                <a:lnTo>
                  <a:pt x="434437" y="1022363"/>
                </a:lnTo>
                <a:lnTo>
                  <a:pt x="384432" y="1011930"/>
                </a:lnTo>
                <a:lnTo>
                  <a:pt x="335708" y="996589"/>
                </a:lnTo>
                <a:lnTo>
                  <a:pt x="288746" y="976491"/>
                </a:lnTo>
                <a:lnTo>
                  <a:pt x="244009" y="951833"/>
                </a:lnTo>
                <a:lnTo>
                  <a:pt x="201938" y="922859"/>
                </a:lnTo>
                <a:lnTo>
                  <a:pt x="162949" y="889856"/>
                </a:lnTo>
                <a:lnTo>
                  <a:pt x="127426" y="853148"/>
                </a:lnTo>
                <a:lnTo>
                  <a:pt x="95720" y="813097"/>
                </a:lnTo>
                <a:lnTo>
                  <a:pt x="68142" y="770098"/>
                </a:lnTo>
                <a:lnTo>
                  <a:pt x="44965" y="724577"/>
                </a:lnTo>
                <a:lnTo>
                  <a:pt x="26418" y="676981"/>
                </a:lnTo>
                <a:lnTo>
                  <a:pt x="12684" y="627779"/>
                </a:lnTo>
                <a:lnTo>
                  <a:pt x="3898" y="577459"/>
                </a:lnTo>
                <a:lnTo>
                  <a:pt x="79520" y="568096"/>
                </a:lnTo>
                <a:lnTo>
                  <a:pt x="87005" y="610961"/>
                </a:lnTo>
                <a:lnTo>
                  <a:pt x="98704" y="652874"/>
                </a:lnTo>
                <a:lnTo>
                  <a:pt x="114504" y="693418"/>
                </a:lnTo>
                <a:lnTo>
                  <a:pt x="134247" y="732196"/>
                </a:lnTo>
                <a:lnTo>
                  <a:pt x="157739" y="768824"/>
                </a:lnTo>
                <a:lnTo>
                  <a:pt x="184748" y="802942"/>
                </a:lnTo>
                <a:lnTo>
                  <a:pt x="215009" y="834212"/>
                </a:lnTo>
                <a:lnTo>
                  <a:pt x="248222" y="862326"/>
                </a:lnTo>
                <a:lnTo>
                  <a:pt x="284059" y="887007"/>
                </a:lnTo>
                <a:lnTo>
                  <a:pt x="322169" y="908012"/>
                </a:lnTo>
                <a:lnTo>
                  <a:pt x="362173" y="925133"/>
                </a:lnTo>
                <a:lnTo>
                  <a:pt x="403679" y="938201"/>
                </a:lnTo>
                <a:lnTo>
                  <a:pt x="446276" y="947088"/>
                </a:lnTo>
                <a:lnTo>
                  <a:pt x="489545" y="951706"/>
                </a:lnTo>
                <a:lnTo>
                  <a:pt x="533058" y="952009"/>
                </a:lnTo>
                <a:lnTo>
                  <a:pt x="576387" y="947994"/>
                </a:lnTo>
                <a:lnTo>
                  <a:pt x="619104" y="939702"/>
                </a:lnTo>
                <a:lnTo>
                  <a:pt x="660788" y="927213"/>
                </a:lnTo>
                <a:lnTo>
                  <a:pt x="701027" y="910651"/>
                </a:lnTo>
                <a:lnTo>
                  <a:pt x="739425" y="890179"/>
                </a:lnTo>
                <a:lnTo>
                  <a:pt x="775604" y="866000"/>
                </a:lnTo>
                <a:lnTo>
                  <a:pt x="809205" y="838351"/>
                </a:lnTo>
                <a:lnTo>
                  <a:pt x="839898" y="807506"/>
                </a:lnTo>
                <a:lnTo>
                  <a:pt x="867380" y="773768"/>
                </a:lnTo>
                <a:lnTo>
                  <a:pt x="891380" y="737470"/>
                </a:lnTo>
                <a:lnTo>
                  <a:pt x="911662" y="698971"/>
                </a:lnTo>
                <a:lnTo>
                  <a:pt x="928024" y="658651"/>
                </a:lnTo>
                <a:lnTo>
                  <a:pt x="940307" y="616906"/>
                </a:lnTo>
                <a:lnTo>
                  <a:pt x="948388" y="574148"/>
                </a:lnTo>
                <a:lnTo>
                  <a:pt x="952188" y="530800"/>
                </a:lnTo>
                <a:lnTo>
                  <a:pt x="951669" y="487289"/>
                </a:lnTo>
                <a:lnTo>
                  <a:pt x="946837" y="444043"/>
                </a:lnTo>
                <a:lnTo>
                  <a:pt x="937740" y="401490"/>
                </a:lnTo>
                <a:lnTo>
                  <a:pt x="924466" y="360050"/>
                </a:lnTo>
                <a:lnTo>
                  <a:pt x="907147" y="320130"/>
                </a:lnTo>
                <a:lnTo>
                  <a:pt x="885954" y="282126"/>
                </a:lnTo>
                <a:lnTo>
                  <a:pt x="861096" y="246410"/>
                </a:lnTo>
                <a:lnTo>
                  <a:pt x="832818" y="213337"/>
                </a:lnTo>
                <a:lnTo>
                  <a:pt x="801399" y="183232"/>
                </a:lnTo>
                <a:lnTo>
                  <a:pt x="767148" y="156392"/>
                </a:lnTo>
                <a:lnTo>
                  <a:pt x="730404" y="133081"/>
                </a:lnTo>
                <a:lnTo>
                  <a:pt x="691529" y="113530"/>
                </a:lnTo>
                <a:lnTo>
                  <a:pt x="650906" y="97932"/>
                </a:lnTo>
                <a:lnTo>
                  <a:pt x="608937" y="86440"/>
                </a:lnTo>
                <a:lnTo>
                  <a:pt x="566034" y="79167"/>
                </a:lnTo>
                <a:lnTo>
                  <a:pt x="522622" y="76186"/>
                </a:lnTo>
                <a:lnTo>
                  <a:pt x="479128" y="77526"/>
                </a:lnTo>
                <a:lnTo>
                  <a:pt x="435982" y="83174"/>
                </a:lnTo>
                <a:lnTo>
                  <a:pt x="393609" y="93073"/>
                </a:lnTo>
                <a:lnTo>
                  <a:pt x="352426" y="107127"/>
                </a:lnTo>
                <a:lnTo>
                  <a:pt x="312841" y="125196"/>
                </a:lnTo>
                <a:lnTo>
                  <a:pt x="275243" y="147103"/>
                </a:lnTo>
                <a:lnTo>
                  <a:pt x="240003" y="172631"/>
                </a:lnTo>
                <a:lnTo>
                  <a:pt x="207470" y="201528"/>
                </a:lnTo>
                <a:lnTo>
                  <a:pt x="177963" y="233511"/>
                </a:lnTo>
                <a:lnTo>
                  <a:pt x="151774" y="268262"/>
                </a:lnTo>
                <a:lnTo>
                  <a:pt x="129162" y="305439"/>
                </a:lnTo>
                <a:lnTo>
                  <a:pt x="110348" y="344677"/>
                </a:lnTo>
                <a:lnTo>
                  <a:pt x="95519" y="385587"/>
                </a:lnTo>
                <a:lnTo>
                  <a:pt x="84822" y="427766"/>
                </a:lnTo>
                <a:lnTo>
                  <a:pt x="78361" y="470798"/>
                </a:lnTo>
                <a:lnTo>
                  <a:pt x="76200" y="514258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75294" y="189833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0680" y="2188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后端服务</a:t>
            </a:r>
          </a:p>
        </p:txBody>
      </p:sp>
      <p:sp>
        <p:nvSpPr>
          <p:cNvPr id="12" name="Ellipse 12"/>
          <p:cNvSpPr/>
          <p:nvPr/>
        </p:nvSpPr>
        <p:spPr>
          <a:xfrm>
            <a:off x="5619750" y="1619250"/>
            <a:ext cx="952500" cy="952500"/>
          </a:xfrm>
          <a:prstGeom prst="ellipse">
            <a:avLst/>
          </a:prstGeom>
          <a:noFill/>
          <a:ln w="76200">
            <a:solidFill>
              <a:srgbClr val="E5E7EB"/>
            </a:solidFill>
          </a:ln>
        </p:spPr>
      </p:sp>
      <p:sp>
        <p:nvSpPr>
          <p:cNvPr id="13" name="Arc 13"/>
          <p:cNvSpPr/>
          <p:nvPr/>
        </p:nvSpPr>
        <p:spPr>
          <a:xfrm>
            <a:off x="5581650" y="1581170"/>
            <a:ext cx="1028619" cy="1028497"/>
          </a:xfrm>
          <a:custGeom>
            <a:avLst/>
            <a:gdLst/>
            <a:ahLst/>
            <a:cxnLst/>
            <a:rect l="l" t="t" r="r" b="b"/>
            <a:pathLst>
              <a:path w="1028619" h="1028497">
                <a:moveTo>
                  <a:pt x="0" y="514330"/>
                </a:moveTo>
                <a:lnTo>
                  <a:pt x="2505" y="463630"/>
                </a:lnTo>
                <a:lnTo>
                  <a:pt x="9995" y="413425"/>
                </a:lnTo>
                <a:lnTo>
                  <a:pt x="22397" y="364202"/>
                </a:lnTo>
                <a:lnTo>
                  <a:pt x="39591" y="316441"/>
                </a:lnTo>
                <a:lnTo>
                  <a:pt x="61409" y="270608"/>
                </a:lnTo>
                <a:lnTo>
                  <a:pt x="87638" y="227149"/>
                </a:lnTo>
                <a:lnTo>
                  <a:pt x="118024" y="186486"/>
                </a:lnTo>
                <a:lnTo>
                  <a:pt x="152269" y="149017"/>
                </a:lnTo>
                <a:lnTo>
                  <a:pt x="190041" y="115106"/>
                </a:lnTo>
                <a:lnTo>
                  <a:pt x="230972" y="85083"/>
                </a:lnTo>
                <a:lnTo>
                  <a:pt x="274663" y="59241"/>
                </a:lnTo>
                <a:lnTo>
                  <a:pt x="320688" y="37831"/>
                </a:lnTo>
                <a:lnTo>
                  <a:pt x="368600" y="21062"/>
                </a:lnTo>
                <a:lnTo>
                  <a:pt x="417931" y="9098"/>
                </a:lnTo>
                <a:lnTo>
                  <a:pt x="468201" y="2054"/>
                </a:lnTo>
                <a:lnTo>
                  <a:pt x="518921" y="0"/>
                </a:lnTo>
                <a:lnTo>
                  <a:pt x="569596" y="2955"/>
                </a:lnTo>
                <a:lnTo>
                  <a:pt x="619733" y="10891"/>
                </a:lnTo>
                <a:lnTo>
                  <a:pt x="668843" y="23730"/>
                </a:lnTo>
                <a:lnTo>
                  <a:pt x="716449" y="41348"/>
                </a:lnTo>
                <a:lnTo>
                  <a:pt x="762087" y="63572"/>
                </a:lnTo>
                <a:lnTo>
                  <a:pt x="805312" y="90187"/>
                </a:lnTo>
                <a:lnTo>
                  <a:pt x="845702" y="120932"/>
                </a:lnTo>
                <a:lnTo>
                  <a:pt x="882866" y="155509"/>
                </a:lnTo>
                <a:lnTo>
                  <a:pt x="916440" y="193581"/>
                </a:lnTo>
                <a:lnTo>
                  <a:pt x="946098" y="234777"/>
                </a:lnTo>
                <a:lnTo>
                  <a:pt x="971551" y="278696"/>
                </a:lnTo>
                <a:lnTo>
                  <a:pt x="992551" y="324910"/>
                </a:lnTo>
                <a:lnTo>
                  <a:pt x="1008893" y="372968"/>
                </a:lnTo>
                <a:lnTo>
                  <a:pt x="1020419" y="422404"/>
                </a:lnTo>
                <a:lnTo>
                  <a:pt x="1027015" y="472735"/>
                </a:lnTo>
                <a:lnTo>
                  <a:pt x="1028619" y="523470"/>
                </a:lnTo>
                <a:lnTo>
                  <a:pt x="1025213" y="574117"/>
                </a:lnTo>
                <a:lnTo>
                  <a:pt x="1016832" y="624182"/>
                </a:lnTo>
                <a:lnTo>
                  <a:pt x="1003557" y="673177"/>
                </a:lnTo>
                <a:lnTo>
                  <a:pt x="985517" y="720624"/>
                </a:lnTo>
                <a:lnTo>
                  <a:pt x="962888" y="766062"/>
                </a:lnTo>
                <a:lnTo>
                  <a:pt x="935891" y="809049"/>
                </a:lnTo>
                <a:lnTo>
                  <a:pt x="904788" y="849165"/>
                </a:lnTo>
                <a:lnTo>
                  <a:pt x="869881" y="886019"/>
                </a:lnTo>
                <a:lnTo>
                  <a:pt x="831513" y="919254"/>
                </a:lnTo>
                <a:lnTo>
                  <a:pt x="790055" y="948545"/>
                </a:lnTo>
                <a:lnTo>
                  <a:pt x="745912" y="973606"/>
                </a:lnTo>
                <a:lnTo>
                  <a:pt x="699513" y="994195"/>
                </a:lnTo>
                <a:lnTo>
                  <a:pt x="651311" y="1010109"/>
                </a:lnTo>
                <a:lnTo>
                  <a:pt x="601775" y="1021195"/>
                </a:lnTo>
                <a:lnTo>
                  <a:pt x="551388" y="1027344"/>
                </a:lnTo>
                <a:lnTo>
                  <a:pt x="500640" y="1028497"/>
                </a:lnTo>
                <a:lnTo>
                  <a:pt x="450025" y="1024642"/>
                </a:lnTo>
                <a:lnTo>
                  <a:pt x="400037" y="1015816"/>
                </a:lnTo>
                <a:lnTo>
                  <a:pt x="351162" y="1002106"/>
                </a:lnTo>
                <a:lnTo>
                  <a:pt x="303877" y="983645"/>
                </a:lnTo>
                <a:lnTo>
                  <a:pt x="258642" y="960613"/>
                </a:lnTo>
                <a:lnTo>
                  <a:pt x="215897" y="933235"/>
                </a:lnTo>
                <a:lnTo>
                  <a:pt x="176059" y="901776"/>
                </a:lnTo>
                <a:lnTo>
                  <a:pt x="139516" y="866544"/>
                </a:lnTo>
                <a:lnTo>
                  <a:pt x="106623" y="827882"/>
                </a:lnTo>
                <a:lnTo>
                  <a:pt x="77702" y="786165"/>
                </a:lnTo>
                <a:lnTo>
                  <a:pt x="53034" y="741801"/>
                </a:lnTo>
                <a:lnTo>
                  <a:pt x="32858" y="695221"/>
                </a:lnTo>
                <a:lnTo>
                  <a:pt x="17373" y="646880"/>
                </a:lnTo>
                <a:lnTo>
                  <a:pt x="6728" y="597247"/>
                </a:lnTo>
                <a:lnTo>
                  <a:pt x="1026" y="546807"/>
                </a:lnTo>
                <a:lnTo>
                  <a:pt x="77074" y="541996"/>
                </a:lnTo>
                <a:lnTo>
                  <a:pt x="81931" y="584963"/>
                </a:lnTo>
                <a:lnTo>
                  <a:pt x="90999" y="627243"/>
                </a:lnTo>
                <a:lnTo>
                  <a:pt x="104191" y="668423"/>
                </a:lnTo>
                <a:lnTo>
                  <a:pt x="121377" y="708102"/>
                </a:lnTo>
                <a:lnTo>
                  <a:pt x="142391" y="745893"/>
                </a:lnTo>
                <a:lnTo>
                  <a:pt x="167027" y="781430"/>
                </a:lnTo>
                <a:lnTo>
                  <a:pt x="195047" y="814364"/>
                </a:lnTo>
                <a:lnTo>
                  <a:pt x="226176" y="844377"/>
                </a:lnTo>
                <a:lnTo>
                  <a:pt x="260112" y="871175"/>
                </a:lnTo>
                <a:lnTo>
                  <a:pt x="296524" y="894497"/>
                </a:lnTo>
                <a:lnTo>
                  <a:pt x="335058" y="914117"/>
                </a:lnTo>
                <a:lnTo>
                  <a:pt x="375338" y="929843"/>
                </a:lnTo>
                <a:lnTo>
                  <a:pt x="416972" y="941522"/>
                </a:lnTo>
                <a:lnTo>
                  <a:pt x="459555" y="949040"/>
                </a:lnTo>
                <a:lnTo>
                  <a:pt x="502671" y="952324"/>
                </a:lnTo>
                <a:lnTo>
                  <a:pt x="545901" y="951342"/>
                </a:lnTo>
                <a:lnTo>
                  <a:pt x="588823" y="946104"/>
                </a:lnTo>
                <a:lnTo>
                  <a:pt x="631021" y="936661"/>
                </a:lnTo>
                <a:lnTo>
                  <a:pt x="672082" y="923104"/>
                </a:lnTo>
                <a:lnTo>
                  <a:pt x="711606" y="905565"/>
                </a:lnTo>
                <a:lnTo>
                  <a:pt x="749210" y="884217"/>
                </a:lnTo>
                <a:lnTo>
                  <a:pt x="784526" y="859265"/>
                </a:lnTo>
                <a:lnTo>
                  <a:pt x="817210" y="830954"/>
                </a:lnTo>
                <a:lnTo>
                  <a:pt x="846945" y="799560"/>
                </a:lnTo>
                <a:lnTo>
                  <a:pt x="873440" y="765387"/>
                </a:lnTo>
                <a:lnTo>
                  <a:pt x="896438" y="728769"/>
                </a:lnTo>
                <a:lnTo>
                  <a:pt x="915715" y="690062"/>
                </a:lnTo>
                <a:lnTo>
                  <a:pt x="931082" y="649644"/>
                </a:lnTo>
                <a:lnTo>
                  <a:pt x="942390" y="607907"/>
                </a:lnTo>
                <a:lnTo>
                  <a:pt x="949530" y="565260"/>
                </a:lnTo>
                <a:lnTo>
                  <a:pt x="952431" y="522116"/>
                </a:lnTo>
                <a:lnTo>
                  <a:pt x="951065" y="478897"/>
                </a:lnTo>
                <a:lnTo>
                  <a:pt x="945446" y="436022"/>
                </a:lnTo>
                <a:lnTo>
                  <a:pt x="935627" y="393911"/>
                </a:lnTo>
                <a:lnTo>
                  <a:pt x="921706" y="352972"/>
                </a:lnTo>
                <a:lnTo>
                  <a:pt x="903817" y="313605"/>
                </a:lnTo>
                <a:lnTo>
                  <a:pt x="882135" y="276192"/>
                </a:lnTo>
                <a:lnTo>
                  <a:pt x="856871" y="241100"/>
                </a:lnTo>
                <a:lnTo>
                  <a:pt x="828271" y="208668"/>
                </a:lnTo>
                <a:lnTo>
                  <a:pt x="796613" y="179213"/>
                </a:lnTo>
                <a:lnTo>
                  <a:pt x="762206" y="153023"/>
                </a:lnTo>
                <a:lnTo>
                  <a:pt x="725385" y="130351"/>
                </a:lnTo>
                <a:lnTo>
                  <a:pt x="686509" y="111419"/>
                </a:lnTo>
                <a:lnTo>
                  <a:pt x="645956" y="96412"/>
                </a:lnTo>
                <a:lnTo>
                  <a:pt x="604120" y="85475"/>
                </a:lnTo>
                <a:lnTo>
                  <a:pt x="561411" y="78714"/>
                </a:lnTo>
                <a:lnTo>
                  <a:pt x="518243" y="76197"/>
                </a:lnTo>
                <a:lnTo>
                  <a:pt x="475038" y="77947"/>
                </a:lnTo>
                <a:lnTo>
                  <a:pt x="432215" y="83947"/>
                </a:lnTo>
                <a:lnTo>
                  <a:pt x="390192" y="94139"/>
                </a:lnTo>
                <a:lnTo>
                  <a:pt x="349379" y="108423"/>
                </a:lnTo>
                <a:lnTo>
                  <a:pt x="310172" y="126661"/>
                </a:lnTo>
                <a:lnTo>
                  <a:pt x="272954" y="148675"/>
                </a:lnTo>
                <a:lnTo>
                  <a:pt x="238087" y="174250"/>
                </a:lnTo>
                <a:lnTo>
                  <a:pt x="205911" y="203137"/>
                </a:lnTo>
                <a:lnTo>
                  <a:pt x="176739" y="235056"/>
                </a:lnTo>
                <a:lnTo>
                  <a:pt x="150855" y="269694"/>
                </a:lnTo>
                <a:lnTo>
                  <a:pt x="128511" y="306715"/>
                </a:lnTo>
                <a:lnTo>
                  <a:pt x="109926" y="345758"/>
                </a:lnTo>
                <a:lnTo>
                  <a:pt x="95279" y="386443"/>
                </a:lnTo>
                <a:lnTo>
                  <a:pt x="84714" y="428374"/>
                </a:lnTo>
                <a:lnTo>
                  <a:pt x="78334" y="471141"/>
                </a:lnTo>
                <a:lnTo>
                  <a:pt x="76200" y="51433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866294" y="189833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99%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680" y="2188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管理后台</a:t>
            </a:r>
          </a:p>
        </p:txBody>
      </p:sp>
      <p:sp>
        <p:nvSpPr>
          <p:cNvPr id="16" name="Ellipse 16"/>
          <p:cNvSpPr/>
          <p:nvPr/>
        </p:nvSpPr>
        <p:spPr>
          <a:xfrm>
            <a:off x="9810750" y="1619250"/>
            <a:ext cx="952500" cy="952500"/>
          </a:xfrm>
          <a:prstGeom prst="ellipse">
            <a:avLst/>
          </a:prstGeom>
          <a:noFill/>
          <a:ln w="76200">
            <a:solidFill>
              <a:srgbClr val="E5E7EB"/>
            </a:solidFill>
          </a:ln>
        </p:spPr>
      </p:sp>
      <p:sp>
        <p:nvSpPr>
          <p:cNvPr id="17" name="Arc 17"/>
          <p:cNvSpPr/>
          <p:nvPr/>
        </p:nvSpPr>
        <p:spPr>
          <a:xfrm>
            <a:off x="9772650" y="1581167"/>
            <a:ext cx="1028630" cy="1028526"/>
          </a:xfrm>
          <a:custGeom>
            <a:avLst/>
            <a:gdLst/>
            <a:ahLst/>
            <a:cxnLst/>
            <a:rect l="l" t="t" r="r" b="b"/>
            <a:pathLst>
              <a:path w="1028630" h="1028526">
                <a:moveTo>
                  <a:pt x="0" y="514333"/>
                </a:moveTo>
                <a:lnTo>
                  <a:pt x="2503" y="463655"/>
                </a:lnTo>
                <a:lnTo>
                  <a:pt x="9986" y="413470"/>
                </a:lnTo>
                <a:lnTo>
                  <a:pt x="22378" y="364266"/>
                </a:lnTo>
                <a:lnTo>
                  <a:pt x="39558" y="316523"/>
                </a:lnTo>
                <a:lnTo>
                  <a:pt x="61358" y="270705"/>
                </a:lnTo>
                <a:lnTo>
                  <a:pt x="87566" y="227258"/>
                </a:lnTo>
                <a:lnTo>
                  <a:pt x="117928" y="186605"/>
                </a:lnTo>
                <a:lnTo>
                  <a:pt x="152148" y="149141"/>
                </a:lnTo>
                <a:lnTo>
                  <a:pt x="189892" y="115230"/>
                </a:lnTo>
                <a:lnTo>
                  <a:pt x="230793" y="85204"/>
                </a:lnTo>
                <a:lnTo>
                  <a:pt x="274454" y="59353"/>
                </a:lnTo>
                <a:lnTo>
                  <a:pt x="320450" y="37931"/>
                </a:lnTo>
                <a:lnTo>
                  <a:pt x="368333" y="21144"/>
                </a:lnTo>
                <a:lnTo>
                  <a:pt x="417636" y="9157"/>
                </a:lnTo>
                <a:lnTo>
                  <a:pt x="467881" y="2086"/>
                </a:lnTo>
                <a:lnTo>
                  <a:pt x="518578" y="0"/>
                </a:lnTo>
                <a:lnTo>
                  <a:pt x="569234" y="2919"/>
                </a:lnTo>
                <a:lnTo>
                  <a:pt x="619355" y="10815"/>
                </a:lnTo>
                <a:lnTo>
                  <a:pt x="668455" y="23611"/>
                </a:lnTo>
                <a:lnTo>
                  <a:pt x="716055" y="41183"/>
                </a:lnTo>
                <a:lnTo>
                  <a:pt x="761693" y="63359"/>
                </a:lnTo>
                <a:lnTo>
                  <a:pt x="804923" y="89923"/>
                </a:lnTo>
                <a:lnTo>
                  <a:pt x="845325" y="120618"/>
                </a:lnTo>
                <a:lnTo>
                  <a:pt x="882507" y="155144"/>
                </a:lnTo>
                <a:lnTo>
                  <a:pt x="916106" y="193166"/>
                </a:lnTo>
                <a:lnTo>
                  <a:pt x="945795" y="234313"/>
                </a:lnTo>
                <a:lnTo>
                  <a:pt x="971286" y="278185"/>
                </a:lnTo>
                <a:lnTo>
                  <a:pt x="992330" y="324355"/>
                </a:lnTo>
                <a:lnTo>
                  <a:pt x="1008722" y="372374"/>
                </a:lnTo>
                <a:lnTo>
                  <a:pt x="1020304" y="421775"/>
                </a:lnTo>
                <a:lnTo>
                  <a:pt x="1026961" y="472076"/>
                </a:lnTo>
                <a:lnTo>
                  <a:pt x="1028630" y="522788"/>
                </a:lnTo>
                <a:lnTo>
                  <a:pt x="1025295" y="573418"/>
                </a:lnTo>
                <a:lnTo>
                  <a:pt x="1016987" y="623473"/>
                </a:lnTo>
                <a:lnTo>
                  <a:pt x="1003788" y="672466"/>
                </a:lnTo>
                <a:lnTo>
                  <a:pt x="985826" y="719921"/>
                </a:lnTo>
                <a:lnTo>
                  <a:pt x="963276" y="765374"/>
                </a:lnTo>
                <a:lnTo>
                  <a:pt x="936357" y="808384"/>
                </a:lnTo>
                <a:lnTo>
                  <a:pt x="905331" y="848533"/>
                </a:lnTo>
                <a:lnTo>
                  <a:pt x="870500" y="885430"/>
                </a:lnTo>
                <a:lnTo>
                  <a:pt x="832203" y="918715"/>
                </a:lnTo>
                <a:lnTo>
                  <a:pt x="790814" y="948065"/>
                </a:lnTo>
                <a:lnTo>
                  <a:pt x="746734" y="973194"/>
                </a:lnTo>
                <a:lnTo>
                  <a:pt x="700392" y="993858"/>
                </a:lnTo>
                <a:lnTo>
                  <a:pt x="652240" y="1009855"/>
                </a:lnTo>
                <a:lnTo>
                  <a:pt x="602746" y="1021030"/>
                </a:lnTo>
                <a:lnTo>
                  <a:pt x="552392" y="1027274"/>
                </a:lnTo>
                <a:lnTo>
                  <a:pt x="501667" y="1028526"/>
                </a:lnTo>
                <a:lnTo>
                  <a:pt x="451066" y="1024775"/>
                </a:lnTo>
                <a:lnTo>
                  <a:pt x="401081" y="1016056"/>
                </a:lnTo>
                <a:lnTo>
                  <a:pt x="352198" y="1002454"/>
                </a:lnTo>
                <a:lnTo>
                  <a:pt x="304894" y="984103"/>
                </a:lnTo>
                <a:lnTo>
                  <a:pt x="259627" y="961179"/>
                </a:lnTo>
                <a:lnTo>
                  <a:pt x="216839" y="933908"/>
                </a:lnTo>
                <a:lnTo>
                  <a:pt x="176947" y="902553"/>
                </a:lnTo>
                <a:lnTo>
                  <a:pt x="140338" y="867420"/>
                </a:lnTo>
                <a:lnTo>
                  <a:pt x="107369" y="828851"/>
                </a:lnTo>
                <a:lnTo>
                  <a:pt x="78360" y="787222"/>
                </a:lnTo>
                <a:lnTo>
                  <a:pt x="53594" y="742936"/>
                </a:lnTo>
                <a:lnTo>
                  <a:pt x="33312" y="696427"/>
                </a:lnTo>
                <a:lnTo>
                  <a:pt x="17711" y="648145"/>
                </a:lnTo>
                <a:lnTo>
                  <a:pt x="91287" y="628321"/>
                </a:lnTo>
                <a:lnTo>
                  <a:pt x="104577" y="669450"/>
                </a:lnTo>
                <a:lnTo>
                  <a:pt x="121854" y="709069"/>
                </a:lnTo>
                <a:lnTo>
                  <a:pt x="142951" y="746794"/>
                </a:lnTo>
                <a:lnTo>
                  <a:pt x="167662" y="782256"/>
                </a:lnTo>
                <a:lnTo>
                  <a:pt x="195747" y="815111"/>
                </a:lnTo>
                <a:lnTo>
                  <a:pt x="226932" y="845039"/>
                </a:lnTo>
                <a:lnTo>
                  <a:pt x="260915" y="871748"/>
                </a:lnTo>
                <a:lnTo>
                  <a:pt x="297364" y="894980"/>
                </a:lnTo>
                <a:lnTo>
                  <a:pt x="335924" y="914507"/>
                </a:lnTo>
                <a:lnTo>
                  <a:pt x="376221" y="930140"/>
                </a:lnTo>
                <a:lnTo>
                  <a:pt x="417862" y="941726"/>
                </a:lnTo>
                <a:lnTo>
                  <a:pt x="460442" y="949154"/>
                </a:lnTo>
                <a:lnTo>
                  <a:pt x="503546" y="952349"/>
                </a:lnTo>
                <a:lnTo>
                  <a:pt x="546756" y="951283"/>
                </a:lnTo>
                <a:lnTo>
                  <a:pt x="589650" y="945964"/>
                </a:lnTo>
                <a:lnTo>
                  <a:pt x="631812" y="936444"/>
                </a:lnTo>
                <a:lnTo>
                  <a:pt x="672830" y="922817"/>
                </a:lnTo>
                <a:lnTo>
                  <a:pt x="712306" y="905215"/>
                </a:lnTo>
                <a:lnTo>
                  <a:pt x="749856" y="883808"/>
                </a:lnTo>
                <a:lnTo>
                  <a:pt x="785114" y="858807"/>
                </a:lnTo>
                <a:lnTo>
                  <a:pt x="817737" y="830452"/>
                </a:lnTo>
                <a:lnTo>
                  <a:pt x="847408" y="799022"/>
                </a:lnTo>
                <a:lnTo>
                  <a:pt x="873837" y="764821"/>
                </a:lnTo>
                <a:lnTo>
                  <a:pt x="896768" y="728183"/>
                </a:lnTo>
                <a:lnTo>
                  <a:pt x="915978" y="689463"/>
                </a:lnTo>
                <a:lnTo>
                  <a:pt x="931279" y="649039"/>
                </a:lnTo>
                <a:lnTo>
                  <a:pt x="942522" y="607304"/>
                </a:lnTo>
                <a:lnTo>
                  <a:pt x="949599" y="564665"/>
                </a:lnTo>
                <a:lnTo>
                  <a:pt x="952441" y="521536"/>
                </a:lnTo>
                <a:lnTo>
                  <a:pt x="951019" y="478336"/>
                </a:lnTo>
                <a:lnTo>
                  <a:pt x="945347" y="435487"/>
                </a:lnTo>
                <a:lnTo>
                  <a:pt x="935482" y="393405"/>
                </a:lnTo>
                <a:lnTo>
                  <a:pt x="921518" y="352500"/>
                </a:lnTo>
                <a:lnTo>
                  <a:pt x="903592" y="313170"/>
                </a:lnTo>
                <a:lnTo>
                  <a:pt x="881877" y="275797"/>
                </a:lnTo>
                <a:lnTo>
                  <a:pt x="856587" y="240746"/>
                </a:lnTo>
                <a:lnTo>
                  <a:pt x="827965" y="208357"/>
                </a:lnTo>
                <a:lnTo>
                  <a:pt x="796292" y="178946"/>
                </a:lnTo>
                <a:lnTo>
                  <a:pt x="761875" y="152799"/>
                </a:lnTo>
                <a:lnTo>
                  <a:pt x="725049" y="130170"/>
                </a:lnTo>
                <a:lnTo>
                  <a:pt x="686173" y="111279"/>
                </a:lnTo>
                <a:lnTo>
                  <a:pt x="645625" y="96311"/>
                </a:lnTo>
                <a:lnTo>
                  <a:pt x="603799" y="85410"/>
                </a:lnTo>
                <a:lnTo>
                  <a:pt x="561103" y="78684"/>
                </a:lnTo>
                <a:lnTo>
                  <a:pt x="517952" y="76197"/>
                </a:lnTo>
                <a:lnTo>
                  <a:pt x="474765" y="77974"/>
                </a:lnTo>
                <a:lnTo>
                  <a:pt x="431964" y="83998"/>
                </a:lnTo>
                <a:lnTo>
                  <a:pt x="389965" y="94209"/>
                </a:lnTo>
                <a:lnTo>
                  <a:pt x="349176" y="108509"/>
                </a:lnTo>
                <a:lnTo>
                  <a:pt x="309995" y="126758"/>
                </a:lnTo>
                <a:lnTo>
                  <a:pt x="272802" y="148778"/>
                </a:lnTo>
                <a:lnTo>
                  <a:pt x="237960" y="174356"/>
                </a:lnTo>
                <a:lnTo>
                  <a:pt x="205807" y="203243"/>
                </a:lnTo>
                <a:lnTo>
                  <a:pt x="176657" y="235157"/>
                </a:lnTo>
                <a:lnTo>
                  <a:pt x="150794" y="269788"/>
                </a:lnTo>
                <a:lnTo>
                  <a:pt x="128468" y="306798"/>
                </a:lnTo>
                <a:lnTo>
                  <a:pt x="109898" y="345828"/>
                </a:lnTo>
                <a:lnTo>
                  <a:pt x="95263" y="386498"/>
                </a:lnTo>
                <a:lnTo>
                  <a:pt x="84707" y="428412"/>
                </a:lnTo>
                <a:lnTo>
                  <a:pt x="78332" y="471162"/>
                </a:lnTo>
                <a:lnTo>
                  <a:pt x="76200" y="514333"/>
                </a:lnTo>
                <a:close/>
              </a:path>
            </a:pathLst>
          </a:custGeom>
          <a:solidFill>
            <a:srgbClr val="8B5C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057294" y="189833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12680" y="2188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小程序端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95275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00200"/>
                </a:lnTo>
                <a:cubicBezTo>
                  <a:pt x="5334000" y="1663326"/>
                  <a:pt x="5282826" y="1714500"/>
                  <a:pt x="521970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46760" y="30899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版本里程碑</a:t>
            </a:r>
          </a:p>
        </p:txBody>
      </p:sp>
      <p:sp>
        <p:nvSpPr>
          <p:cNvPr id="22" name="Line 22"/>
          <p:cNvSpPr/>
          <p:nvPr/>
        </p:nvSpPr>
        <p:spPr>
          <a:xfrm>
            <a:off x="952500" y="34766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9050">
            <a:solidFill>
              <a:srgbClr val="E5E7EB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066800" y="3400425"/>
            <a:ext cx="152400" cy="152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21578" y="3449955"/>
            <a:ext cx="4284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3676" y="3673316"/>
            <a:ext cx="558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V1.0 基础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2615" y="384333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4455" y="3984784"/>
            <a:ext cx="71709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用户/商品/搜索</a:t>
            </a:r>
          </a:p>
        </p:txBody>
      </p:sp>
      <p:sp>
        <p:nvSpPr>
          <p:cNvPr id="28" name="Ellipse 28"/>
          <p:cNvSpPr/>
          <p:nvPr/>
        </p:nvSpPr>
        <p:spPr>
          <a:xfrm>
            <a:off x="2400300" y="3400425"/>
            <a:ext cx="152400" cy="152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443577" y="3449955"/>
            <a:ext cx="6584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73086" y="3673316"/>
            <a:ext cx="4068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V1.1 IM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56115" y="384333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15491" y="3984784"/>
            <a:ext cx="72201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WebSocket通讯</a:t>
            </a:r>
          </a:p>
        </p:txBody>
      </p:sp>
      <p:sp>
        <p:nvSpPr>
          <p:cNvPr id="33" name="Ellipse 33"/>
          <p:cNvSpPr/>
          <p:nvPr/>
        </p:nvSpPr>
        <p:spPr>
          <a:xfrm>
            <a:off x="3733800" y="3400425"/>
            <a:ext cx="152400" cy="152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777077" y="3449955"/>
            <a:ext cx="6584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30676" y="3673316"/>
            <a:ext cx="558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V1.6 认证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89615" y="384333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05676" y="3984784"/>
            <a:ext cx="60864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校园认证体系</a:t>
            </a:r>
          </a:p>
        </p:txBody>
      </p:sp>
      <p:sp>
        <p:nvSpPr>
          <p:cNvPr id="38" name="Ellipse 38"/>
          <p:cNvSpPr/>
          <p:nvPr/>
        </p:nvSpPr>
        <p:spPr>
          <a:xfrm>
            <a:off x="5048250" y="3381375"/>
            <a:ext cx="190500" cy="1905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110577" y="3449955"/>
            <a:ext cx="6584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64176" y="3673316"/>
            <a:ext cx="558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V1.9 最新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23115" y="384333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12066" y="3984784"/>
            <a:ext cx="66286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双向确认+评价</a:t>
            </a:r>
          </a:p>
        </p:txBody>
      </p:sp>
      <p:sp>
        <p:nvSpPr>
          <p:cNvPr id="43" name="Freeform 43"/>
          <p:cNvSpPr/>
          <p:nvPr/>
        </p:nvSpPr>
        <p:spPr>
          <a:xfrm>
            <a:off x="6096000" y="2952750"/>
            <a:ext cx="5524500" cy="1714500"/>
          </a:xfrm>
          <a:custGeom>
            <a:avLst/>
            <a:gdLst/>
            <a:ahLst/>
            <a:cxnLst/>
            <a:rect l="l" t="t" r="r" b="b"/>
            <a:pathLst>
              <a:path w="5524500" h="1714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1600200"/>
                </a:lnTo>
                <a:cubicBezTo>
                  <a:pt x="5524500" y="1663326"/>
                  <a:pt x="5473326" y="1714500"/>
                  <a:pt x="541020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271260" y="30899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6大核心成果</a:t>
            </a:r>
          </a:p>
        </p:txBody>
      </p:sp>
      <p:sp>
        <p:nvSpPr>
          <p:cNvPr id="45" name="Freeform 45"/>
          <p:cNvSpPr/>
          <p:nvPr/>
        </p:nvSpPr>
        <p:spPr>
          <a:xfrm>
            <a:off x="6286500" y="3352800"/>
            <a:ext cx="1666875" cy="523875"/>
          </a:xfrm>
          <a:custGeom>
            <a:avLst/>
            <a:gdLst/>
            <a:ahLst/>
            <a:cxnLst/>
            <a:rect l="l" t="t" r="r" b="b"/>
            <a:pathLst>
              <a:path w="1666875" h="523875">
                <a:moveTo>
                  <a:pt x="76200" y="0"/>
                </a:moveTo>
                <a:lnTo>
                  <a:pt x="1590675" y="0"/>
                </a:lnTo>
                <a:cubicBezTo>
                  <a:pt x="1632759" y="0"/>
                  <a:pt x="1666875" y="34116"/>
                  <a:pt x="1666875" y="76200"/>
                </a:cubicBezTo>
                <a:lnTo>
                  <a:pt x="1666875" y="447675"/>
                </a:lnTo>
                <a:cubicBezTo>
                  <a:pt x="1666875" y="489759"/>
                  <a:pt x="1632759" y="523875"/>
                  <a:pt x="1590675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700764" y="3458528"/>
            <a:ext cx="847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22张数据表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32258" y="370189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完整业务数据模型</a:t>
            </a:r>
          </a:p>
        </p:txBody>
      </p:sp>
      <p:sp>
        <p:nvSpPr>
          <p:cNvPr id="48" name="Freeform 48"/>
          <p:cNvSpPr/>
          <p:nvPr/>
        </p:nvSpPr>
        <p:spPr>
          <a:xfrm>
            <a:off x="8077200" y="3352800"/>
            <a:ext cx="1666875" cy="523875"/>
          </a:xfrm>
          <a:custGeom>
            <a:avLst/>
            <a:gdLst/>
            <a:ahLst/>
            <a:cxnLst/>
            <a:rect l="l" t="t" r="r" b="b"/>
            <a:pathLst>
              <a:path w="1666875" h="523875">
                <a:moveTo>
                  <a:pt x="76200" y="0"/>
                </a:moveTo>
                <a:lnTo>
                  <a:pt x="1590675" y="0"/>
                </a:lnTo>
                <a:cubicBezTo>
                  <a:pt x="1632759" y="0"/>
                  <a:pt x="1666875" y="34116"/>
                  <a:pt x="1666875" y="76200"/>
                </a:cubicBezTo>
                <a:lnTo>
                  <a:pt x="1666875" y="447675"/>
                </a:lnTo>
                <a:cubicBezTo>
                  <a:pt x="1666875" y="489759"/>
                  <a:pt x="1632759" y="523875"/>
                  <a:pt x="1590675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620280" y="3458528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42个API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47056" y="3701891"/>
            <a:ext cx="9366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RESTful统一接口</a:t>
            </a:r>
          </a:p>
        </p:txBody>
      </p:sp>
      <p:sp>
        <p:nvSpPr>
          <p:cNvPr id="51" name="Freeform 51"/>
          <p:cNvSpPr/>
          <p:nvPr/>
        </p:nvSpPr>
        <p:spPr>
          <a:xfrm>
            <a:off x="9867900" y="3352800"/>
            <a:ext cx="1666875" cy="523875"/>
          </a:xfrm>
          <a:custGeom>
            <a:avLst/>
            <a:gdLst/>
            <a:ahLst/>
            <a:cxnLst/>
            <a:rect l="l" t="t" r="r" b="b"/>
            <a:pathLst>
              <a:path w="1666875" h="523875">
                <a:moveTo>
                  <a:pt x="76200" y="0"/>
                </a:moveTo>
                <a:lnTo>
                  <a:pt x="1590675" y="0"/>
                </a:lnTo>
                <a:cubicBezTo>
                  <a:pt x="1632759" y="0"/>
                  <a:pt x="1666875" y="34116"/>
                  <a:pt x="1666875" y="76200"/>
                </a:cubicBezTo>
                <a:lnTo>
                  <a:pt x="1666875" y="447675"/>
                </a:lnTo>
                <a:cubicBezTo>
                  <a:pt x="1666875" y="489759"/>
                  <a:pt x="1632759" y="523875"/>
                  <a:pt x="1590675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3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245934" y="3458528"/>
            <a:ext cx="9203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7个定时任务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334149" y="37018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全自动化运维</a:t>
            </a:r>
          </a:p>
        </p:txBody>
      </p:sp>
      <p:sp>
        <p:nvSpPr>
          <p:cNvPr id="54" name="Freeform 54"/>
          <p:cNvSpPr/>
          <p:nvPr/>
        </p:nvSpPr>
        <p:spPr>
          <a:xfrm>
            <a:off x="6286500" y="3981450"/>
            <a:ext cx="1666875" cy="523875"/>
          </a:xfrm>
          <a:custGeom>
            <a:avLst/>
            <a:gdLst/>
            <a:ahLst/>
            <a:cxnLst/>
            <a:rect l="l" t="t" r="r" b="b"/>
            <a:pathLst>
              <a:path w="1666875" h="523875">
                <a:moveTo>
                  <a:pt x="76200" y="0"/>
                </a:moveTo>
                <a:lnTo>
                  <a:pt x="1590675" y="0"/>
                </a:lnTo>
                <a:cubicBezTo>
                  <a:pt x="1632759" y="0"/>
                  <a:pt x="1666875" y="34116"/>
                  <a:pt x="1666875" y="76200"/>
                </a:cubicBezTo>
                <a:lnTo>
                  <a:pt x="1666875" y="447675"/>
                </a:lnTo>
                <a:cubicBezTo>
                  <a:pt x="1666875" y="489759"/>
                  <a:pt x="1632759" y="523875"/>
                  <a:pt x="1590675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624279" y="4087178"/>
            <a:ext cx="1000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43,613行代码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26828" y="4330541"/>
            <a:ext cx="11957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Java + Vue + uni-app</a:t>
            </a:r>
          </a:p>
        </p:txBody>
      </p:sp>
      <p:sp>
        <p:nvSpPr>
          <p:cNvPr id="57" name="Freeform 57"/>
          <p:cNvSpPr/>
          <p:nvPr/>
        </p:nvSpPr>
        <p:spPr>
          <a:xfrm>
            <a:off x="8077200" y="3981450"/>
            <a:ext cx="1666875" cy="523875"/>
          </a:xfrm>
          <a:custGeom>
            <a:avLst/>
            <a:gdLst/>
            <a:ahLst/>
            <a:cxnLst/>
            <a:rect l="l" t="t" r="r" b="b"/>
            <a:pathLst>
              <a:path w="1666875" h="523875">
                <a:moveTo>
                  <a:pt x="76200" y="0"/>
                </a:moveTo>
                <a:lnTo>
                  <a:pt x="1590675" y="0"/>
                </a:lnTo>
                <a:cubicBezTo>
                  <a:pt x="1632759" y="0"/>
                  <a:pt x="1666875" y="34116"/>
                  <a:pt x="1666875" y="76200"/>
                </a:cubicBezTo>
                <a:lnTo>
                  <a:pt x="1666875" y="447675"/>
                </a:lnTo>
                <a:cubicBezTo>
                  <a:pt x="1666875" y="489759"/>
                  <a:pt x="1632759" y="523875"/>
                  <a:pt x="1590675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47183" y="4087178"/>
            <a:ext cx="936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80%测试覆盖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62117" y="43305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123用例100%通过</a:t>
            </a:r>
          </a:p>
        </p:txBody>
      </p:sp>
      <p:sp>
        <p:nvSpPr>
          <p:cNvPr id="60" name="Freeform 60"/>
          <p:cNvSpPr/>
          <p:nvPr/>
        </p:nvSpPr>
        <p:spPr>
          <a:xfrm>
            <a:off x="9867900" y="3981450"/>
            <a:ext cx="1666875" cy="523875"/>
          </a:xfrm>
          <a:custGeom>
            <a:avLst/>
            <a:gdLst/>
            <a:ahLst/>
            <a:cxnLst/>
            <a:rect l="l" t="t" r="r" b="b"/>
            <a:pathLst>
              <a:path w="1666875" h="523875">
                <a:moveTo>
                  <a:pt x="76200" y="0"/>
                </a:moveTo>
                <a:lnTo>
                  <a:pt x="1590675" y="0"/>
                </a:lnTo>
                <a:cubicBezTo>
                  <a:pt x="1632759" y="0"/>
                  <a:pt x="1666875" y="34116"/>
                  <a:pt x="1666875" y="76200"/>
                </a:cubicBezTo>
                <a:lnTo>
                  <a:pt x="1666875" y="447675"/>
                </a:lnTo>
                <a:cubicBezTo>
                  <a:pt x="1666875" y="489759"/>
                  <a:pt x="1632759" y="523875"/>
                  <a:pt x="1590675" y="523875"/>
                </a:cubicBezTo>
                <a:lnTo>
                  <a:pt x="76200" y="523875"/>
                </a:lnTo>
                <a:cubicBezTo>
                  <a:pt x="34116" y="523875"/>
                  <a:pt x="0" y="489759"/>
                  <a:pt x="0" y="447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DF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0237883" y="4087178"/>
            <a:ext cx="936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98%核心完成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454640" y="43305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答辩就绪</a:t>
            </a:r>
          </a:p>
        </p:txBody>
      </p:sp>
      <p:sp>
        <p:nvSpPr>
          <p:cNvPr id="63" name="Freeform 63"/>
          <p:cNvSpPr/>
          <p:nvPr/>
        </p:nvSpPr>
        <p:spPr>
          <a:xfrm>
            <a:off x="571500" y="485775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600200"/>
                </a:lnTo>
                <a:cubicBezTo>
                  <a:pt x="11049000" y="1663326"/>
                  <a:pt x="10997826" y="1714500"/>
                  <a:pt x="1093470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  <a:prstDash val="lgDash"/>
          </a:ln>
        </p:spPr>
      </p:sp>
      <p:sp>
        <p:nvSpPr>
          <p:cNvPr id="64" name="TextBox 64"/>
          <p:cNvSpPr txBox="1"/>
          <p:nvPr/>
        </p:nvSpPr>
        <p:spPr>
          <a:xfrm>
            <a:off x="4485894" y="5490210"/>
            <a:ext cx="32202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待插入图片: miniapp_screenshots.png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817144" y="5808345"/>
            <a:ext cx="4557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建议: 3-4张小程序核心页面截图拼图（首页、商品详情、订单页、个人中心）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02924" y="6054566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B0B8C4"/>
                </a:solidFill>
                <a:latin typeface="Arial"/>
                <a:ea typeface="Microsoft YaHei"/>
                <a:cs typeface="Arial"/>
              </a:rPr>
              <a:t>建议尺寸: 700x350px · 比例 2:1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性能优化与测试质量保障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686752"/>
            <a:ext cx="47729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PERFORMANCE &amp; QUALITY ASSURANCE — 123用例100%通过 · 覆盖率78%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47750"/>
            <a:ext cx="5334000" cy="5238750"/>
          </a:xfrm>
          <a:custGeom>
            <a:avLst/>
            <a:gdLst/>
            <a:ahLst/>
            <a:cxnLst/>
            <a:rect l="l" t="t" r="r" b="b"/>
            <a:pathLst>
              <a:path w="5334000" h="5238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5124450"/>
                </a:lnTo>
                <a:cubicBezTo>
                  <a:pt x="5334000" y="5187576"/>
                  <a:pt x="5282826" y="5238750"/>
                  <a:pt x="5219700" y="5238750"/>
                </a:cubicBezTo>
                <a:lnTo>
                  <a:pt x="114300" y="5238750"/>
                </a:lnTo>
                <a:cubicBezTo>
                  <a:pt x="51174" y="5238750"/>
                  <a:pt x="0" y="5187576"/>
                  <a:pt x="0" y="512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46760" y="11849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性能优化措施</a:t>
            </a:r>
          </a:p>
        </p:txBody>
      </p:sp>
      <p:sp>
        <p:nvSpPr>
          <p:cNvPr id="8" name="Freeform 8"/>
          <p:cNvSpPr/>
          <p:nvPr/>
        </p:nvSpPr>
        <p:spPr>
          <a:xfrm>
            <a:off x="762000" y="1476375"/>
            <a:ext cx="4953000" cy="904875"/>
          </a:xfrm>
          <a:custGeom>
            <a:avLst/>
            <a:gdLst/>
            <a:ahLst/>
            <a:cxnLst/>
            <a:rect l="l" t="t" r="r" b="b"/>
            <a:pathLst>
              <a:path w="4953000" h="9048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828675"/>
                </a:lnTo>
                <a:cubicBezTo>
                  <a:pt x="4953000" y="870759"/>
                  <a:pt x="4918884" y="904875"/>
                  <a:pt x="4876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9165" y="16011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数据库优化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070" y="1826895"/>
            <a:ext cx="2776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45个组合索引 · 慢查询 &lt; 50ms · 分页查询优化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070" y="2017395"/>
            <a:ext cx="27897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LambdaQueryWrapper链式查询 · 避免N+1问题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1070" y="2207895"/>
            <a:ext cx="11664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平均查询耗时: 8ms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495550"/>
            <a:ext cx="4953000" cy="904875"/>
          </a:xfrm>
          <a:custGeom>
            <a:avLst/>
            <a:gdLst/>
            <a:ahLst/>
            <a:cxnLst/>
            <a:rect l="l" t="t" r="r" b="b"/>
            <a:pathLst>
              <a:path w="4953000" h="9048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828675"/>
                </a:lnTo>
                <a:cubicBezTo>
                  <a:pt x="4953000" y="870759"/>
                  <a:pt x="4918884" y="904875"/>
                  <a:pt x="4876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9165" y="26203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缓存优化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070" y="2846070"/>
            <a:ext cx="28160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Redis多级缓存 · Cache-Aside模式 · 命中率87%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070" y="3036570"/>
            <a:ext cx="23757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防穿透/防雪崩/主动失效 · TTL随机偏移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070" y="3227070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缓存查询耗时: 3ms (提升15倍)</a:t>
            </a:r>
          </a:p>
        </p:txBody>
      </p:sp>
      <p:sp>
        <p:nvSpPr>
          <p:cNvPr id="18" name="Freeform 18"/>
          <p:cNvSpPr/>
          <p:nvPr/>
        </p:nvSpPr>
        <p:spPr>
          <a:xfrm>
            <a:off x="762000" y="3514725"/>
            <a:ext cx="4953000" cy="904875"/>
          </a:xfrm>
          <a:custGeom>
            <a:avLst/>
            <a:gdLst/>
            <a:ahLst/>
            <a:cxnLst/>
            <a:rect l="l" t="t" r="r" b="b"/>
            <a:pathLst>
              <a:path w="4953000" h="9048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828675"/>
                </a:lnTo>
                <a:cubicBezTo>
                  <a:pt x="4953000" y="870759"/>
                  <a:pt x="4918884" y="904875"/>
                  <a:pt x="4876800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3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9165" y="36395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异步处理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" y="3865245"/>
            <a:ext cx="23362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@Async + 线程池隔离 · 通知发送异步化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1070" y="4055745"/>
            <a:ext cx="2014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商品统计异步更新 · 日志异步写入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" y="4246245"/>
            <a:ext cx="14227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主线程响应时间降低40%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2000" y="4552950"/>
            <a:ext cx="1571625" cy="714375"/>
          </a:xfrm>
          <a:custGeom>
            <a:avLst/>
            <a:gdLst/>
            <a:ahLst/>
            <a:cxnLst/>
            <a:rect l="l" t="t" r="r" b="b"/>
            <a:pathLst>
              <a:path w="1571625" h="714375">
                <a:moveTo>
                  <a:pt x="76200" y="0"/>
                </a:moveTo>
                <a:lnTo>
                  <a:pt x="1495425" y="0"/>
                </a:lnTo>
                <a:cubicBezTo>
                  <a:pt x="1537509" y="0"/>
                  <a:pt x="1571625" y="34116"/>
                  <a:pt x="1571625" y="76200"/>
                </a:cubicBezTo>
                <a:lnTo>
                  <a:pt x="1571625" y="638175"/>
                </a:lnTo>
                <a:cubicBezTo>
                  <a:pt x="1571625" y="680259"/>
                  <a:pt x="1537509" y="714375"/>
                  <a:pt x="1495425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3B82F6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288041" y="4660582"/>
            <a:ext cx="5100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8ms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1590" y="49972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平均响应</a:t>
            </a:r>
          </a:p>
        </p:txBody>
      </p:sp>
      <p:sp>
        <p:nvSpPr>
          <p:cNvPr id="26" name="Freeform 26"/>
          <p:cNvSpPr/>
          <p:nvPr/>
        </p:nvSpPr>
        <p:spPr>
          <a:xfrm>
            <a:off x="2457450" y="4552950"/>
            <a:ext cx="1571625" cy="714375"/>
          </a:xfrm>
          <a:custGeom>
            <a:avLst/>
            <a:gdLst/>
            <a:ahLst/>
            <a:cxnLst/>
            <a:rect l="l" t="t" r="r" b="b"/>
            <a:pathLst>
              <a:path w="1571625" h="714375">
                <a:moveTo>
                  <a:pt x="76200" y="0"/>
                </a:moveTo>
                <a:lnTo>
                  <a:pt x="1495425" y="0"/>
                </a:lnTo>
                <a:cubicBezTo>
                  <a:pt x="1537509" y="0"/>
                  <a:pt x="1571625" y="34116"/>
                  <a:pt x="1571625" y="76200"/>
                </a:cubicBezTo>
                <a:lnTo>
                  <a:pt x="1571625" y="638175"/>
                </a:lnTo>
                <a:cubicBezTo>
                  <a:pt x="1571625" y="680259"/>
                  <a:pt x="1537509" y="714375"/>
                  <a:pt x="1495425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10B981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2901255" y="4660582"/>
            <a:ext cx="6744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1200+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96077" y="4997291"/>
            <a:ext cx="4848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QPS峰值</a:t>
            </a:r>
          </a:p>
        </p:txBody>
      </p:sp>
      <p:sp>
        <p:nvSpPr>
          <p:cNvPr id="29" name="Freeform 29"/>
          <p:cNvSpPr/>
          <p:nvPr/>
        </p:nvSpPr>
        <p:spPr>
          <a:xfrm>
            <a:off x="4152900" y="4552950"/>
            <a:ext cx="1571625" cy="714375"/>
          </a:xfrm>
          <a:custGeom>
            <a:avLst/>
            <a:gdLst/>
            <a:ahLst/>
            <a:cxnLst/>
            <a:rect l="l" t="t" r="r" b="b"/>
            <a:pathLst>
              <a:path w="1571625" h="714375">
                <a:moveTo>
                  <a:pt x="76200" y="0"/>
                </a:moveTo>
                <a:lnTo>
                  <a:pt x="1495425" y="0"/>
                </a:lnTo>
                <a:cubicBezTo>
                  <a:pt x="1537509" y="0"/>
                  <a:pt x="1571625" y="34116"/>
                  <a:pt x="1571625" y="76200"/>
                </a:cubicBezTo>
                <a:lnTo>
                  <a:pt x="1571625" y="638175"/>
                </a:lnTo>
                <a:cubicBezTo>
                  <a:pt x="1571625" y="680259"/>
                  <a:pt x="1537509" y="714375"/>
                  <a:pt x="1495425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8B5CF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34660" y="4660582"/>
            <a:ext cx="5985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500+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92716" y="499729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WebSocket并发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410200"/>
            <a:ext cx="4953000" cy="714375"/>
          </a:xfrm>
          <a:custGeom>
            <a:avLst/>
            <a:gdLst/>
            <a:ahLst/>
            <a:cxnLst/>
            <a:rect l="l" t="t" r="r" b="b"/>
            <a:pathLst>
              <a:path w="4953000" h="7143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38175"/>
                </a:lnTo>
                <a:cubicBezTo>
                  <a:pt x="4953000" y="680259"/>
                  <a:pt x="4918884" y="714375"/>
                  <a:pt x="4876800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 w="9525">
            <a:solidFill>
              <a:srgbClr val="FCD34D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40118" y="5543074"/>
            <a:ext cx="1355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压测结果 (JMeter)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1070" y="5760720"/>
            <a:ext cx="31906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Arial"/>
                <a:ea typeface="Microsoft YaHei"/>
                <a:cs typeface="Arial"/>
              </a:rPr>
              <a:t>100并发循环10次 · 平均8ms · 错误率0% · TP99: 35ms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1070" y="5932170"/>
            <a:ext cx="2507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测试环境: 4C8G · MySQL 8.0 · Redis 7.0</a:t>
            </a:r>
          </a:p>
        </p:txBody>
      </p:sp>
      <p:sp>
        <p:nvSpPr>
          <p:cNvPr id="36" name="Freeform 36"/>
          <p:cNvSpPr/>
          <p:nvPr/>
        </p:nvSpPr>
        <p:spPr>
          <a:xfrm>
            <a:off x="6191250" y="1047750"/>
            <a:ext cx="5429250" cy="5238750"/>
          </a:xfrm>
          <a:custGeom>
            <a:avLst/>
            <a:gdLst/>
            <a:ahLst/>
            <a:cxnLst/>
            <a:rect l="l" t="t" r="r" b="b"/>
            <a:pathLst>
              <a:path w="5429250" h="5238750">
                <a:moveTo>
                  <a:pt x="114300" y="0"/>
                </a:moveTo>
                <a:lnTo>
                  <a:pt x="5314950" y="0"/>
                </a:lnTo>
                <a:cubicBezTo>
                  <a:pt x="5378076" y="0"/>
                  <a:pt x="5429250" y="51174"/>
                  <a:pt x="5429250" y="114300"/>
                </a:cubicBezTo>
                <a:lnTo>
                  <a:pt x="5429250" y="5124450"/>
                </a:lnTo>
                <a:cubicBezTo>
                  <a:pt x="5429250" y="5187576"/>
                  <a:pt x="5378076" y="5238750"/>
                  <a:pt x="5314950" y="5238750"/>
                </a:cubicBezTo>
                <a:lnTo>
                  <a:pt x="114300" y="5238750"/>
                </a:lnTo>
                <a:cubicBezTo>
                  <a:pt x="51174" y="5238750"/>
                  <a:pt x="0" y="5187576"/>
                  <a:pt x="0" y="512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E5E7E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366510" y="11849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测试质量保障体系</a:t>
            </a:r>
          </a:p>
        </p:txBody>
      </p:sp>
      <p:sp>
        <p:nvSpPr>
          <p:cNvPr id="38" name="Freeform 38"/>
          <p:cNvSpPr/>
          <p:nvPr/>
        </p:nvSpPr>
        <p:spPr>
          <a:xfrm>
            <a:off x="6381750" y="1476375"/>
            <a:ext cx="5048250" cy="1905000"/>
          </a:xfrm>
          <a:custGeom>
            <a:avLst/>
            <a:gdLst/>
            <a:ahLst/>
            <a:cxnLst/>
            <a:rect l="l" t="t" r="r" b="b"/>
            <a:pathLst>
              <a:path w="5048250" h="190500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1828800"/>
                </a:lnTo>
                <a:cubicBezTo>
                  <a:pt x="5048250" y="1870884"/>
                  <a:pt x="5014134" y="1905000"/>
                  <a:pt x="4972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89990" y="15821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测试金字塔</a:t>
            </a:r>
          </a:p>
        </p:txBody>
      </p:sp>
      <p:sp>
        <p:nvSpPr>
          <p:cNvPr id="40" name="Freeform 40"/>
          <p:cNvSpPr/>
          <p:nvPr/>
        </p:nvSpPr>
        <p:spPr>
          <a:xfrm>
            <a:off x="7143750" y="285750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323850"/>
                </a:lnTo>
                <a:cubicBezTo>
                  <a:pt x="3524250" y="355413"/>
                  <a:pt x="3498663" y="381000"/>
                  <a:pt x="346710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037498" y="2999899"/>
            <a:ext cx="17367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单元测试 75% (92个用例)</a:t>
            </a:r>
          </a:p>
        </p:txBody>
      </p:sp>
      <p:sp>
        <p:nvSpPr>
          <p:cNvPr id="42" name="Freeform 42"/>
          <p:cNvSpPr/>
          <p:nvPr/>
        </p:nvSpPr>
        <p:spPr>
          <a:xfrm>
            <a:off x="7715250" y="2362200"/>
            <a:ext cx="2381250" cy="381000"/>
          </a:xfrm>
          <a:custGeom>
            <a:avLst/>
            <a:gdLst/>
            <a:ahLst/>
            <a:cxnLst/>
            <a:rect l="l" t="t" r="r" b="b"/>
            <a:pathLst>
              <a:path w="2381250" h="381000">
                <a:moveTo>
                  <a:pt x="57150" y="0"/>
                </a:moveTo>
                <a:lnTo>
                  <a:pt x="2324100" y="0"/>
                </a:lnTo>
                <a:cubicBezTo>
                  <a:pt x="2355663" y="0"/>
                  <a:pt x="2381250" y="25587"/>
                  <a:pt x="2381250" y="57150"/>
                </a:cubicBezTo>
                <a:lnTo>
                  <a:pt x="2381250" y="323850"/>
                </a:lnTo>
                <a:cubicBezTo>
                  <a:pt x="2381250" y="355413"/>
                  <a:pt x="2355663" y="381000"/>
                  <a:pt x="232410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037498" y="2504599"/>
            <a:ext cx="17367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集成测试 20% (25个用例)</a:t>
            </a:r>
          </a:p>
        </p:txBody>
      </p:sp>
      <p:sp>
        <p:nvSpPr>
          <p:cNvPr id="44" name="Freeform 44"/>
          <p:cNvSpPr/>
          <p:nvPr/>
        </p:nvSpPr>
        <p:spPr>
          <a:xfrm>
            <a:off x="8286750" y="1866900"/>
            <a:ext cx="1238250" cy="381000"/>
          </a:xfrm>
          <a:custGeom>
            <a:avLst/>
            <a:gdLst/>
            <a:ahLst/>
            <a:cxnLst/>
            <a:rect l="l" t="t" r="r" b="b"/>
            <a:pathLst>
              <a:path w="1238250" h="38100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23850"/>
                </a:lnTo>
                <a:cubicBezTo>
                  <a:pt x="1238250" y="355413"/>
                  <a:pt x="1212663" y="381000"/>
                  <a:pt x="118110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44936" y="20092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E2E 5% (6个)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46570" y="299847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75%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18070" y="250317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20%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037195" y="20173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5%</a:t>
            </a:r>
          </a:p>
        </p:txBody>
      </p:sp>
      <p:sp>
        <p:nvSpPr>
          <p:cNvPr id="49" name="Freeform 49"/>
          <p:cNvSpPr/>
          <p:nvPr/>
        </p:nvSpPr>
        <p:spPr>
          <a:xfrm>
            <a:off x="6381750" y="3524250"/>
            <a:ext cx="2428875" cy="762000"/>
          </a:xfrm>
          <a:custGeom>
            <a:avLst/>
            <a:gdLst/>
            <a:ahLst/>
            <a:cxnLst/>
            <a:rect l="l" t="t" r="r" b="b"/>
            <a:pathLst>
              <a:path w="2428875" h="762000">
                <a:moveTo>
                  <a:pt x="76200" y="0"/>
                </a:moveTo>
                <a:lnTo>
                  <a:pt x="2352675" y="0"/>
                </a:lnTo>
                <a:cubicBezTo>
                  <a:pt x="2394759" y="0"/>
                  <a:pt x="2428875" y="34116"/>
                  <a:pt x="2428875" y="76200"/>
                </a:cubicBezTo>
                <a:lnTo>
                  <a:pt x="2428875" y="685800"/>
                </a:lnTo>
                <a:cubicBezTo>
                  <a:pt x="2428875" y="727884"/>
                  <a:pt x="2394759" y="762000"/>
                  <a:pt x="2352675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371244" y="363188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78%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52012" y="3998595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代码覆盖率 (JaCoCo)</a:t>
            </a:r>
          </a:p>
        </p:txBody>
      </p:sp>
      <p:sp>
        <p:nvSpPr>
          <p:cNvPr id="52" name="Freeform 52"/>
          <p:cNvSpPr/>
          <p:nvPr/>
        </p:nvSpPr>
        <p:spPr>
          <a:xfrm>
            <a:off x="8934450" y="3524250"/>
            <a:ext cx="2524125" cy="762000"/>
          </a:xfrm>
          <a:custGeom>
            <a:avLst/>
            <a:gdLst/>
            <a:ahLst/>
            <a:cxnLst/>
            <a:rect l="l" t="t" r="r" b="b"/>
            <a:pathLst>
              <a:path w="2524125" h="762000">
                <a:moveTo>
                  <a:pt x="76200" y="0"/>
                </a:moveTo>
                <a:lnTo>
                  <a:pt x="2447925" y="0"/>
                </a:lnTo>
                <a:cubicBezTo>
                  <a:pt x="2490009" y="0"/>
                  <a:pt x="2524125" y="34116"/>
                  <a:pt x="2524125" y="76200"/>
                </a:cubicBezTo>
                <a:lnTo>
                  <a:pt x="2524125" y="685800"/>
                </a:lnTo>
                <a:cubicBezTo>
                  <a:pt x="2524125" y="727884"/>
                  <a:pt x="2490009" y="762000"/>
                  <a:pt x="2447925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993673" y="3631882"/>
            <a:ext cx="396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123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65815" y="3998595"/>
            <a:ext cx="12518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测试用例 (100%通过)</a:t>
            </a:r>
          </a:p>
        </p:txBody>
      </p:sp>
      <p:sp>
        <p:nvSpPr>
          <p:cNvPr id="55" name="Freeform 55"/>
          <p:cNvSpPr/>
          <p:nvPr/>
        </p:nvSpPr>
        <p:spPr>
          <a:xfrm>
            <a:off x="6381750" y="4419600"/>
            <a:ext cx="5048250" cy="1714500"/>
          </a:xfrm>
          <a:custGeom>
            <a:avLst/>
            <a:gdLst/>
            <a:ahLst/>
            <a:cxnLst/>
            <a:rect l="l" t="t" r="r" b="b"/>
            <a:pathLst>
              <a:path w="5048250" h="171450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1638300"/>
                </a:lnTo>
                <a:cubicBezTo>
                  <a:pt x="5048250" y="1680384"/>
                  <a:pt x="5014134" y="1714500"/>
                  <a:pt x="497205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58915" y="4553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测试覆盖模块</a:t>
            </a:r>
          </a:p>
        </p:txBody>
      </p:sp>
      <p:sp>
        <p:nvSpPr>
          <p:cNvPr id="57" name="Freeform 57"/>
          <p:cNvSpPr/>
          <p:nvPr/>
        </p:nvSpPr>
        <p:spPr>
          <a:xfrm>
            <a:off x="6572250" y="4810125"/>
            <a:ext cx="2333625" cy="247650"/>
          </a:xfrm>
          <a:custGeom>
            <a:avLst/>
            <a:gdLst/>
            <a:ahLst/>
            <a:cxnLst/>
            <a:rect l="l" t="t" r="r" b="b"/>
            <a:pathLst>
              <a:path w="2333625" h="247650">
                <a:moveTo>
                  <a:pt x="57150" y="0"/>
                </a:moveTo>
                <a:lnTo>
                  <a:pt x="2276475" y="0"/>
                </a:lnTo>
                <a:cubicBezTo>
                  <a:pt x="2308038" y="0"/>
                  <a:pt x="2333625" y="25587"/>
                  <a:pt x="2333625" y="57150"/>
                </a:cubicBezTo>
                <a:lnTo>
                  <a:pt x="2333625" y="190500"/>
                </a:lnTo>
                <a:cubicBezTo>
                  <a:pt x="2333625" y="222063"/>
                  <a:pt x="2308038" y="247650"/>
                  <a:pt x="2276475" y="247650"/>
                </a:cubicBezTo>
                <a:lnTo>
                  <a:pt x="57150" y="247650"/>
                </a:lnTo>
                <a:cubicBezTo>
                  <a:pt x="25587" y="247650"/>
                  <a:pt x="0" y="222063"/>
                  <a:pt x="0" y="190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029498" y="4884420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Service层: 35个测试类</a:t>
            </a:r>
          </a:p>
        </p:txBody>
      </p:sp>
      <p:sp>
        <p:nvSpPr>
          <p:cNvPr id="59" name="Freeform 59"/>
          <p:cNvSpPr/>
          <p:nvPr/>
        </p:nvSpPr>
        <p:spPr>
          <a:xfrm>
            <a:off x="9029700" y="4810125"/>
            <a:ext cx="2333625" cy="247650"/>
          </a:xfrm>
          <a:custGeom>
            <a:avLst/>
            <a:gdLst/>
            <a:ahLst/>
            <a:cxnLst/>
            <a:rect l="l" t="t" r="r" b="b"/>
            <a:pathLst>
              <a:path w="2333625" h="247650">
                <a:moveTo>
                  <a:pt x="57150" y="0"/>
                </a:moveTo>
                <a:lnTo>
                  <a:pt x="2276475" y="0"/>
                </a:lnTo>
                <a:cubicBezTo>
                  <a:pt x="2308038" y="0"/>
                  <a:pt x="2333625" y="25587"/>
                  <a:pt x="2333625" y="57150"/>
                </a:cubicBezTo>
                <a:lnTo>
                  <a:pt x="2333625" y="190500"/>
                </a:lnTo>
                <a:cubicBezTo>
                  <a:pt x="2333625" y="222063"/>
                  <a:pt x="2308038" y="247650"/>
                  <a:pt x="2276475" y="247650"/>
                </a:cubicBezTo>
                <a:lnTo>
                  <a:pt x="57150" y="247650"/>
                </a:lnTo>
                <a:cubicBezTo>
                  <a:pt x="25587" y="247650"/>
                  <a:pt x="0" y="222063"/>
                  <a:pt x="0" y="190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9411367" y="4884420"/>
            <a:ext cx="15607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Controller层: 18个测试类</a:t>
            </a:r>
          </a:p>
        </p:txBody>
      </p:sp>
      <p:sp>
        <p:nvSpPr>
          <p:cNvPr id="61" name="Freeform 61"/>
          <p:cNvSpPr/>
          <p:nvPr/>
        </p:nvSpPr>
        <p:spPr>
          <a:xfrm>
            <a:off x="6572250" y="5143500"/>
            <a:ext cx="2333625" cy="247650"/>
          </a:xfrm>
          <a:custGeom>
            <a:avLst/>
            <a:gdLst/>
            <a:ahLst/>
            <a:cxnLst/>
            <a:rect l="l" t="t" r="r" b="b"/>
            <a:pathLst>
              <a:path w="2333625" h="247650">
                <a:moveTo>
                  <a:pt x="57150" y="0"/>
                </a:moveTo>
                <a:lnTo>
                  <a:pt x="2276475" y="0"/>
                </a:lnTo>
                <a:cubicBezTo>
                  <a:pt x="2308038" y="0"/>
                  <a:pt x="2333625" y="25587"/>
                  <a:pt x="2333625" y="57150"/>
                </a:cubicBezTo>
                <a:lnTo>
                  <a:pt x="2333625" y="190500"/>
                </a:lnTo>
                <a:cubicBezTo>
                  <a:pt x="2333625" y="222063"/>
                  <a:pt x="2308038" y="247650"/>
                  <a:pt x="2276475" y="247650"/>
                </a:cubicBezTo>
                <a:lnTo>
                  <a:pt x="57150" y="247650"/>
                </a:lnTo>
                <a:cubicBezTo>
                  <a:pt x="25587" y="247650"/>
                  <a:pt x="0" y="222063"/>
                  <a:pt x="0" y="190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3FF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7052500" y="5217795"/>
            <a:ext cx="13635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D28D9"/>
                </a:solidFill>
                <a:latin typeface="Arial"/>
                <a:ea typeface="Microsoft YaHei"/>
                <a:cs typeface="Arial"/>
              </a:rPr>
              <a:t>Mapper层: 12个测试类</a:t>
            </a:r>
          </a:p>
        </p:txBody>
      </p:sp>
      <p:sp>
        <p:nvSpPr>
          <p:cNvPr id="63" name="Freeform 63"/>
          <p:cNvSpPr/>
          <p:nvPr/>
        </p:nvSpPr>
        <p:spPr>
          <a:xfrm>
            <a:off x="9029700" y="5143500"/>
            <a:ext cx="2333625" cy="247650"/>
          </a:xfrm>
          <a:custGeom>
            <a:avLst/>
            <a:gdLst/>
            <a:ahLst/>
            <a:cxnLst/>
            <a:rect l="l" t="t" r="r" b="b"/>
            <a:pathLst>
              <a:path w="2333625" h="247650">
                <a:moveTo>
                  <a:pt x="57150" y="0"/>
                </a:moveTo>
                <a:lnTo>
                  <a:pt x="2276475" y="0"/>
                </a:lnTo>
                <a:cubicBezTo>
                  <a:pt x="2308038" y="0"/>
                  <a:pt x="2333625" y="25587"/>
                  <a:pt x="2333625" y="57150"/>
                </a:cubicBezTo>
                <a:lnTo>
                  <a:pt x="2333625" y="190500"/>
                </a:lnTo>
                <a:cubicBezTo>
                  <a:pt x="2333625" y="222063"/>
                  <a:pt x="2308038" y="247650"/>
                  <a:pt x="2276475" y="247650"/>
                </a:cubicBezTo>
                <a:lnTo>
                  <a:pt x="57150" y="247650"/>
                </a:lnTo>
                <a:cubicBezTo>
                  <a:pt x="25587" y="247650"/>
                  <a:pt x="0" y="222063"/>
                  <a:pt x="0" y="190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628251" y="521779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2400E"/>
                </a:solidFill>
                <a:latin typeface="Arial"/>
                <a:ea typeface="Microsoft YaHei"/>
                <a:cs typeface="Arial"/>
              </a:rPr>
              <a:t>工具类: 8个测试类</a:t>
            </a:r>
          </a:p>
        </p:txBody>
      </p:sp>
      <p:sp>
        <p:nvSpPr>
          <p:cNvPr id="65" name="Freeform 65"/>
          <p:cNvSpPr/>
          <p:nvPr/>
        </p:nvSpPr>
        <p:spPr>
          <a:xfrm>
            <a:off x="6572250" y="5476875"/>
            <a:ext cx="2333625" cy="247650"/>
          </a:xfrm>
          <a:custGeom>
            <a:avLst/>
            <a:gdLst/>
            <a:ahLst/>
            <a:cxnLst/>
            <a:rect l="l" t="t" r="r" b="b"/>
            <a:pathLst>
              <a:path w="2333625" h="247650">
                <a:moveTo>
                  <a:pt x="57150" y="0"/>
                </a:moveTo>
                <a:lnTo>
                  <a:pt x="2276475" y="0"/>
                </a:lnTo>
                <a:cubicBezTo>
                  <a:pt x="2308038" y="0"/>
                  <a:pt x="2333625" y="25587"/>
                  <a:pt x="2333625" y="57150"/>
                </a:cubicBezTo>
                <a:lnTo>
                  <a:pt x="2333625" y="190500"/>
                </a:lnTo>
                <a:cubicBezTo>
                  <a:pt x="2333625" y="222063"/>
                  <a:pt x="2308038" y="247650"/>
                  <a:pt x="2276475" y="247650"/>
                </a:cubicBezTo>
                <a:lnTo>
                  <a:pt x="57150" y="247650"/>
                </a:lnTo>
                <a:cubicBezTo>
                  <a:pt x="25587" y="247650"/>
                  <a:pt x="0" y="222063"/>
                  <a:pt x="0" y="190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105078" y="5551170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定时任务: 6个测试类</a:t>
            </a:r>
          </a:p>
        </p:txBody>
      </p:sp>
      <p:sp>
        <p:nvSpPr>
          <p:cNvPr id="67" name="Freeform 67"/>
          <p:cNvSpPr/>
          <p:nvPr/>
        </p:nvSpPr>
        <p:spPr>
          <a:xfrm>
            <a:off x="9029700" y="5476875"/>
            <a:ext cx="2333625" cy="247650"/>
          </a:xfrm>
          <a:custGeom>
            <a:avLst/>
            <a:gdLst/>
            <a:ahLst/>
            <a:cxnLst/>
            <a:rect l="l" t="t" r="r" b="b"/>
            <a:pathLst>
              <a:path w="2333625" h="247650">
                <a:moveTo>
                  <a:pt x="57150" y="0"/>
                </a:moveTo>
                <a:lnTo>
                  <a:pt x="2276475" y="0"/>
                </a:lnTo>
                <a:cubicBezTo>
                  <a:pt x="2308038" y="0"/>
                  <a:pt x="2333625" y="25587"/>
                  <a:pt x="2333625" y="57150"/>
                </a:cubicBezTo>
                <a:lnTo>
                  <a:pt x="2333625" y="190500"/>
                </a:lnTo>
                <a:cubicBezTo>
                  <a:pt x="2333625" y="222063"/>
                  <a:pt x="2308038" y="247650"/>
                  <a:pt x="2276475" y="247650"/>
                </a:cubicBezTo>
                <a:lnTo>
                  <a:pt x="57150" y="247650"/>
                </a:lnTo>
                <a:cubicBezTo>
                  <a:pt x="25587" y="247650"/>
                  <a:pt x="0" y="222063"/>
                  <a:pt x="0" y="1905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FDFA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526381" y="5551170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安全/异常: 4个测试类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561772" y="5930741"/>
            <a:ext cx="3954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测试框架: JUnit 5 + Mockito + Spring Boot Test · 覆盖率工具: JaCoCo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60A5FA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4286250"/>
            <a:ext cx="2857500" cy="28575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620000" y="5238750"/>
            <a:ext cx="1905000" cy="19050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304800"/>
            <a:ext cx="76200" cy="342900"/>
          </a:xfrm>
          <a:custGeom>
            <a:avLst/>
            <a:gdLst/>
            <a:ahLst/>
            <a:cxnLst/>
            <a:rect l="l" t="t" r="r" b="b"/>
            <a:pathLst>
              <a:path w="76200" h="342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304800"/>
                </a:lnTo>
                <a:cubicBezTo>
                  <a:pt x="76200" y="325842"/>
                  <a:pt x="59142" y="342900"/>
                  <a:pt x="381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1520" y="31242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项目总结与未来展望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665" y="68675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FDBFE"/>
                </a:solidFill>
                <a:latin typeface="Arial"/>
                <a:ea typeface="Microsoft YaHei"/>
                <a:cs typeface="Arial"/>
              </a:rPr>
              <a:t>SUMMARY &amp; OUTLOOK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047750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00200"/>
                </a:lnTo>
                <a:cubicBezTo>
                  <a:pt x="3524250" y="1663326"/>
                  <a:pt x="3473076" y="1714500"/>
                  <a:pt x="340995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2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46760" y="12230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513999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自建WebSocket IM系统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17235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七层安全防护体系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1933099"/>
            <a:ext cx="12351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Redis多级缓存策略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142649"/>
            <a:ext cx="1527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7大定时任务自动化运维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570" y="2398395"/>
            <a:ext cx="1711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43,613行代码 · 78%测试覆盖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047750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00200"/>
                </a:lnTo>
                <a:cubicBezTo>
                  <a:pt x="3524250" y="1663326"/>
                  <a:pt x="3473076" y="1714500"/>
                  <a:pt x="340995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2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509135" y="12230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业务价值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1992" y="1513999"/>
            <a:ext cx="20041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精准校园定位 · 5000+潜在用户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11992" y="1723549"/>
            <a:ext cx="19898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完整交易闭环 · 平均3.5天完成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1992" y="1933099"/>
            <a:ext cx="1975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信任体系 · 校园认证+双向评价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1992" y="2142649"/>
            <a:ext cx="1790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87.3%完成率 · 92.1%好评率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2945" y="2398395"/>
            <a:ext cx="19353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22张表 · 42个API · 98%核心完成</a:t>
            </a:r>
          </a:p>
        </p:txBody>
      </p:sp>
      <p:sp>
        <p:nvSpPr>
          <p:cNvPr id="23" name="Freeform 23"/>
          <p:cNvSpPr/>
          <p:nvPr/>
        </p:nvSpPr>
        <p:spPr>
          <a:xfrm>
            <a:off x="8096250" y="1047750"/>
            <a:ext cx="3524250" cy="1714500"/>
          </a:xfrm>
          <a:custGeom>
            <a:avLst/>
            <a:gdLst/>
            <a:ahLst/>
            <a:cxnLst/>
            <a:rect l="l" t="t" r="r" b="b"/>
            <a:pathLst>
              <a:path w="3524250" h="171450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00200"/>
                </a:lnTo>
                <a:cubicBezTo>
                  <a:pt x="3524250" y="1663326"/>
                  <a:pt x="3473076" y="1714500"/>
                  <a:pt x="3409950" y="1714500"/>
                </a:cubicBezTo>
                <a:lnTo>
                  <a:pt x="114300" y="1714500"/>
                </a:lnTo>
                <a:cubicBezTo>
                  <a:pt x="51174" y="1714500"/>
                  <a:pt x="0" y="1663326"/>
                  <a:pt x="0" y="1600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2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271510" y="12230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创新特色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4368" y="1513999"/>
            <a:ext cx="1932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双向确认面交机制 (核心创新)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4368" y="17235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认证历史版本追溯系统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74368" y="1933099"/>
            <a:ext cx="20112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多维度评价体系 (三维度5分制)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4368" y="214264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自动好评 + 评价提醒机制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75320" y="2398395"/>
            <a:ext cx="2014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订单超时自动取消 · 商品自动下架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2952750"/>
            <a:ext cx="11049000" cy="2000250"/>
          </a:xfrm>
          <a:custGeom>
            <a:avLst/>
            <a:gdLst/>
            <a:ahLst/>
            <a:cxnLst/>
            <a:rect l="l" t="t" r="r" b="b"/>
            <a:pathLst>
              <a:path w="11049000" h="2000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885950"/>
                </a:lnTo>
                <a:cubicBezTo>
                  <a:pt x="11049000" y="1949076"/>
                  <a:pt x="10997826" y="2000250"/>
                  <a:pt x="10934700" y="2000250"/>
                </a:cubicBezTo>
                <a:lnTo>
                  <a:pt x="114300" y="2000250"/>
                </a:lnTo>
                <a:cubicBezTo>
                  <a:pt x="51174" y="2000250"/>
                  <a:pt x="0" y="1949076"/>
                  <a:pt x="0" y="1885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46760" y="31280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未来发展路线图</a:t>
            </a:r>
          </a:p>
        </p:txBody>
      </p:sp>
      <p:sp>
        <p:nvSpPr>
          <p:cNvPr id="32" name="Line 32"/>
          <p:cNvSpPr/>
          <p:nvPr/>
        </p:nvSpPr>
        <p:spPr>
          <a:xfrm>
            <a:off x="1428750" y="361950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33" name="Ellipse 33"/>
          <p:cNvSpPr/>
          <p:nvPr/>
        </p:nvSpPr>
        <p:spPr>
          <a:xfrm>
            <a:off x="1981200" y="3505200"/>
            <a:ext cx="228600" cy="228600"/>
          </a:xfrm>
          <a:prstGeom prst="ellipse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028468" y="3586162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短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13059" y="3799999"/>
            <a:ext cx="764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CD34D"/>
                </a:solidFill>
                <a:latin typeface="Arial"/>
                <a:ea typeface="Microsoft YaHei"/>
                <a:cs typeface="Arial"/>
              </a:rPr>
              <a:t>短期 (3月)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12094" y="4025741"/>
            <a:ext cx="9668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OSS对象存储迁移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23549" y="41971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微信支付接入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03058" y="43686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商品图片压缩优化</a:t>
            </a:r>
          </a:p>
        </p:txBody>
      </p:sp>
      <p:sp>
        <p:nvSpPr>
          <p:cNvPr id="39" name="Ellipse 39"/>
          <p:cNvSpPr/>
          <p:nvPr/>
        </p:nvSpPr>
        <p:spPr>
          <a:xfrm>
            <a:off x="5219700" y="3505200"/>
            <a:ext cx="228600" cy="228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266968" y="3586162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51559" y="3799999"/>
            <a:ext cx="764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0A5FA"/>
                </a:solidFill>
                <a:latin typeface="Arial"/>
                <a:ea typeface="Microsoft YaHei"/>
                <a:cs typeface="Arial"/>
              </a:rPr>
              <a:t>中期 (6月)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81907" y="4025741"/>
            <a:ext cx="13041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Elasticsearch全文搜索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08422" y="4197191"/>
            <a:ext cx="1051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RabbitMQ消息队列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57214" y="4368641"/>
            <a:ext cx="1153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推荐算法 (协同过滤)</a:t>
            </a:r>
          </a:p>
        </p:txBody>
      </p:sp>
      <p:sp>
        <p:nvSpPr>
          <p:cNvPr id="45" name="Ellipse 45"/>
          <p:cNvSpPr/>
          <p:nvPr/>
        </p:nvSpPr>
        <p:spPr>
          <a:xfrm>
            <a:off x="8458200" y="35052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505468" y="3586162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08749" y="3799999"/>
            <a:ext cx="727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长期 (1年)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140303" y="40257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大数据分析平台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69831" y="4197191"/>
            <a:ext cx="6053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AI智能客服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40303" y="43686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多校区联盟平台</a:t>
            </a:r>
          </a:p>
        </p:txBody>
      </p:sp>
      <p:sp>
        <p:nvSpPr>
          <p:cNvPr id="51" name="Line 51"/>
          <p:cNvSpPr/>
          <p:nvPr/>
        </p:nvSpPr>
        <p:spPr>
          <a:xfrm>
            <a:off x="2667000" y="36195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4288">
            <a:solidFill>
              <a:srgbClr val="FFFFFF">
                <a:alpha val="20000"/>
              </a:srgbClr>
            </a:solidFill>
            <a:custDash>
              <a:ds d="400000" sp="266666"/>
            </a:custDash>
          </a:ln>
        </p:spPr>
      </p:sp>
      <p:sp>
        <p:nvSpPr>
          <p:cNvPr id="52" name="Line 52"/>
          <p:cNvSpPr/>
          <p:nvPr/>
        </p:nvSpPr>
        <p:spPr>
          <a:xfrm>
            <a:off x="5905500" y="36195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4288">
            <a:solidFill>
              <a:srgbClr val="FFFFFF">
                <a:alpha val="20000"/>
              </a:srgbClr>
            </a:solidFill>
            <a:custDash>
              <a:ds d="400000" sp="266666"/>
            </a:custDash>
          </a:ln>
        </p:spPr>
      </p:sp>
      <p:sp>
        <p:nvSpPr>
          <p:cNvPr id="53" name="TextBox 53"/>
          <p:cNvSpPr txBox="1"/>
          <p:nvPr/>
        </p:nvSpPr>
        <p:spPr>
          <a:xfrm>
            <a:off x="5264229" y="510730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You!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753166" y="5537835"/>
            <a:ext cx="2685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FDBFE"/>
                </a:solidFill>
                <a:latin typeface="Arial"/>
                <a:ea typeface="Microsoft YaHei"/>
                <a:cs typeface="Arial"/>
              </a:rPr>
              <a:t>轻院二手交易平台 — 毕业设计答辩</a:t>
            </a:r>
          </a:p>
        </p:txBody>
      </p:sp>
      <p:sp>
        <p:nvSpPr>
          <p:cNvPr id="55" name="Freeform 55"/>
          <p:cNvSpPr/>
          <p:nvPr/>
        </p:nvSpPr>
        <p:spPr>
          <a:xfrm>
            <a:off x="2476500" y="5905500"/>
            <a:ext cx="7239000" cy="381000"/>
          </a:xfrm>
          <a:custGeom>
            <a:avLst/>
            <a:gdLst/>
            <a:ahLst/>
            <a:cxnLst/>
            <a:rect l="l" t="t" r="r" b="b"/>
            <a:pathLst>
              <a:path w="7239000" h="3810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304800"/>
                </a:lnTo>
                <a:cubicBezTo>
                  <a:pt x="7239000" y="346884"/>
                  <a:pt x="7204884" y="381000"/>
                  <a:pt x="716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638270" y="6047899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DBEAFE"/>
                </a:solidFill>
                <a:latin typeface="Arial"/>
                <a:ea typeface="Microsoft YaHei"/>
                <a:cs typeface="Arial"/>
              </a:rPr>
              <a:t>感谢导师指导 · 感谢团队协作 · 感谢开源社区</a:t>
            </a:r>
          </a:p>
        </p:txBody>
      </p:sp>
      <p:sp>
        <p:nvSpPr>
          <p:cNvPr id="57" name="Freeform 57"/>
          <p:cNvSpPr/>
          <p:nvPr/>
        </p:nvSpPr>
        <p:spPr>
          <a:xfrm>
            <a:off x="571500" y="6381750"/>
            <a:ext cx="11049000" cy="333375"/>
          </a:xfrm>
          <a:custGeom>
            <a:avLst/>
            <a:gdLst/>
            <a:ahLst/>
            <a:cxnLst/>
            <a:rect l="l" t="t" r="r" b="b"/>
            <a:pathLst>
              <a:path w="11049000" h="333375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276225"/>
                </a:lnTo>
                <a:cubicBezTo>
                  <a:pt x="11049000" y="307788"/>
                  <a:pt x="11023413" y="333375"/>
                  <a:pt x="109918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  <a:custDash>
              <a:ds d="600000" sp="400000"/>
            </a:custDash>
          </a:ln>
        </p:spPr>
      </p:sp>
      <p:sp>
        <p:nvSpPr>
          <p:cNvPr id="58" name="TextBox 58"/>
          <p:cNvSpPr txBox="1"/>
          <p:nvPr/>
        </p:nvSpPr>
        <p:spPr>
          <a:xfrm>
            <a:off x="4040862" y="6519862"/>
            <a:ext cx="41102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待插入图片: future_vision.png (未来展望背景图，可选) · 建议尺寸: 1280x400px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