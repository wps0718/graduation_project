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标题: 轻院二手交易平台</a:t>
            </a:r>
          </a:p>
          <a:p>
            <a:endParaRPr lang="zh-CN" dirty="0"/>
          </a:p>
          <a:p>
            <a:r>
              <a:rPr lang="zh-CN" dirty="0"/>
              <a:t>尊敬的各位老师，大家好。我是来自广东轻工职业技术学院的毕业生，今天我为大家汇报的毕业设计项目是"轻院二手交易平台"。这是一个基于Spring Boot后端、Vue3管理端和微信小程序前端的校园二手物品交易平台，目前核心功能已完成98%，处于答辩就绪状态。</a:t>
            </a:r>
          </a:p>
          <a:p>
            <a:endParaRPr lang="zh-CN" dirty="0"/>
          </a:p>
          <a:p>
            <a:r>
              <a:rPr lang="zh-CN" dirty="0"/>
              <a:t>时间控制: 30秒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标题: 为什么做这个项目？</a:t>
            </a:r>
          </a:p>
          <a:p>
            <a:endParaRPr lang="zh-CN" dirty="0"/>
          </a:p>
          <a:p>
            <a:r>
              <a:rPr lang="zh-CN" dirty="0"/>
              <a:t>在校园场景中，二手交易存在四大痛点。首先是信息分散，78%的同学通过QQ群、朋友圈等非正式渠道发布和获取二手信息，效率极低。其次是信任缺失，65%的用户担心交易安全，无法确认对方是否为本校学生。第三是效率低下，52%的交易需要线下蹲点摆摊。最后是毕业浪费，每年毕业季有43%的闲置物品因无法及时转让而被丢弃。平台面向5000+潜在用户，市场空间明确。</a:t>
            </a:r>
          </a:p>
          <a:p>
            <a:endParaRPr lang="zh-CN" dirty="0"/>
          </a:p>
          <a:p>
            <a:r>
              <a:rPr lang="zh-CN" dirty="0"/>
              <a:t>过渡语: 针对这些痛点，我们来看一下技术方案。</a:t>
            </a:r>
          </a:p>
          <a:p>
            <a:endParaRPr lang="zh-CN" dirty="0"/>
          </a:p>
          <a:p>
            <a:r>
              <a:rPr lang="zh-CN" dirty="0"/>
              <a:t>时间控制: 1分30秒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标题: 技术选型与系统架构</a:t>
            </a:r>
          </a:p>
          <a:p>
            <a:endParaRPr lang="zh-CN" dirty="0"/>
          </a:p>
          <a:p>
            <a:r>
              <a:rPr lang="zh-CN" dirty="0"/>
              <a:t>系统采用经典的三层架构。最上层是微信小程序客户端，使用uni-app框架开发，支持跨平台。中间层是后端服务，基于Spring Boot 3.3.7和Java 17，提供RESTful API。最下层是数据层，MySQL 8.0作为主数据库，Redis 7.0负责缓存和分布式锁。</a:t>
            </a:r>
          </a:p>
          <a:p>
            <a:endParaRPr lang="zh-CN" dirty="0"/>
          </a:p>
          <a:p>
            <a:r>
              <a:rPr lang="zh-CN" dirty="0"/>
              <a:t>技术亮点方面：使用JWT实现双端独立认证，WebSocket自建即时通讯系统，Redis多级缓存策略，@Scheduled实现7大定时任务，Redis分布式锁防并发，BCrypt密码加密。</a:t>
            </a:r>
          </a:p>
          <a:p>
            <a:endParaRPr lang="zh-CN" dirty="0"/>
          </a:p>
          <a:p>
            <a:r>
              <a:rPr lang="zh-CN" dirty="0"/>
              <a:t>过渡语: 接下来看用户端的具体功能。</a:t>
            </a:r>
          </a:p>
          <a:p>
            <a:endParaRPr lang="zh-CN" dirty="0"/>
          </a:p>
          <a:p>
            <a:r>
              <a:rPr lang="zh-CN" dirty="0"/>
              <a:t>时间控制: 1分30秒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标题: 用户端核心功能</a:t>
            </a:r>
          </a:p>
          <a:p>
            <a:endParaRPr lang="zh-CN" dirty="0"/>
          </a:p>
          <a:p>
            <a:r>
              <a:rPr lang="zh-CN" dirty="0"/>
              <a:t>用户端实现了9大核心模块，共42个API接口。</a:t>
            </a:r>
          </a:p>
          <a:p>
            <a:endParaRPr lang="zh-CN" dirty="0"/>
          </a:p>
          <a:p>
            <a:r>
              <a:rPr lang="zh-CN" dirty="0"/>
              <a:t>1. 微信登录：一键授权，自动创建账户</a:t>
            </a:r>
          </a:p>
          <a:p>
            <a:r>
              <a:rPr lang="zh-CN" dirty="0"/>
              <a:t>2. 校园认证：学生身份验证，建立信任体系</a:t>
            </a:r>
          </a:p>
          <a:p>
            <a:r>
              <a:rPr lang="zh-CN" dirty="0"/>
              <a:t>3. 商品发布：支持多图上传，分类选择</a:t>
            </a:r>
          </a:p>
          <a:p>
            <a:r>
              <a:rPr lang="zh-CN" dirty="0"/>
              <a:t>4. 智能搜索：按关键词、分类、校区筛选</a:t>
            </a:r>
          </a:p>
          <a:p>
            <a:r>
              <a:rPr lang="zh-CN" dirty="0"/>
              <a:t>5. 即时通讯：WebSocket实时聊天，支持商品卡片消息</a:t>
            </a:r>
          </a:p>
          <a:p>
            <a:r>
              <a:rPr lang="zh-CN" dirty="0"/>
              <a:t>6. 订单管理：完整交易流程，双向确认机制</a:t>
            </a:r>
          </a:p>
          <a:p>
            <a:r>
              <a:rPr lang="zh-CN" dirty="0"/>
              <a:t>7. 互评系统：三维度评分（描述、态度、体验）</a:t>
            </a:r>
          </a:p>
          <a:p>
            <a:r>
              <a:rPr lang="zh-CN" dirty="0"/>
              <a:t>8. 收藏关注：商品收藏和卖家关注</a:t>
            </a:r>
          </a:p>
          <a:p>
            <a:r>
              <a:rPr lang="zh-CN" dirty="0"/>
              <a:t>9. 消息中心：站内通知，评价提醒</a:t>
            </a:r>
          </a:p>
          <a:p>
            <a:endParaRPr lang="zh-CN" dirty="0"/>
          </a:p>
          <a:p>
            <a:r>
              <a:rPr lang="zh-CN" dirty="0"/>
              <a:t>过渡语: 接下来看管理端功能。</a:t>
            </a:r>
          </a:p>
          <a:p>
            <a:endParaRPr lang="zh-CN" dirty="0"/>
          </a:p>
          <a:p>
            <a:r>
              <a:rPr lang="zh-CN" dirty="0"/>
              <a:t>时间控制: 1分30秒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标题: 管理端功能与数据概览</a:t>
            </a:r>
          </a:p>
          <a:p>
            <a:endParaRPr lang="zh-CN" dirty="0"/>
          </a:p>
          <a:p>
            <a:r>
              <a:rPr lang="zh-CN" dirty="0"/>
              <a:t>管理端基于Vue3 + Element Plus + ECharts开发，主要包含三大模块：</a:t>
            </a:r>
          </a:p>
          <a:p>
            <a:endParaRPr lang="zh-CN" dirty="0"/>
          </a:p>
          <a:p>
            <a:r>
              <a:rPr lang="zh-CN" dirty="0"/>
              <a:t>审核模块：商品审核、校园认证审核、举报处理</a:t>
            </a:r>
          </a:p>
          <a:p>
            <a:r>
              <a:rPr lang="zh-CN" dirty="0"/>
              <a:t>管理模块：用户管理（5247人，月增12.5%）、商品管理（1839件）、订单管理（892笔）、评价管理（654条）</a:t>
            </a:r>
          </a:p>
          <a:p>
            <a:r>
              <a:rPr lang="zh-CN" dirty="0"/>
              <a:t>配置模块：轮播图、分类、公告管理</a:t>
            </a:r>
          </a:p>
          <a:p>
            <a:endParaRPr lang="zh-CN" dirty="0"/>
          </a:p>
          <a:p>
            <a:r>
              <a:rPr lang="zh-CN" dirty="0"/>
              <a:t>右侧数据面板实时展示核心指标趋势，支持7日趋势折线图、分类饼图等可视化。目前平台数据稳步增长。</a:t>
            </a:r>
          </a:p>
          <a:p>
            <a:endParaRPr lang="zh-CN" dirty="0"/>
          </a:p>
          <a:p>
            <a:r>
              <a:rPr lang="zh-CN" dirty="0"/>
              <a:t>过渡语: 接下来看核心业务流程设计。</a:t>
            </a:r>
          </a:p>
          <a:p>
            <a:endParaRPr lang="zh-CN" dirty="0"/>
          </a:p>
          <a:p>
            <a:r>
              <a:rPr lang="zh-CN" dirty="0"/>
              <a:t>时间控制: 1分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标题: 完整交易闭环流程</a:t>
            </a:r>
          </a:p>
          <a:p>
            <a:endParaRPr lang="zh-CN" dirty="0"/>
          </a:p>
          <a:p>
            <a:r>
              <a:rPr lang="zh-CN" dirty="0"/>
              <a:t>交易流程共7个步骤，形成完整闭环：</a:t>
            </a:r>
          </a:p>
          <a:p>
            <a:endParaRPr lang="zh-CN" dirty="0"/>
          </a:p>
          <a:p>
            <a:r>
              <a:rPr lang="zh-CN" dirty="0"/>
              <a:t>1. 买家点击"我想要"，跳转IM聊天并自动发送商品卡片</a:t>
            </a:r>
          </a:p>
          <a:p>
            <a:r>
              <a:rPr lang="zh-CN" dirty="0"/>
              <a:t>2. 双方沟通协商，确认最终价格和面交时间地点</a:t>
            </a:r>
          </a:p>
          <a:p>
            <a:r>
              <a:rPr lang="zh-CN" dirty="0"/>
              <a:t>3. 创建订单，启动72小时计时，使用Redis分布式锁防并发</a:t>
            </a:r>
          </a:p>
          <a:p>
            <a:r>
              <a:rPr lang="zh-CN" dirty="0"/>
              <a:t>4. 卖家确认接单，状态从"待接单"变为"待面交"</a:t>
            </a:r>
          </a:p>
          <a:p>
            <a:r>
              <a:rPr lang="zh-CN" dirty="0"/>
              <a:t>5. 双向确认面交（核心创新点）：卖家和买家各自确认，双方都确认后自动完成交易</a:t>
            </a:r>
          </a:p>
          <a:p>
            <a:r>
              <a:rPr lang="zh-CN" dirty="0"/>
              <a:t>6. 交易后互评，7天评价窗口，三维度评分</a:t>
            </a:r>
          </a:p>
          <a:p>
            <a:r>
              <a:rPr lang="zh-CN" dirty="0"/>
              <a:t>7. 流程结束，用户信誉分更新</a:t>
            </a:r>
          </a:p>
          <a:p>
            <a:endParaRPr lang="zh-CN" dirty="0"/>
          </a:p>
          <a:p>
            <a:r>
              <a:rPr lang="zh-CN" dirty="0"/>
              <a:t>平均交易周期3.5天，完成率87.3%，好评率92.1%。</a:t>
            </a:r>
          </a:p>
          <a:p>
            <a:endParaRPr lang="zh-CN" dirty="0"/>
          </a:p>
          <a:p>
            <a:r>
              <a:rPr lang="zh-CN" dirty="0"/>
              <a:t>时间控制: 1分30秒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标题: 自建WebSocket即时通讯方案</a:t>
            </a:r>
          </a:p>
          <a:p>
            <a:endParaRPr lang="zh-CN" dirty="0"/>
          </a:p>
          <a:p>
            <a:r>
              <a:rPr lang="zh-CN" dirty="0"/>
              <a:t>IM系统是本项目的技术亮点之一，完全自建，不依赖第三方IM服务。</a:t>
            </a:r>
          </a:p>
          <a:p>
            <a:endParaRPr lang="zh-CN" dirty="0"/>
          </a:p>
          <a:p>
            <a:r>
              <a:rPr lang="zh-CN" dirty="0"/>
              <a:t>架构流程：客户端通过ws://host/ws连接WebSocket Server，服务端接收到消息后通过分发器路由到对应的消息处理器（ChatHandler处理聊天、ReadHandler处理已读回执、PingHandler处理心跳）。</a:t>
            </a:r>
          </a:p>
          <a:p>
            <a:endParaRPr lang="zh-CN" dirty="0"/>
          </a:p>
          <a:p>
            <a:r>
              <a:rPr lang="zh-CN" dirty="0"/>
              <a:t>四大核心特性：</a:t>
            </a:r>
          </a:p>
          <a:p>
            <a:r>
              <a:rPr lang="zh-CN" dirty="0"/>
              <a:t>1. 握手鉴权：ChatHandshakeInterceptor在连接时验证JWT Token，封号用户拒绝连接</a:t>
            </a:r>
          </a:p>
          <a:p>
            <a:r>
              <a:rPr lang="zh-CN" dirty="0"/>
              <a:t>2. 消息持久化：chat_message表存储全部消息，支持无限回溯，最近50条热数据缓存</a:t>
            </a:r>
          </a:p>
          <a:p>
            <a:r>
              <a:rPr lang="zh-CN" dirty="0"/>
              <a:t>3. 心跳保活：30秒PING/PONG，Redis Key TTL 60秒，超时强制断开</a:t>
            </a:r>
          </a:p>
          <a:p>
            <a:r>
              <a:rPr lang="zh-CN" dirty="0"/>
              <a:t>4. 离线消息：接收方不在线时Redis未读数+1，上线自动拉取</a:t>
            </a:r>
          </a:p>
          <a:p>
            <a:endParaRPr lang="zh-CN" dirty="0"/>
          </a:p>
          <a:p>
            <a:r>
              <a:rPr lang="zh-CN" dirty="0"/>
              <a:t>性能指标：并发500+，延迟小于50ms，推送成功率99.2%。</a:t>
            </a:r>
          </a:p>
          <a:p>
            <a:endParaRPr lang="zh-CN" dirty="0"/>
          </a:p>
          <a:p>
            <a:r>
              <a:rPr lang="zh-CN" dirty="0"/>
              <a:t>时间控制: 2分钟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标题: 数据库设计与核心表结构</a:t>
            </a:r>
          </a:p>
          <a:p>
            <a:endParaRPr lang="zh-CN" dirty="0"/>
          </a:p>
          <a:p>
            <a:r>
              <a:rPr lang="zh-CN" dirty="0"/>
              <a:t>数据库共22张表（业务表14张 + 配置表8张），286个字段，45个组合索引。</a:t>
            </a:r>
          </a:p>
          <a:p>
            <a:endParaRPr lang="zh-CN" dirty="0"/>
          </a:p>
          <a:p>
            <a:r>
              <a:rPr lang="zh-CN" dirty="0"/>
              <a:t>ER关系核心设计：</a:t>
            </a:r>
          </a:p>
          <a:p>
            <a:r>
              <a:rPr lang="zh-CN" dirty="0"/>
              <a:t>• user表是中心节点，关联product（1:N）、trade_order（1:N）、campus_auth（1:1）</a:t>
            </a:r>
          </a:p>
          <a:p>
            <a:r>
              <a:rPr lang="zh-CN" dirty="0"/>
              <a:t>• trade_order关联review（1:2，买卖双方各一条评价）</a:t>
            </a:r>
          </a:p>
          <a:p>
            <a:r>
              <a:rPr lang="zh-CN" dirty="0"/>
              <a:t>• IM系统包含chat_session和chat_message两张表</a:t>
            </a:r>
          </a:p>
          <a:p>
            <a:endParaRPr lang="zh-CN" dirty="0"/>
          </a:p>
          <a:p>
            <a:r>
              <a:rPr lang="zh-CN" dirty="0"/>
              <a:t>核心表亮点：</a:t>
            </a:r>
          </a:p>
          <a:p>
            <a:r>
              <a:rPr lang="zh-CN" dirty="0"/>
              <a:t>• user表：15字段，包含综合评分score、认证状态auth_status</a:t>
            </a:r>
          </a:p>
          <a:p>
            <a:r>
              <a:rPr lang="zh-CN" dirty="0"/>
              <a:t>• trade_order表：17字段，设计了seller_confirmed和buyer_confirmed双向确认字段</a:t>
            </a:r>
          </a:p>
          <a:p>
            <a:r>
              <a:rPr lang="zh-CN" dirty="0"/>
              <a:t>• campus_auth：主表+auth_history历史表，支持全轨迹回溯和版本对比</a:t>
            </a:r>
          </a:p>
          <a:p>
            <a:endParaRPr lang="zh-CN" dirty="0"/>
          </a:p>
          <a:p>
            <a:r>
              <a:rPr lang="zh-CN" dirty="0"/>
              <a:t>当前数据：用户5247、商品1839、订单892、消息12345。</a:t>
            </a:r>
          </a:p>
          <a:p>
            <a:endParaRPr lang="zh-CN" dirty="0"/>
          </a:p>
          <a:p>
            <a:r>
              <a:rPr lang="zh-CN" dirty="0"/>
              <a:t>时间控制: 1分30秒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标题: 七层安全防护体系</a:t>
            </a:r>
          </a:p>
          <a:p>
            <a:endParaRPr lang="zh-CN" dirty="0"/>
          </a:p>
          <a:p>
            <a:r>
              <a:rPr lang="zh-CN" dirty="0"/>
              <a:t>安全是本项目的重点设计，建立了七层纵深防御体系：</a:t>
            </a:r>
          </a:p>
          <a:p>
            <a:endParaRPr lang="zh-CN" dirty="0"/>
          </a:p>
          <a:p>
            <a:r>
              <a:rPr lang="zh-CN" dirty="0"/>
              <a:t>1. JWT认证：双端独立Token，24小时有效期，Interceptor拦截</a:t>
            </a:r>
          </a:p>
          <a:p>
            <a:r>
              <a:rPr lang="zh-CN" dirty="0"/>
              <a:t>2. BCrypt密码加密：自适应哈希，自动加盐，无法逆向破解</a:t>
            </a:r>
          </a:p>
          <a:p>
            <a:r>
              <a:rPr lang="zh-CN" dirty="0"/>
              <a:t>3. 防暴力破解：登录失败5次锁定15分钟，Redis计数器</a:t>
            </a:r>
          </a:p>
          <a:p>
            <a:r>
              <a:rPr lang="zh-CN" dirty="0"/>
              <a:t>4. SQL注入防护：MyBatis-Plus #{}参数绑定，LambdaQueryWrapper天然防注入</a:t>
            </a:r>
          </a:p>
          <a:p>
            <a:r>
              <a:rPr lang="zh-CN" dirty="0"/>
              <a:t>5. XSS跨站脚本防护：前后端双重校验，输出HTML实体编码</a:t>
            </a:r>
          </a:p>
          <a:p>
            <a:r>
              <a:rPr lang="zh-CN" dirty="0"/>
              <a:t>6. Redis分布式锁：订单创建防并发，30秒TTL自动释放</a:t>
            </a:r>
          </a:p>
          <a:p>
            <a:r>
              <a:rPr lang="zh-CN" dirty="0"/>
              <a:t>7. 越权防护：水平越权强制用户ID过滤，垂直越权管理员独立拦截器</a:t>
            </a:r>
          </a:p>
          <a:p>
            <a:endParaRPr lang="zh-CN" dirty="0"/>
          </a:p>
          <a:p>
            <a:r>
              <a:rPr lang="zh-CN" dirty="0"/>
              <a:t>安全事件统计：SQL注入拦截0次（说明防护有效），异常登录已拦截23次。</a:t>
            </a:r>
          </a:p>
          <a:p>
            <a:endParaRPr lang="zh-CN" dirty="0"/>
          </a:p>
          <a:p>
            <a:r>
              <a:rPr lang="zh-CN" dirty="0"/>
              <a:t>时间控制: 1分30秒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标题: 7大自动化定时任务</a:t>
            </a:r>
          </a:p>
          <a:p>
            <a:endParaRPr lang="zh-CN" dirty="0"/>
          </a:p>
          <a:p>
            <a:r>
              <a:rPr lang="zh-CN" dirty="0"/>
              <a:t>系统运行7个定时任务，全部通过application.yml可独立开关控制：</a:t>
            </a:r>
          </a:p>
          <a:p>
            <a:endParaRPr lang="zh-CN" dirty="0"/>
          </a:p>
          <a:p>
            <a:r>
              <a:rPr lang="zh-CN" dirty="0"/>
              <a:t>1. 订单超时取消：每5分钟检查，72小时未面交自动取消，恢复商品在售状态</a:t>
            </a:r>
          </a:p>
          <a:p>
            <a:r>
              <a:rPr lang="zh-CN" dirty="0"/>
              <a:t>2. 订单自动确认：凌晨2:00执行，创建后7天未确认自动完成，保障卖家权益</a:t>
            </a:r>
          </a:p>
          <a:p>
            <a:r>
              <a:rPr lang="zh-CN" dirty="0"/>
              <a:t>3. 自动好评：凌晨3:00执行，交易完成7天未评价默认好评，三维5分</a:t>
            </a:r>
          </a:p>
          <a:p>
            <a:r>
              <a:rPr lang="zh-CN" dirty="0"/>
              <a:t>4. 评价提醒：上午10:00执行，完成第3天仍未评价则提醒，每笔仅提醒1次</a:t>
            </a:r>
          </a:p>
          <a:p>
            <a:r>
              <a:rPr lang="zh-CN" dirty="0"/>
              <a:t>5. 商品自动下架：凌晨4:00执行，发布后90天自动下架，保持信息时效性</a:t>
            </a:r>
          </a:p>
          <a:p>
            <a:r>
              <a:rPr lang="zh-CN" dirty="0"/>
              <a:t>6. 注销账号清理：凌晨5:00执行，申请注销后30天数据清理</a:t>
            </a:r>
          </a:p>
          <a:p>
            <a:r>
              <a:rPr lang="zh-CN" dirty="0"/>
              <a:t>7. WebSocket心跳检测：每30秒扫描，超时强制断开</a:t>
            </a:r>
          </a:p>
          <a:p>
            <a:endParaRPr lang="zh-CN" dirty="0"/>
          </a:p>
          <a:p>
            <a:r>
              <a:rPr lang="zh-CN" dirty="0"/>
              <a:t>今日总执行328次，任务成功率99.7%。</a:t>
            </a:r>
          </a:p>
          <a:p>
            <a:endParaRPr lang="zh-CN" dirty="0"/>
          </a:p>
          <a:p>
            <a:r>
              <a:rPr lang="zh-CN" dirty="0"/>
              <a:t>时间控制: 1分30秒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标题: Redis多级缓存优化策略</a:t>
            </a:r>
          </a:p>
          <a:p>
            <a:endParaRPr lang="zh-CN" dirty="0"/>
          </a:p>
          <a:p>
            <a:r>
              <a:rPr lang="zh-CN" dirty="0"/>
              <a:t>缓存是性能优化的核心手段。我们建立了4大类缓存Key体系：</a:t>
            </a:r>
          </a:p>
          <a:p>
            <a:endParaRPr lang="zh-CN" dirty="0"/>
          </a:p>
          <a:p>
            <a:r>
              <a:rPr lang="zh-CN" dirty="0"/>
              <a:t>业务缓存（2180 keys）：商品详情TTL 30min、列表TTL 10min、用户信息TTL 1h、订单详情TTL 15min</a:t>
            </a:r>
          </a:p>
          <a:p>
            <a:r>
              <a:rPr lang="zh-CN" dirty="0"/>
              <a:t>会话缓存（1520 keys）：心跳TTL 60s、未读计数、热数据TTL 24h</a:t>
            </a:r>
          </a:p>
          <a:p>
            <a:r>
              <a:rPr lang="zh-CN" dirty="0"/>
              <a:t>安全缓存（890 keys）：登录失败计数、分布式锁、Token黑名单</a:t>
            </a:r>
          </a:p>
          <a:p>
            <a:r>
              <a:rPr lang="zh-CN" dirty="0"/>
              <a:t>配置缓存（657 keys）：轮播图、分类、公告，TTL 2h</a:t>
            </a:r>
          </a:p>
          <a:p>
            <a:endParaRPr lang="zh-CN" dirty="0"/>
          </a:p>
          <a:p>
            <a:r>
              <a:rPr lang="zh-CN" dirty="0"/>
              <a:t>四大缓存策略：</a:t>
            </a:r>
          </a:p>
          <a:p>
            <a:r>
              <a:rPr lang="zh-CN" dirty="0"/>
              <a:t>1. Cache-Aside模式：读miss查DB回填，写更新DB删缓存</a:t>
            </a:r>
          </a:p>
          <a:p>
            <a:r>
              <a:rPr lang="zh-CN" dirty="0"/>
              <a:t>2. 防缓存穿透：布隆过滤器 + 空值缓存，拦截率99.2%</a:t>
            </a:r>
          </a:p>
          <a:p>
            <a:r>
              <a:rPr lang="zh-CN" dirty="0"/>
              <a:t>3. 防缓存雪崩：TTL加随机偏移，热点数据异步刷新，零雪崩事故</a:t>
            </a:r>
          </a:p>
          <a:p>
            <a:r>
              <a:rPr lang="zh-CN" dirty="0"/>
              <a:t>4. 主动失效：数据变更立即删除，级联失效延迟小于10ms</a:t>
            </a:r>
          </a:p>
          <a:p>
            <a:endParaRPr lang="zh-CN" dirty="0"/>
          </a:p>
          <a:p>
            <a:r>
              <a:rPr lang="zh-CN" dirty="0"/>
              <a:t>性能提升：无缓存45ms → 有缓存3ms，提升15倍，QPS 1200+。</a:t>
            </a:r>
          </a:p>
          <a:p>
            <a:endParaRPr lang="zh-CN" dirty="0"/>
          </a:p>
          <a:p>
            <a:r>
              <a:rPr lang="zh-CN" dirty="0"/>
              <a:t>时间控制: 2分钟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标题: 开发完成度与核心成果</a:t>
            </a:r>
          </a:p>
          <a:p>
            <a:endParaRPr lang="zh-CN" dirty="0"/>
          </a:p>
          <a:p>
            <a:r>
              <a:rPr lang="zh-CN" dirty="0"/>
              <a:t>项目三端开发完成度：后端98%、管理端99%、小程序端96%。</a:t>
            </a:r>
          </a:p>
          <a:p>
            <a:endParaRPr lang="zh-CN" dirty="0"/>
          </a:p>
          <a:p>
            <a:r>
              <a:rPr lang="zh-CN" dirty="0"/>
              <a:t>版本里程碑：</a:t>
            </a:r>
          </a:p>
          <a:p>
            <a:r>
              <a:rPr lang="zh-CN" dirty="0"/>
              <a:t>• V1.0 (2026-02)：基础功能，用户/商品/搜索</a:t>
            </a:r>
          </a:p>
          <a:p>
            <a:r>
              <a:rPr lang="zh-CN" dirty="0"/>
              <a:t>• V1.1 (2026-03)：IM即时通讯</a:t>
            </a:r>
          </a:p>
          <a:p>
            <a:r>
              <a:rPr lang="zh-CN" dirty="0"/>
              <a:t>• V1.6 (2026-04)：校园认证体系</a:t>
            </a:r>
          </a:p>
          <a:p>
            <a:r>
              <a:rPr lang="zh-CN" dirty="0"/>
              <a:t>• V1.9 (2026-05)：双向确认+评价系统（当前版本）</a:t>
            </a:r>
          </a:p>
          <a:p>
            <a:endParaRPr lang="zh-CN" dirty="0"/>
          </a:p>
          <a:p>
            <a:r>
              <a:rPr lang="zh-CN" dirty="0"/>
              <a:t>6大核心成果：22张数据表、42个API接口、7个定时任务、43613行代码、80%测试覆盖、98%核心完成。</a:t>
            </a:r>
          </a:p>
          <a:p>
            <a:endParaRPr lang="zh-CN" dirty="0"/>
          </a:p>
          <a:p>
            <a:r>
              <a:rPr lang="zh-CN" dirty="0"/>
              <a:t>时间控制: 1分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标题: 性能优化与测试质量保障</a:t>
            </a:r>
          </a:p>
          <a:p>
            <a:endParaRPr lang="zh-CN" dirty="0"/>
          </a:p>
          <a:p>
            <a:r>
              <a:rPr lang="zh-CN" dirty="0"/>
              <a:t>性能优化三管齐下：</a:t>
            </a:r>
          </a:p>
          <a:p>
            <a:r>
              <a:rPr lang="zh-CN" dirty="0"/>
              <a:t>1. 数据库优化：45个组合索引，LambdaQueryWrapper链式查询，平均查询8ms</a:t>
            </a:r>
          </a:p>
          <a:p>
            <a:r>
              <a:rPr lang="zh-CN" dirty="0"/>
              <a:t>2. 缓存优化：Redis多级缓存，命中率87%，缓存查询3ms提升15倍</a:t>
            </a:r>
          </a:p>
          <a:p>
            <a:r>
              <a:rPr lang="zh-CN" dirty="0"/>
              <a:t>3. 异步处理：@Async线程池隔离，通知发送异步化，主线程响应降低40%</a:t>
            </a:r>
          </a:p>
          <a:p>
            <a:endParaRPr lang="zh-CN" dirty="0"/>
          </a:p>
          <a:p>
            <a:r>
              <a:rPr lang="zh-CN" dirty="0"/>
              <a:t>压测结果（JMeter）：100并发循环10次，平均8ms，错误率0%，TP99 35ms。</a:t>
            </a:r>
          </a:p>
          <a:p>
            <a:endParaRPr lang="zh-CN" dirty="0"/>
          </a:p>
          <a:p>
            <a:r>
              <a:rPr lang="zh-CN" dirty="0"/>
              <a:t>测试质量保障：</a:t>
            </a:r>
          </a:p>
          <a:p>
            <a:r>
              <a:rPr lang="zh-CN" dirty="0"/>
              <a:t>• 测试金字塔：单元测试75%（92个）、集成测试20%（25个）、E2E 5%（6个）</a:t>
            </a:r>
          </a:p>
          <a:p>
            <a:r>
              <a:rPr lang="zh-CN" dirty="0"/>
              <a:t>• 代码覆盖率78%（JaCoCo）</a:t>
            </a:r>
          </a:p>
          <a:p>
            <a:r>
              <a:rPr lang="zh-CN" dirty="0"/>
              <a:t>• 123个测试用例100%通过</a:t>
            </a:r>
          </a:p>
          <a:p>
            <a:r>
              <a:rPr lang="zh-CN" dirty="0"/>
              <a:t>• 覆盖模块：Service 35个、Controller 18个、Mapper 12个、工具类8个、定时任务6个、安全异常4个</a:t>
            </a:r>
          </a:p>
          <a:p>
            <a:endParaRPr lang="zh-CN" dirty="0"/>
          </a:p>
          <a:p>
            <a:r>
              <a:rPr lang="zh-CN" dirty="0"/>
              <a:t>时间控制: 1分30秒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标题: 项目总结与未来展望</a:t>
            </a:r>
          </a:p>
          <a:p>
            <a:endParaRPr lang="zh-CN" dirty="0"/>
          </a:p>
          <a:p>
            <a:r>
              <a:rPr lang="zh-CN" dirty="0"/>
              <a:t>总结三大亮点：</a:t>
            </a:r>
          </a:p>
          <a:p>
            <a:endParaRPr lang="zh-CN" dirty="0"/>
          </a:p>
          <a:p>
            <a:r>
              <a:rPr lang="zh-CN" dirty="0"/>
              <a:t>技术亮点：自建WebSocket IM系统、七层安全防护体系、Redis多级缓存策略、43613行代码78%测试覆盖</a:t>
            </a:r>
          </a:p>
          <a:p>
            <a:endParaRPr lang="zh-CN" dirty="0"/>
          </a:p>
          <a:p>
            <a:r>
              <a:rPr lang="zh-CN" dirty="0"/>
              <a:t>业务价值：精准校园定位5000+用户、完整交易闭环平均3.5天、信任体系87.3%完成率92.1%好评率</a:t>
            </a:r>
          </a:p>
          <a:p>
            <a:endParaRPr lang="zh-CN" dirty="0"/>
          </a:p>
          <a:p>
            <a:r>
              <a:rPr lang="zh-CN" dirty="0"/>
              <a:t>创新特色：双向确认面交机制（核心创新）、认证历史版本追溯、多维度评价体系</a:t>
            </a:r>
          </a:p>
          <a:p>
            <a:endParaRPr lang="zh-CN" dirty="0"/>
          </a:p>
          <a:p>
            <a:r>
              <a:rPr lang="zh-CN" dirty="0"/>
              <a:t>未来路线图：</a:t>
            </a:r>
          </a:p>
          <a:p>
            <a:r>
              <a:rPr lang="zh-CN" dirty="0"/>
              <a:t>• 短期（3个月）：OSS对象存储迁移、微信支付接入、图片压缩优化</a:t>
            </a:r>
          </a:p>
          <a:p>
            <a:r>
              <a:rPr lang="zh-CN" dirty="0"/>
              <a:t>• 中期（6个月）：Elasticsearch全文搜索、RabbitMQ消息队列、推荐算法</a:t>
            </a:r>
          </a:p>
          <a:p>
            <a:r>
              <a:rPr lang="zh-CN" dirty="0"/>
              <a:t>• 长期（1年）：大数据分析平台、AI智能客服、多校区联盟平台</a:t>
            </a:r>
          </a:p>
          <a:p>
            <a:endParaRPr lang="zh-CN" dirty="0"/>
          </a:p>
          <a:p>
            <a:r>
              <a:rPr lang="zh-CN" dirty="0"/>
              <a:t>感谢各位老师的指导和聆听，欢迎提问！</a:t>
            </a:r>
          </a:p>
          <a:p>
            <a:endParaRPr lang="zh-CN" dirty="0"/>
          </a:p>
          <a:p>
            <a:r>
              <a:rPr lang="zh-CN" dirty="0"/>
              <a:t>时间控制: 2分钟</a:t>
            </a:r>
          </a:p>
          <a:p>
            <a:endParaRPr lang="zh-CN" dirty="0"/>
          </a:p>
          <a:p>
            <a:r>
              <a:rPr lang="zh-CN" dirty="0"/>
              <a:t>总时间控制</a:t>
            </a:r>
          </a:p>
          <a:p>
            <a:endParaRPr lang="zh-CN" dirty="0"/>
          </a:p>
          <a:p>
            <a:r>
              <a:rPr lang="zh-CN" dirty="0"/>
              <a:t>| 部分 | 页数 | 建议时间 |</a:t>
            </a:r>
          </a:p>
          <a:p>
            <a:r>
              <a:rPr lang="zh-CN" dirty="0"/>
              <a:t>|------|------|----------|</a:t>
            </a:r>
          </a:p>
          <a:p>
            <a:r>
              <a:rPr lang="zh-CN" dirty="0"/>
              <a:t>| 封面+背景 | P1-P2 | 2分钟 |</a:t>
            </a:r>
          </a:p>
          <a:p>
            <a:r>
              <a:rPr lang="zh-CN" dirty="0"/>
              <a:t>| 技术方案 | P3-P5 | 4分钟 |</a:t>
            </a:r>
          </a:p>
          <a:p>
            <a:r>
              <a:rPr lang="zh-CN" dirty="0"/>
              <a:t>| 核心设计 | P6-P8 | 5分钟 |</a:t>
            </a:r>
          </a:p>
          <a:p>
            <a:r>
              <a:rPr lang="zh-CN" dirty="0"/>
              <a:t>| 技术亮点 | P9-P11 | 5分钟 |</a:t>
            </a:r>
          </a:p>
          <a:p>
            <a:r>
              <a:rPr lang="zh-CN" dirty="0"/>
              <a:t>| 项目成果 | P12-P13 | 2分30秒 |</a:t>
            </a:r>
          </a:p>
          <a:p>
            <a:r>
              <a:rPr lang="zh-CN" dirty="0"/>
              <a:t>| 总结展望 | P14 | 2分钟 |</a:t>
            </a:r>
          </a:p>
          <a:p>
            <a:r>
              <a:rPr lang="zh-CN" dirty="0"/>
              <a:t>| 合计 | 14页 | 约20分钟 |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png"/>
  <Relationship Id="rId3" Type="http://schemas.openxmlformats.org/officeDocument/2006/relationships/image" Target="../media/image1.sv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png"/>
  <Relationship Id="rId3" Type="http://schemas.openxmlformats.org/officeDocument/2006/relationships/image" Target="../media/image2.svg"/>
  <Relationship Id="rId4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png"/>
  <Relationship Id="rId3" Type="http://schemas.openxmlformats.org/officeDocument/2006/relationships/image" Target="../media/image3.svg"/>
  <Relationship Id="rId4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png"/>
  <Relationship Id="rId3" Type="http://schemas.openxmlformats.org/officeDocument/2006/relationships/image" Target="../media/image4.svg"/>
  <Relationship Id="rId4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png"/>
  <Relationship Id="rId3" Type="http://schemas.openxmlformats.org/officeDocument/2006/relationships/image" Target="../media/image5.svg"/>
  <Relationship Id="rId4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png"/>
  <Relationship Id="rId3" Type="http://schemas.openxmlformats.org/officeDocument/2006/relationships/image" Target="../media/image6.svg"/>
  <Relationship Id="rId4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png"/>
  <Relationship Id="rId3" Type="http://schemas.openxmlformats.org/officeDocument/2006/relationships/image" Target="../media/image7.svg"/>
  <Relationship Id="rId4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png"/>
  <Relationship Id="rId3" Type="http://schemas.openxmlformats.org/officeDocument/2006/relationships/image" Target="../media/image8.svg"/>
  <Relationship Id="rId4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png"/>
  <Relationship Id="rId3" Type="http://schemas.openxmlformats.org/officeDocument/2006/relationships/image" Target="../media/image9.svg"/>
  <Relationship Id="rId4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png"/>
  <Relationship Id="rId3" Type="http://schemas.openxmlformats.org/officeDocument/2006/relationships/image" Target="../media/image10.svg"/>
  <Relationship Id="rId4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png"/>
  <Relationship Id="rId3" Type="http://schemas.openxmlformats.org/officeDocument/2006/relationships/image" Target="../media/image11.svg"/>
  <Relationship Id="rId4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png"/>
  <Relationship Id="rId3" Type="http://schemas.openxmlformats.org/officeDocument/2006/relationships/image" Target="../media/image12.svg"/>
  <Relationship Id="rId4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3.png"/>
  <Relationship Id="rId3" Type="http://schemas.openxmlformats.org/officeDocument/2006/relationships/image" Target="../media/image13.svg"/>
  <Relationship Id="rId4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4.png"/>
  <Relationship Id="rId3" Type="http://schemas.openxmlformats.org/officeDocument/2006/relationships/image" Target="../media/image14.svg"/>
  <Relationship Id="rId4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