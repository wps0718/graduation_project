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各位老师好，我是本次毕业设计的答辩人。今天我汇报的项目是「轻院二手交易平台」，一款专为广东轻工职业技术大学打造的校园二手交易微信小程序。</a:t>
            </a:r>
          </a:p>
          <a:p>
            <a:endParaRPr lang="zh-CN" dirty="0"/>
          </a:p>
          <a:p>
            <a:r>
              <a:rPr lang="zh-CN" dirty="0"/>
              <a:t>要点：(1) 项目名称与定位 (2) 答辩人信息</a:t>
            </a:r>
          </a:p>
          <a:p>
            <a:r>
              <a:rPr lang="zh-CN" dirty="0"/>
              <a:t>时长：20 秒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首先来看项目背景。经过调研，校园内二手交易存在四个核心痛点：信息分散、信任缺失、效率低下、毕业浪费。学生出售闲置主要依赖 QQ 群和微信群，信息零散且难以检索，也没有任何信用保障机制。因此，我们开发了这款轻院二手交易平台，参考闲鱼模式，结合校园特色，提供完整的二手交易解决方案。</a:t>
            </a:r>
          </a:p>
          <a:p>
            <a:endParaRPr lang="zh-CN" dirty="0"/>
          </a:p>
          <a:p>
            <a:r>
              <a:rPr lang="zh-CN" dirty="0"/>
              <a:t>要点：(1) 四大痛点 (2) 平台定位与解决方案</a:t>
            </a:r>
          </a:p>
          <a:p>
            <a:r>
              <a:rPr lang="zh-CN" dirty="0"/>
              <a:t>时长：30 秒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在技术选型上，项目采用前后端分离的三端架构。前端分为微信小程序和管理后台，小程序使用 uni-app + Vue 3，管理后台使用 Vue 3 + Vite + Element Plus。后端采用 Spring Boot 3.3.7，使用 MyBatis-Plus 作为 ORM 框架，JWT 做认证，Redis 做缓存和分布式锁，另外自建了基于 WebSocket 的即时通讯模块。</a:t>
            </a:r>
          </a:p>
          <a:p>
            <a:endParaRPr lang="zh-CN" dirty="0"/>
          </a:p>
          <a:p>
            <a:r>
              <a:rPr lang="zh-CN" dirty="0"/>
              <a:t>要点：(1) 三端架构 (2) 后端技术栈 (3) 数据层选型</a:t>
            </a:r>
          </a:p>
          <a:p>
            <a:r>
              <a:rPr lang="zh-CN" dirty="0"/>
              <a:t>时长：40 秒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用户体系是平台的基础。我们实现了三种登录方式：微信一键登录、手机号密码登录、短信验证登录，统一使用 JWT Token 认证。校园认证方面，用户上传一卡通照片后由后台人工审核，支持认证历史全轨迹回溯。安全机制上，密码使用 BCrypt 加密，登录失败 5 次锁定 15 分钟，手机号脱敏展示，SQL 注入和 XSS 双重防护。</a:t>
            </a:r>
          </a:p>
          <a:p>
            <a:endParaRPr lang="zh-CN" dirty="0"/>
          </a:p>
          <a:p>
            <a:r>
              <a:rPr lang="zh-CN" dirty="0"/>
              <a:t>要点：(1) 多方式登录 (2) 校园认证流程 (3) 安全机制</a:t>
            </a:r>
          </a:p>
          <a:p>
            <a:r>
              <a:rPr lang="zh-CN" dirty="0"/>
              <a:t>时长：40 秒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交易闭环是项目的核心业务。整个流程分五步：第一步商品发布，审核后上架；第二步 IM 沟通，买家点击「我想要」自动发起聊天；第三步下单交易，使用 Redis 分布式锁防并发，72 小时超时自动取消；第四步双向确认，面交阶段买卖双方独立确认，双方都确认后才完成交易；第五步互评，支持三维度评分，7 天未评自动好评。</a:t>
            </a:r>
          </a:p>
          <a:p>
            <a:endParaRPr lang="zh-CN" dirty="0"/>
          </a:p>
          <a:p>
            <a:r>
              <a:rPr lang="zh-CN" dirty="0"/>
              <a:t>要点：(1) 五步交易流程 (2) 双向确认机制 (3) 评价体系</a:t>
            </a:r>
          </a:p>
          <a:p>
            <a:r>
              <a:rPr lang="zh-CN" dirty="0"/>
              <a:t>时长：50 秒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IM 模块是本项目的一大亮点，完全基于 Spring Boot WebSocket 自建，不依赖第三方 IM 服务。架构上，客户端通过 WebSocket 连接，握手阶段由 ChatHandshakeInterceptor 验证 JWT，通过后由 WebSocketSessionManager 管理在线会话，消息经 MessageDispatcher 分发到 Chat、Read、Ping 三个处理器。核心特性包括心跳保活、未读管理、已读回执、离线通知、业务卡片和踢下线功能。</a:t>
            </a:r>
          </a:p>
          <a:p>
            <a:endParaRPr lang="zh-CN" dirty="0"/>
          </a:p>
          <a:p>
            <a:r>
              <a:rPr lang="zh-CN" dirty="0"/>
              <a:t>要点：(1) 自建 WebSocket 架构 (2) 消息处理链 (3) 六大核心特性</a:t>
            </a:r>
          </a:p>
          <a:p>
            <a:r>
              <a:rPr lang="zh-CN" dirty="0"/>
              <a:t>时长：40 秒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项目有几个关键技术点值得重点说明。第一是 Redis 分布式锁，用于订单创建防并发，同一商品同时只允许一个待面交订单。第二是定时任务体系，共有 6 个 @Scheduled 任务，覆盖订单超时、自动确认、自动好评、评价提醒、商品下架和账号注销，全部可通过配置文件开关控制。第三是多级缓存策略，采用 Cache-Aside 模式，通过缓存空值防穿透、随机 TTL 防雪崩。</a:t>
            </a:r>
          </a:p>
          <a:p>
            <a:endParaRPr lang="zh-CN" dirty="0"/>
          </a:p>
          <a:p>
            <a:r>
              <a:rPr lang="zh-CN" dirty="0"/>
              <a:t>要点：(1) 分布式锁防并发 (2) 6 个定时任务 (3) 多级缓存策略</a:t>
            </a:r>
          </a:p>
          <a:p>
            <a:r>
              <a:rPr lang="zh-CN" dirty="0"/>
              <a:t>时长：50 秒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这是系统的界面展示。左侧是微信小程序端，包含首页商品流、Banner 运营位、分类入口和四 Tab 布局。右侧是管理后台，包含数据概览、ECharts 图表、审核管理等功能。小程序和管理后台双端均已完整实现，实际运行效果请参见现场演示。</a:t>
            </a:r>
          </a:p>
          <a:p>
            <a:endParaRPr lang="zh-CN" dirty="0"/>
          </a:p>
          <a:p>
            <a:r>
              <a:rPr lang="zh-CN" dirty="0"/>
              <a:t>要点：(1) 小程序端界面 (2) 管理后台界面 (3) 双端完整实现</a:t>
            </a:r>
          </a:p>
          <a:p>
            <a:r>
              <a:rPr lang="zh-CN" dirty="0"/>
              <a:t>时长：25 秒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最后总结一下项目成果。后端服务完成度 98%，管理后台 99%，小程序端 96%，共完成 20 多项核心功能，涵盖登录注册、校园认证、商品管理、IM 通讯、订单交易、评价系统、举报处理和后台管理等模块。技术上实现了 WebSocket 自建 IM、Redis 分布式锁、定时任务、多级缓存、JWT 认证等关键技术点。</a:t>
            </a:r>
          </a:p>
          <a:p>
            <a:endParaRPr lang="zh-CN" dirty="0"/>
          </a:p>
          <a:p>
            <a:r>
              <a:rPr lang="zh-CN" dirty="0"/>
              <a:t>要点：(1) 三端完成度数据 (2) 20+ 核心功能 (3) 关键技术实现</a:t>
            </a:r>
          </a:p>
          <a:p>
            <a:r>
              <a:rPr lang="zh-CN" dirty="0"/>
              <a:t>时长：30 秒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以上就是我的毕业设计汇报，感谢各位老师的指导与聆听，请老师们批评指正。</a:t>
            </a:r>
          </a:p>
          <a:p>
            <a:endParaRPr lang="zh-CN" dirty="0"/>
          </a:p>
          <a:p>
            <a:r>
              <a:rPr lang="zh-CN" dirty="0"/>
              <a:t>要点：(1) 感谢致意</a:t>
            </a:r>
          </a:p>
          <a:p>
            <a:r>
              <a:rPr lang="zh-CN" dirty="0"/>
              <a:t>时长：10 秒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6F00">
                  <a:alpha val="10000"/>
                </a:srgbClr>
              </a:gs>
              <a:gs pos="100000">
                <a:srgbClr val="FF6F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2476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0" y="4381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2667000"/>
            <a:ext cx="57150" cy="1524000"/>
          </a:xfrm>
          <a:custGeom>
            <a:avLst/>
            <a:gdLst/>
            <a:ahLst/>
            <a:cxnLst/>
            <a:rect l="l" t="t" r="r" b="b"/>
            <a:pathLst>
              <a:path w="57150" h="1524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495425"/>
                </a:lnTo>
                <a:cubicBezTo>
                  <a:pt x="57150" y="1511207"/>
                  <a:pt x="44357" y="1524000"/>
                  <a:pt x="28575" y="1524000"/>
                </a:cubicBezTo>
                <a:lnTo>
                  <a:pt x="28575" y="1524000"/>
                </a:lnTo>
                <a:cubicBezTo>
                  <a:pt x="12793" y="1524000"/>
                  <a:pt x="0" y="1511207"/>
                  <a:pt x="0" y="1495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00100" y="2752725"/>
            <a:ext cx="563499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轻院二手交易平台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3440" y="3472815"/>
            <a:ext cx="48171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>
                    <a:alpha val="85000"/>
                  </a:srgbClr>
                </a:solidFill>
                <a:latin typeface="Arial"/>
                <a:ea typeface="Microsoft YaHei"/>
                <a:cs typeface="Arial"/>
              </a:rPr>
              <a:t>校园二手交易微信小程序 — 毕业设计答辩</a:t>
            </a:r>
          </a:p>
        </p:txBody>
      </p:sp>
      <p:sp>
        <p:nvSpPr>
          <p:cNvPr id="10" name="Line 10"/>
          <p:cNvSpPr/>
          <p:nvPr/>
        </p:nvSpPr>
        <p:spPr>
          <a:xfrm>
            <a:off x="857250" y="4000500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9050">
            <a:solidFill>
              <a:srgbClr val="FF6F0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59155" y="4188142"/>
            <a:ext cx="32974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广东轻工职业技术大学 | 2026 年 5 月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953750" y="61912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>
            <a:srgbClr val="FF6F00">
              <a:alpha val="15000"/>
            </a:srgbClr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10287000" y="6381750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238125" y="0"/>
                </a:moveTo>
                <a:lnTo>
                  <a:pt x="238125" y="0"/>
                </a:lnTo>
                <a:cubicBezTo>
                  <a:pt x="369638" y="0"/>
                  <a:pt x="476250" y="106612"/>
                  <a:pt x="476250" y="238125"/>
                </a:cubicBezTo>
                <a:lnTo>
                  <a:pt x="476250" y="238125"/>
                </a:lnTo>
                <a:cubicBezTo>
                  <a:pt x="476250" y="369638"/>
                  <a:pt x="369638" y="476250"/>
                  <a:pt x="238125" y="476250"/>
                </a:cubicBezTo>
                <a:lnTo>
                  <a:pt x="238125" y="476250"/>
                </a:lnTo>
                <a:cubicBezTo>
                  <a:pt x="106612" y="476250"/>
                  <a:pt x="0" y="369638"/>
                  <a:pt x="0" y="23812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571500" y="381000"/>
            <a:ext cx="57150" cy="304800"/>
          </a:xfrm>
          <a:custGeom>
            <a:avLst/>
            <a:gdLst/>
            <a:ahLst/>
            <a:cxnLst/>
            <a:rect l="l" t="t" r="r" b="b"/>
            <a:pathLst>
              <a:path w="57150" h="3048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76225"/>
                </a:lnTo>
                <a:cubicBezTo>
                  <a:pt x="57150" y="292007"/>
                  <a:pt x="44357" y="304800"/>
                  <a:pt x="28575" y="304800"/>
                </a:cubicBezTo>
                <a:lnTo>
                  <a:pt x="28575" y="304800"/>
                </a:lnTo>
                <a:cubicBezTo>
                  <a:pt x="12793" y="304800"/>
                  <a:pt x="0" y="292007"/>
                  <a:pt x="0" y="2762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69570"/>
            <a:ext cx="2637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项目背景与痛点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47750"/>
            <a:ext cx="5238750" cy="1143000"/>
          </a:xfrm>
          <a:custGeom>
            <a:avLst/>
            <a:gdLst/>
            <a:ahLst/>
            <a:cxnLst/>
            <a:rect l="l" t="t" r="r" b="b"/>
            <a:pathLst>
              <a:path w="5238750" h="1143000">
                <a:moveTo>
                  <a:pt x="114300" y="0"/>
                </a:moveTo>
                <a:lnTo>
                  <a:pt x="5124450" y="0"/>
                </a:lnTo>
                <a:cubicBezTo>
                  <a:pt x="5187576" y="0"/>
                  <a:pt x="5238750" y="51174"/>
                  <a:pt x="5238750" y="114300"/>
                </a:cubicBezTo>
                <a:lnTo>
                  <a:pt x="5238750" y="1028700"/>
                </a:lnTo>
                <a:cubicBezTo>
                  <a:pt x="5238750" y="1091826"/>
                  <a:pt x="5187576" y="1143000"/>
                  <a:pt x="512445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7" name="Freeform 7"/>
          <p:cNvSpPr/>
          <p:nvPr/>
        </p:nvSpPr>
        <p:spPr>
          <a:xfrm>
            <a:off x="571500" y="104775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809638" y="1333008"/>
            <a:ext cx="247495" cy="214760"/>
          </a:xfrm>
          <a:custGeom>
            <a:avLst/>
            <a:gdLst/>
            <a:ahLst/>
            <a:cxnLst/>
            <a:rect l="l" t="t" r="r" b="b"/>
            <a:pathLst>
              <a:path w="247495" h="214760">
                <a:moveTo>
                  <a:pt x="123812" y="0"/>
                </a:moveTo>
                <a:cubicBezTo>
                  <a:pt x="134425" y="0"/>
                  <a:pt x="144315" y="5190"/>
                  <a:pt x="150371" y="13857"/>
                </a:cubicBezTo>
                <a:lnTo>
                  <a:pt x="151538" y="15635"/>
                </a:lnTo>
                <a:lnTo>
                  <a:pt x="241705" y="166187"/>
                </a:lnTo>
                <a:cubicBezTo>
                  <a:pt x="247275" y="175835"/>
                  <a:pt x="247495" y="187668"/>
                  <a:pt x="242288" y="197516"/>
                </a:cubicBezTo>
                <a:cubicBezTo>
                  <a:pt x="237081" y="207363"/>
                  <a:pt x="227177" y="213843"/>
                  <a:pt x="216068" y="214671"/>
                </a:cubicBezTo>
                <a:lnTo>
                  <a:pt x="213901" y="214760"/>
                </a:lnTo>
                <a:lnTo>
                  <a:pt x="33601" y="214760"/>
                </a:lnTo>
                <a:cubicBezTo>
                  <a:pt x="22481" y="214635"/>
                  <a:pt x="12203" y="208813"/>
                  <a:pt x="6379" y="199339"/>
                </a:cubicBezTo>
                <a:cubicBezTo>
                  <a:pt x="555" y="189866"/>
                  <a:pt x="0" y="178066"/>
                  <a:pt x="4908" y="168088"/>
                </a:cubicBezTo>
                <a:lnTo>
                  <a:pt x="6009" y="166032"/>
                </a:lnTo>
                <a:lnTo>
                  <a:pt x="96131" y="15591"/>
                </a:lnTo>
                <a:cubicBezTo>
                  <a:pt x="101999" y="5914"/>
                  <a:pt x="112495" y="2"/>
                  <a:pt x="123812" y="0"/>
                </a:cubicBezTo>
                <a:close/>
                <a:moveTo>
                  <a:pt x="123923" y="148130"/>
                </a:moveTo>
                <a:lnTo>
                  <a:pt x="122512" y="148207"/>
                </a:lnTo>
                <a:cubicBezTo>
                  <a:pt x="116922" y="148872"/>
                  <a:pt x="112712" y="153613"/>
                  <a:pt x="112712" y="159242"/>
                </a:cubicBezTo>
                <a:cubicBezTo>
                  <a:pt x="112712" y="164872"/>
                  <a:pt x="116922" y="169612"/>
                  <a:pt x="122512" y="170277"/>
                </a:cubicBezTo>
                <a:lnTo>
                  <a:pt x="123812" y="170355"/>
                </a:lnTo>
                <a:lnTo>
                  <a:pt x="125223" y="170277"/>
                </a:lnTo>
                <a:cubicBezTo>
                  <a:pt x="130814" y="169612"/>
                  <a:pt x="135023" y="164872"/>
                  <a:pt x="135023" y="159242"/>
                </a:cubicBezTo>
                <a:cubicBezTo>
                  <a:pt x="135023" y="153613"/>
                  <a:pt x="130814" y="148872"/>
                  <a:pt x="125223" y="148207"/>
                </a:cubicBezTo>
                <a:lnTo>
                  <a:pt x="123923" y="148130"/>
                </a:lnTo>
                <a:close/>
                <a:moveTo>
                  <a:pt x="123812" y="70342"/>
                </a:moveTo>
                <a:cubicBezTo>
                  <a:pt x="118178" y="70343"/>
                  <a:pt x="113437" y="74559"/>
                  <a:pt x="112777" y="80154"/>
                </a:cubicBezTo>
                <a:lnTo>
                  <a:pt x="112700" y="81455"/>
                </a:lnTo>
                <a:lnTo>
                  <a:pt x="112700" y="125905"/>
                </a:lnTo>
                <a:lnTo>
                  <a:pt x="112777" y="127205"/>
                </a:lnTo>
                <a:cubicBezTo>
                  <a:pt x="113442" y="132795"/>
                  <a:pt x="118183" y="137005"/>
                  <a:pt x="123812" y="137005"/>
                </a:cubicBezTo>
                <a:cubicBezTo>
                  <a:pt x="129442" y="137005"/>
                  <a:pt x="134182" y="132795"/>
                  <a:pt x="134847" y="127205"/>
                </a:cubicBezTo>
                <a:lnTo>
                  <a:pt x="134925" y="125905"/>
                </a:lnTo>
                <a:lnTo>
                  <a:pt x="134925" y="81455"/>
                </a:lnTo>
                <a:lnTo>
                  <a:pt x="134847" y="80154"/>
                </a:lnTo>
                <a:cubicBezTo>
                  <a:pt x="134188" y="74559"/>
                  <a:pt x="129446" y="70343"/>
                  <a:pt x="123812" y="70342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62050" y="130492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痛点一：信息分散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5860" y="1604010"/>
            <a:ext cx="53058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学生出售闲置物品依赖 QQ 群、微信群，信息零散、易刷屏、难检索</a:t>
            </a:r>
          </a:p>
        </p:txBody>
      </p:sp>
      <p:sp>
        <p:nvSpPr>
          <p:cNvPr id="11" name="Freeform 11"/>
          <p:cNvSpPr/>
          <p:nvPr/>
        </p:nvSpPr>
        <p:spPr>
          <a:xfrm>
            <a:off x="571500" y="2381250"/>
            <a:ext cx="5238750" cy="1143000"/>
          </a:xfrm>
          <a:custGeom>
            <a:avLst/>
            <a:gdLst/>
            <a:ahLst/>
            <a:cxnLst/>
            <a:rect l="l" t="t" r="r" b="b"/>
            <a:pathLst>
              <a:path w="5238750" h="1143000">
                <a:moveTo>
                  <a:pt x="114300" y="0"/>
                </a:moveTo>
                <a:lnTo>
                  <a:pt x="5124450" y="0"/>
                </a:lnTo>
                <a:cubicBezTo>
                  <a:pt x="5187576" y="0"/>
                  <a:pt x="5238750" y="51174"/>
                  <a:pt x="5238750" y="114300"/>
                </a:cubicBezTo>
                <a:lnTo>
                  <a:pt x="5238750" y="1028700"/>
                </a:lnTo>
                <a:cubicBezTo>
                  <a:pt x="5238750" y="1091826"/>
                  <a:pt x="5187576" y="1143000"/>
                  <a:pt x="512445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12" name="Freeform 12"/>
          <p:cNvSpPr/>
          <p:nvPr/>
        </p:nvSpPr>
        <p:spPr>
          <a:xfrm>
            <a:off x="571500" y="238125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809638" y="2666508"/>
            <a:ext cx="247495" cy="214760"/>
          </a:xfrm>
          <a:custGeom>
            <a:avLst/>
            <a:gdLst/>
            <a:ahLst/>
            <a:cxnLst/>
            <a:rect l="l" t="t" r="r" b="b"/>
            <a:pathLst>
              <a:path w="247495" h="214760">
                <a:moveTo>
                  <a:pt x="123812" y="0"/>
                </a:moveTo>
                <a:cubicBezTo>
                  <a:pt x="134425" y="0"/>
                  <a:pt x="144315" y="5190"/>
                  <a:pt x="150371" y="13857"/>
                </a:cubicBezTo>
                <a:lnTo>
                  <a:pt x="151538" y="15635"/>
                </a:lnTo>
                <a:lnTo>
                  <a:pt x="241705" y="166187"/>
                </a:lnTo>
                <a:cubicBezTo>
                  <a:pt x="247275" y="175835"/>
                  <a:pt x="247495" y="187668"/>
                  <a:pt x="242288" y="197516"/>
                </a:cubicBezTo>
                <a:cubicBezTo>
                  <a:pt x="237081" y="207363"/>
                  <a:pt x="227177" y="213843"/>
                  <a:pt x="216068" y="214671"/>
                </a:cubicBezTo>
                <a:lnTo>
                  <a:pt x="213901" y="214760"/>
                </a:lnTo>
                <a:lnTo>
                  <a:pt x="33601" y="214760"/>
                </a:lnTo>
                <a:cubicBezTo>
                  <a:pt x="22481" y="214635"/>
                  <a:pt x="12203" y="208813"/>
                  <a:pt x="6379" y="199339"/>
                </a:cubicBezTo>
                <a:cubicBezTo>
                  <a:pt x="555" y="189866"/>
                  <a:pt x="0" y="178066"/>
                  <a:pt x="4908" y="168088"/>
                </a:cubicBezTo>
                <a:lnTo>
                  <a:pt x="6009" y="166032"/>
                </a:lnTo>
                <a:lnTo>
                  <a:pt x="96131" y="15591"/>
                </a:lnTo>
                <a:cubicBezTo>
                  <a:pt x="101999" y="5914"/>
                  <a:pt x="112495" y="2"/>
                  <a:pt x="123812" y="0"/>
                </a:cubicBezTo>
                <a:close/>
                <a:moveTo>
                  <a:pt x="123923" y="148130"/>
                </a:moveTo>
                <a:lnTo>
                  <a:pt x="122512" y="148207"/>
                </a:lnTo>
                <a:cubicBezTo>
                  <a:pt x="116922" y="148872"/>
                  <a:pt x="112712" y="153613"/>
                  <a:pt x="112712" y="159242"/>
                </a:cubicBezTo>
                <a:cubicBezTo>
                  <a:pt x="112712" y="164872"/>
                  <a:pt x="116922" y="169612"/>
                  <a:pt x="122512" y="170277"/>
                </a:cubicBezTo>
                <a:lnTo>
                  <a:pt x="123812" y="170355"/>
                </a:lnTo>
                <a:lnTo>
                  <a:pt x="125223" y="170277"/>
                </a:lnTo>
                <a:cubicBezTo>
                  <a:pt x="130814" y="169612"/>
                  <a:pt x="135023" y="164872"/>
                  <a:pt x="135023" y="159242"/>
                </a:cubicBezTo>
                <a:cubicBezTo>
                  <a:pt x="135023" y="153613"/>
                  <a:pt x="130814" y="148872"/>
                  <a:pt x="125223" y="148207"/>
                </a:cubicBezTo>
                <a:lnTo>
                  <a:pt x="123923" y="148130"/>
                </a:lnTo>
                <a:close/>
                <a:moveTo>
                  <a:pt x="123812" y="70342"/>
                </a:moveTo>
                <a:cubicBezTo>
                  <a:pt x="118178" y="70343"/>
                  <a:pt x="113437" y="74559"/>
                  <a:pt x="112777" y="80154"/>
                </a:cubicBezTo>
                <a:lnTo>
                  <a:pt x="112700" y="81455"/>
                </a:lnTo>
                <a:lnTo>
                  <a:pt x="112700" y="125905"/>
                </a:lnTo>
                <a:lnTo>
                  <a:pt x="112777" y="127205"/>
                </a:lnTo>
                <a:cubicBezTo>
                  <a:pt x="113442" y="132795"/>
                  <a:pt x="118183" y="137005"/>
                  <a:pt x="123812" y="137005"/>
                </a:cubicBezTo>
                <a:cubicBezTo>
                  <a:pt x="129442" y="137005"/>
                  <a:pt x="134182" y="132795"/>
                  <a:pt x="134847" y="127205"/>
                </a:cubicBezTo>
                <a:lnTo>
                  <a:pt x="134925" y="125905"/>
                </a:lnTo>
                <a:lnTo>
                  <a:pt x="134925" y="81455"/>
                </a:lnTo>
                <a:lnTo>
                  <a:pt x="134847" y="80154"/>
                </a:lnTo>
                <a:cubicBezTo>
                  <a:pt x="134188" y="74559"/>
                  <a:pt x="129446" y="70343"/>
                  <a:pt x="123812" y="70342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62050" y="263842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痛点二：信任缺失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5860" y="2937510"/>
            <a:ext cx="40614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群内交易无信用体系，商品质量和卖家信誉无法保障</a:t>
            </a:r>
          </a:p>
        </p:txBody>
      </p:sp>
      <p:sp>
        <p:nvSpPr>
          <p:cNvPr id="16" name="Freeform 16"/>
          <p:cNvSpPr/>
          <p:nvPr/>
        </p:nvSpPr>
        <p:spPr>
          <a:xfrm>
            <a:off x="571500" y="3714750"/>
            <a:ext cx="5238750" cy="1143000"/>
          </a:xfrm>
          <a:custGeom>
            <a:avLst/>
            <a:gdLst/>
            <a:ahLst/>
            <a:cxnLst/>
            <a:rect l="l" t="t" r="r" b="b"/>
            <a:pathLst>
              <a:path w="5238750" h="1143000">
                <a:moveTo>
                  <a:pt x="114300" y="0"/>
                </a:moveTo>
                <a:lnTo>
                  <a:pt x="5124450" y="0"/>
                </a:lnTo>
                <a:cubicBezTo>
                  <a:pt x="5187576" y="0"/>
                  <a:pt x="5238750" y="51174"/>
                  <a:pt x="5238750" y="114300"/>
                </a:cubicBezTo>
                <a:lnTo>
                  <a:pt x="5238750" y="1028700"/>
                </a:lnTo>
                <a:cubicBezTo>
                  <a:pt x="5238750" y="1091826"/>
                  <a:pt x="5187576" y="1143000"/>
                  <a:pt x="512445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17" name="Freeform 17"/>
          <p:cNvSpPr/>
          <p:nvPr/>
        </p:nvSpPr>
        <p:spPr>
          <a:xfrm>
            <a:off x="571500" y="371475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809638" y="4000008"/>
            <a:ext cx="247495" cy="214760"/>
          </a:xfrm>
          <a:custGeom>
            <a:avLst/>
            <a:gdLst/>
            <a:ahLst/>
            <a:cxnLst/>
            <a:rect l="l" t="t" r="r" b="b"/>
            <a:pathLst>
              <a:path w="247495" h="214760">
                <a:moveTo>
                  <a:pt x="123812" y="0"/>
                </a:moveTo>
                <a:cubicBezTo>
                  <a:pt x="134425" y="0"/>
                  <a:pt x="144315" y="5190"/>
                  <a:pt x="150371" y="13857"/>
                </a:cubicBezTo>
                <a:lnTo>
                  <a:pt x="151538" y="15635"/>
                </a:lnTo>
                <a:lnTo>
                  <a:pt x="241705" y="166187"/>
                </a:lnTo>
                <a:cubicBezTo>
                  <a:pt x="247275" y="175835"/>
                  <a:pt x="247495" y="187668"/>
                  <a:pt x="242288" y="197516"/>
                </a:cubicBezTo>
                <a:cubicBezTo>
                  <a:pt x="237081" y="207363"/>
                  <a:pt x="227177" y="213843"/>
                  <a:pt x="216068" y="214671"/>
                </a:cubicBezTo>
                <a:lnTo>
                  <a:pt x="213901" y="214760"/>
                </a:lnTo>
                <a:lnTo>
                  <a:pt x="33601" y="214760"/>
                </a:lnTo>
                <a:cubicBezTo>
                  <a:pt x="22481" y="214635"/>
                  <a:pt x="12203" y="208813"/>
                  <a:pt x="6379" y="199339"/>
                </a:cubicBezTo>
                <a:cubicBezTo>
                  <a:pt x="555" y="189866"/>
                  <a:pt x="0" y="178066"/>
                  <a:pt x="4908" y="168088"/>
                </a:cubicBezTo>
                <a:lnTo>
                  <a:pt x="6009" y="166032"/>
                </a:lnTo>
                <a:lnTo>
                  <a:pt x="96131" y="15591"/>
                </a:lnTo>
                <a:cubicBezTo>
                  <a:pt x="101999" y="5914"/>
                  <a:pt x="112495" y="2"/>
                  <a:pt x="123812" y="0"/>
                </a:cubicBezTo>
                <a:close/>
                <a:moveTo>
                  <a:pt x="123923" y="148130"/>
                </a:moveTo>
                <a:lnTo>
                  <a:pt x="122512" y="148207"/>
                </a:lnTo>
                <a:cubicBezTo>
                  <a:pt x="116922" y="148872"/>
                  <a:pt x="112712" y="153613"/>
                  <a:pt x="112712" y="159242"/>
                </a:cubicBezTo>
                <a:cubicBezTo>
                  <a:pt x="112712" y="164872"/>
                  <a:pt x="116922" y="169612"/>
                  <a:pt x="122512" y="170277"/>
                </a:cubicBezTo>
                <a:lnTo>
                  <a:pt x="123812" y="170355"/>
                </a:lnTo>
                <a:lnTo>
                  <a:pt x="125223" y="170277"/>
                </a:lnTo>
                <a:cubicBezTo>
                  <a:pt x="130814" y="169612"/>
                  <a:pt x="135023" y="164872"/>
                  <a:pt x="135023" y="159242"/>
                </a:cubicBezTo>
                <a:cubicBezTo>
                  <a:pt x="135023" y="153613"/>
                  <a:pt x="130814" y="148872"/>
                  <a:pt x="125223" y="148207"/>
                </a:cubicBezTo>
                <a:lnTo>
                  <a:pt x="123923" y="148130"/>
                </a:lnTo>
                <a:close/>
                <a:moveTo>
                  <a:pt x="123812" y="70342"/>
                </a:moveTo>
                <a:cubicBezTo>
                  <a:pt x="118178" y="70343"/>
                  <a:pt x="113437" y="74559"/>
                  <a:pt x="112777" y="80154"/>
                </a:cubicBezTo>
                <a:lnTo>
                  <a:pt x="112700" y="81455"/>
                </a:lnTo>
                <a:lnTo>
                  <a:pt x="112700" y="125905"/>
                </a:lnTo>
                <a:lnTo>
                  <a:pt x="112777" y="127205"/>
                </a:lnTo>
                <a:cubicBezTo>
                  <a:pt x="113442" y="132795"/>
                  <a:pt x="118183" y="137005"/>
                  <a:pt x="123812" y="137005"/>
                </a:cubicBezTo>
                <a:cubicBezTo>
                  <a:pt x="129442" y="137005"/>
                  <a:pt x="134182" y="132795"/>
                  <a:pt x="134847" y="127205"/>
                </a:cubicBezTo>
                <a:lnTo>
                  <a:pt x="134925" y="125905"/>
                </a:lnTo>
                <a:lnTo>
                  <a:pt x="134925" y="81455"/>
                </a:lnTo>
                <a:lnTo>
                  <a:pt x="134847" y="80154"/>
                </a:lnTo>
                <a:cubicBezTo>
                  <a:pt x="134188" y="74559"/>
                  <a:pt x="129446" y="70343"/>
                  <a:pt x="123812" y="70342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62050" y="397192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痛点三：效率低下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5860" y="4271010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买卖双方缺乏高效的沟通和交易管理工具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5048250"/>
            <a:ext cx="5238750" cy="1143000"/>
          </a:xfrm>
          <a:custGeom>
            <a:avLst/>
            <a:gdLst/>
            <a:ahLst/>
            <a:cxnLst/>
            <a:rect l="l" t="t" r="r" b="b"/>
            <a:pathLst>
              <a:path w="5238750" h="1143000">
                <a:moveTo>
                  <a:pt x="114300" y="0"/>
                </a:moveTo>
                <a:lnTo>
                  <a:pt x="5124450" y="0"/>
                </a:lnTo>
                <a:cubicBezTo>
                  <a:pt x="5187576" y="0"/>
                  <a:pt x="5238750" y="51174"/>
                  <a:pt x="5238750" y="114300"/>
                </a:cubicBezTo>
                <a:lnTo>
                  <a:pt x="5238750" y="1028700"/>
                </a:lnTo>
                <a:cubicBezTo>
                  <a:pt x="5238750" y="1091826"/>
                  <a:pt x="5187576" y="1143000"/>
                  <a:pt x="512445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22" name="Freeform 22"/>
          <p:cNvSpPr/>
          <p:nvPr/>
        </p:nvSpPr>
        <p:spPr>
          <a:xfrm>
            <a:off x="571500" y="504825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809638" y="5333508"/>
            <a:ext cx="247495" cy="214760"/>
          </a:xfrm>
          <a:custGeom>
            <a:avLst/>
            <a:gdLst/>
            <a:ahLst/>
            <a:cxnLst/>
            <a:rect l="l" t="t" r="r" b="b"/>
            <a:pathLst>
              <a:path w="247495" h="214760">
                <a:moveTo>
                  <a:pt x="123812" y="0"/>
                </a:moveTo>
                <a:cubicBezTo>
                  <a:pt x="134425" y="0"/>
                  <a:pt x="144315" y="5190"/>
                  <a:pt x="150371" y="13857"/>
                </a:cubicBezTo>
                <a:lnTo>
                  <a:pt x="151538" y="15635"/>
                </a:lnTo>
                <a:lnTo>
                  <a:pt x="241705" y="166187"/>
                </a:lnTo>
                <a:cubicBezTo>
                  <a:pt x="247275" y="175835"/>
                  <a:pt x="247495" y="187668"/>
                  <a:pt x="242288" y="197516"/>
                </a:cubicBezTo>
                <a:cubicBezTo>
                  <a:pt x="237081" y="207363"/>
                  <a:pt x="227177" y="213843"/>
                  <a:pt x="216068" y="214671"/>
                </a:cubicBezTo>
                <a:lnTo>
                  <a:pt x="213901" y="214760"/>
                </a:lnTo>
                <a:lnTo>
                  <a:pt x="33601" y="214760"/>
                </a:lnTo>
                <a:cubicBezTo>
                  <a:pt x="22481" y="214635"/>
                  <a:pt x="12203" y="208813"/>
                  <a:pt x="6379" y="199339"/>
                </a:cubicBezTo>
                <a:cubicBezTo>
                  <a:pt x="555" y="189866"/>
                  <a:pt x="0" y="178066"/>
                  <a:pt x="4908" y="168088"/>
                </a:cubicBezTo>
                <a:lnTo>
                  <a:pt x="6009" y="166032"/>
                </a:lnTo>
                <a:lnTo>
                  <a:pt x="96131" y="15591"/>
                </a:lnTo>
                <a:cubicBezTo>
                  <a:pt x="101999" y="5914"/>
                  <a:pt x="112495" y="2"/>
                  <a:pt x="123812" y="0"/>
                </a:cubicBezTo>
                <a:close/>
                <a:moveTo>
                  <a:pt x="123923" y="148130"/>
                </a:moveTo>
                <a:lnTo>
                  <a:pt x="122512" y="148207"/>
                </a:lnTo>
                <a:cubicBezTo>
                  <a:pt x="116922" y="148872"/>
                  <a:pt x="112712" y="153613"/>
                  <a:pt x="112712" y="159242"/>
                </a:cubicBezTo>
                <a:cubicBezTo>
                  <a:pt x="112712" y="164872"/>
                  <a:pt x="116922" y="169612"/>
                  <a:pt x="122512" y="170277"/>
                </a:cubicBezTo>
                <a:lnTo>
                  <a:pt x="123812" y="170355"/>
                </a:lnTo>
                <a:lnTo>
                  <a:pt x="125223" y="170277"/>
                </a:lnTo>
                <a:cubicBezTo>
                  <a:pt x="130814" y="169612"/>
                  <a:pt x="135023" y="164872"/>
                  <a:pt x="135023" y="159242"/>
                </a:cubicBezTo>
                <a:cubicBezTo>
                  <a:pt x="135023" y="153613"/>
                  <a:pt x="130814" y="148872"/>
                  <a:pt x="125223" y="148207"/>
                </a:cubicBezTo>
                <a:lnTo>
                  <a:pt x="123923" y="148130"/>
                </a:lnTo>
                <a:close/>
                <a:moveTo>
                  <a:pt x="123812" y="70342"/>
                </a:moveTo>
                <a:cubicBezTo>
                  <a:pt x="118178" y="70343"/>
                  <a:pt x="113437" y="74559"/>
                  <a:pt x="112777" y="80154"/>
                </a:cubicBezTo>
                <a:lnTo>
                  <a:pt x="112700" y="81455"/>
                </a:lnTo>
                <a:lnTo>
                  <a:pt x="112700" y="125905"/>
                </a:lnTo>
                <a:lnTo>
                  <a:pt x="112777" y="127205"/>
                </a:lnTo>
                <a:cubicBezTo>
                  <a:pt x="113442" y="132795"/>
                  <a:pt x="118183" y="137005"/>
                  <a:pt x="123812" y="137005"/>
                </a:cubicBezTo>
                <a:cubicBezTo>
                  <a:pt x="129442" y="137005"/>
                  <a:pt x="134182" y="132795"/>
                  <a:pt x="134847" y="127205"/>
                </a:cubicBezTo>
                <a:lnTo>
                  <a:pt x="134925" y="125905"/>
                </a:lnTo>
                <a:lnTo>
                  <a:pt x="134925" y="81455"/>
                </a:lnTo>
                <a:lnTo>
                  <a:pt x="134847" y="80154"/>
                </a:lnTo>
                <a:cubicBezTo>
                  <a:pt x="134188" y="74559"/>
                  <a:pt x="129446" y="70343"/>
                  <a:pt x="123812" y="70342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62050" y="530542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痛点四：毕业浪费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5860" y="5604510"/>
            <a:ext cx="38862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每年毕业季大量物品被丢弃，缺乏集中的处理渠道</a:t>
            </a:r>
          </a:p>
        </p:txBody>
      </p:sp>
      <p:sp>
        <p:nvSpPr>
          <p:cNvPr id="26" name="Freeform 26"/>
          <p:cNvSpPr/>
          <p:nvPr/>
        </p:nvSpPr>
        <p:spPr>
          <a:xfrm>
            <a:off x="6191250" y="1047750"/>
            <a:ext cx="5429250" cy="5143500"/>
          </a:xfrm>
          <a:custGeom>
            <a:avLst/>
            <a:gdLst/>
            <a:ahLst/>
            <a:cxnLst/>
            <a:rect l="l" t="t" r="r" b="b"/>
            <a:pathLst>
              <a:path w="5429250" h="5143500">
                <a:moveTo>
                  <a:pt x="152400" y="0"/>
                </a:moveTo>
                <a:lnTo>
                  <a:pt x="5276850" y="0"/>
                </a:lnTo>
                <a:cubicBezTo>
                  <a:pt x="5361018" y="0"/>
                  <a:pt x="5429250" y="68232"/>
                  <a:pt x="5429250" y="152400"/>
                </a:cubicBezTo>
                <a:lnTo>
                  <a:pt x="5429250" y="4991100"/>
                </a:lnTo>
                <a:cubicBezTo>
                  <a:pt x="5429250" y="5075268"/>
                  <a:pt x="5361018" y="5143500"/>
                  <a:pt x="5276850" y="5143500"/>
                </a:cubicBezTo>
                <a:lnTo>
                  <a:pt x="152400" y="5143500"/>
                </a:lnTo>
                <a:cubicBezTo>
                  <a:pt x="68232" y="5143500"/>
                  <a:pt x="0" y="5075268"/>
                  <a:pt x="0" y="4991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1565C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27" name="Freeform 27"/>
          <p:cNvSpPr/>
          <p:nvPr/>
        </p:nvSpPr>
        <p:spPr>
          <a:xfrm>
            <a:off x="6191250" y="1047750"/>
            <a:ext cx="5429250" cy="533400"/>
          </a:xfrm>
          <a:custGeom>
            <a:avLst/>
            <a:gdLst/>
            <a:ahLst/>
            <a:cxnLst/>
            <a:rect l="l" t="t" r="r" b="b"/>
            <a:pathLst>
              <a:path w="5429250" h="533400">
                <a:moveTo>
                  <a:pt x="152400" y="0"/>
                </a:moveTo>
                <a:lnTo>
                  <a:pt x="5276850" y="0"/>
                </a:lnTo>
                <a:cubicBezTo>
                  <a:pt x="5361018" y="0"/>
                  <a:pt x="5429250" y="68232"/>
                  <a:pt x="5429250" y="152400"/>
                </a:cubicBezTo>
                <a:lnTo>
                  <a:pt x="5429250" y="381000"/>
                </a:lnTo>
                <a:cubicBezTo>
                  <a:pt x="5429250" y="465168"/>
                  <a:pt x="5361018" y="533400"/>
                  <a:pt x="5276850" y="533400"/>
                </a:cubicBezTo>
                <a:lnTo>
                  <a:pt x="152400" y="533400"/>
                </a:lnTo>
                <a:cubicBezTo>
                  <a:pt x="68232" y="533400"/>
                  <a:pt x="0" y="465168"/>
                  <a:pt x="0" y="3810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191250" y="1428750"/>
            <a:ext cx="5429250" cy="1524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378857" y="12125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53200" y="1838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轻院二手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57010" y="21564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一款专为广东轻工职业技术大学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57010" y="2394585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在校学生打造的微信小程序</a:t>
            </a:r>
          </a:p>
        </p:txBody>
      </p:sp>
      <p:sp>
        <p:nvSpPr>
          <p:cNvPr id="33" name="Freeform 33"/>
          <p:cNvSpPr/>
          <p:nvPr/>
        </p:nvSpPr>
        <p:spPr>
          <a:xfrm>
            <a:off x="6606424" y="2956662"/>
            <a:ext cx="150032" cy="106476"/>
          </a:xfrm>
          <a:custGeom>
            <a:avLst/>
            <a:gdLst/>
            <a:ahLst/>
            <a:cxnLst/>
            <a:rect l="l" t="t" r="r" b="b"/>
            <a:pathLst>
              <a:path w="150032" h="106476">
                <a:moveTo>
                  <a:pt x="146624" y="3409"/>
                </a:moveTo>
                <a:cubicBezTo>
                  <a:pt x="150032" y="6818"/>
                  <a:pt x="150032" y="12345"/>
                  <a:pt x="146624" y="15755"/>
                </a:cubicBezTo>
                <a:lnTo>
                  <a:pt x="59311" y="103067"/>
                </a:lnTo>
                <a:cubicBezTo>
                  <a:pt x="55902" y="106476"/>
                  <a:pt x="50375" y="106476"/>
                  <a:pt x="46965" y="103067"/>
                </a:cubicBezTo>
                <a:lnTo>
                  <a:pt x="3309" y="59411"/>
                </a:lnTo>
                <a:cubicBezTo>
                  <a:pt x="0" y="55985"/>
                  <a:pt x="47" y="50539"/>
                  <a:pt x="3415" y="47171"/>
                </a:cubicBezTo>
                <a:cubicBezTo>
                  <a:pt x="6783" y="43803"/>
                  <a:pt x="12229" y="43756"/>
                  <a:pt x="15655" y="47065"/>
                </a:cubicBezTo>
                <a:lnTo>
                  <a:pt x="53138" y="84548"/>
                </a:lnTo>
                <a:lnTo>
                  <a:pt x="134278" y="3409"/>
                </a:lnTo>
                <a:cubicBezTo>
                  <a:pt x="137687" y="0"/>
                  <a:pt x="143214" y="0"/>
                  <a:pt x="146624" y="3409"/>
                </a:cubicBezTo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861810" y="2937510"/>
            <a:ext cx="33604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商品发布、浏览搜索、即时通讯、面交撮合</a:t>
            </a:r>
          </a:p>
        </p:txBody>
      </p:sp>
      <p:sp>
        <p:nvSpPr>
          <p:cNvPr id="35" name="Freeform 35"/>
          <p:cNvSpPr/>
          <p:nvPr/>
        </p:nvSpPr>
        <p:spPr>
          <a:xfrm>
            <a:off x="6606424" y="3337662"/>
            <a:ext cx="150032" cy="106476"/>
          </a:xfrm>
          <a:custGeom>
            <a:avLst/>
            <a:gdLst/>
            <a:ahLst/>
            <a:cxnLst/>
            <a:rect l="l" t="t" r="r" b="b"/>
            <a:pathLst>
              <a:path w="150032" h="106476">
                <a:moveTo>
                  <a:pt x="146624" y="3409"/>
                </a:moveTo>
                <a:cubicBezTo>
                  <a:pt x="150032" y="6818"/>
                  <a:pt x="150032" y="12345"/>
                  <a:pt x="146624" y="15755"/>
                </a:cubicBezTo>
                <a:lnTo>
                  <a:pt x="59311" y="103067"/>
                </a:lnTo>
                <a:cubicBezTo>
                  <a:pt x="55902" y="106476"/>
                  <a:pt x="50375" y="106476"/>
                  <a:pt x="46965" y="103067"/>
                </a:cubicBezTo>
                <a:lnTo>
                  <a:pt x="3309" y="59411"/>
                </a:lnTo>
                <a:cubicBezTo>
                  <a:pt x="0" y="55985"/>
                  <a:pt x="47" y="50539"/>
                  <a:pt x="3415" y="47171"/>
                </a:cubicBezTo>
                <a:cubicBezTo>
                  <a:pt x="6783" y="43803"/>
                  <a:pt x="12229" y="43756"/>
                  <a:pt x="15655" y="47065"/>
                </a:cubicBezTo>
                <a:lnTo>
                  <a:pt x="53138" y="84548"/>
                </a:lnTo>
                <a:lnTo>
                  <a:pt x="134278" y="3409"/>
                </a:lnTo>
                <a:cubicBezTo>
                  <a:pt x="137687" y="0"/>
                  <a:pt x="143214" y="0"/>
                  <a:pt x="146624" y="3409"/>
                </a:cubicBezTo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861810" y="331851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校园认证体系，构建校内信任环境</a:t>
            </a:r>
          </a:p>
        </p:txBody>
      </p:sp>
      <p:sp>
        <p:nvSpPr>
          <p:cNvPr id="37" name="Freeform 37"/>
          <p:cNvSpPr/>
          <p:nvPr/>
        </p:nvSpPr>
        <p:spPr>
          <a:xfrm>
            <a:off x="6606424" y="3718662"/>
            <a:ext cx="150032" cy="106476"/>
          </a:xfrm>
          <a:custGeom>
            <a:avLst/>
            <a:gdLst/>
            <a:ahLst/>
            <a:cxnLst/>
            <a:rect l="l" t="t" r="r" b="b"/>
            <a:pathLst>
              <a:path w="150032" h="106476">
                <a:moveTo>
                  <a:pt x="146624" y="3409"/>
                </a:moveTo>
                <a:cubicBezTo>
                  <a:pt x="150032" y="6818"/>
                  <a:pt x="150032" y="12345"/>
                  <a:pt x="146624" y="15755"/>
                </a:cubicBezTo>
                <a:lnTo>
                  <a:pt x="59311" y="103067"/>
                </a:lnTo>
                <a:cubicBezTo>
                  <a:pt x="55902" y="106476"/>
                  <a:pt x="50375" y="106476"/>
                  <a:pt x="46965" y="103067"/>
                </a:cubicBezTo>
                <a:lnTo>
                  <a:pt x="3309" y="59411"/>
                </a:lnTo>
                <a:cubicBezTo>
                  <a:pt x="0" y="55985"/>
                  <a:pt x="47" y="50539"/>
                  <a:pt x="3415" y="47171"/>
                </a:cubicBezTo>
                <a:cubicBezTo>
                  <a:pt x="6783" y="43803"/>
                  <a:pt x="12229" y="43756"/>
                  <a:pt x="15655" y="47065"/>
                </a:cubicBezTo>
                <a:lnTo>
                  <a:pt x="53138" y="84548"/>
                </a:lnTo>
                <a:lnTo>
                  <a:pt x="134278" y="3409"/>
                </a:lnTo>
                <a:cubicBezTo>
                  <a:pt x="137687" y="0"/>
                  <a:pt x="143214" y="0"/>
                  <a:pt x="146624" y="3409"/>
                </a:cubicBezTo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861810" y="3699510"/>
            <a:ext cx="25104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微信小程序 + 管理后台双端架构</a:t>
            </a:r>
          </a:p>
        </p:txBody>
      </p:sp>
      <p:sp>
        <p:nvSpPr>
          <p:cNvPr id="39" name="Freeform 39"/>
          <p:cNvSpPr/>
          <p:nvPr/>
        </p:nvSpPr>
        <p:spPr>
          <a:xfrm>
            <a:off x="6606424" y="4099662"/>
            <a:ext cx="150032" cy="106476"/>
          </a:xfrm>
          <a:custGeom>
            <a:avLst/>
            <a:gdLst/>
            <a:ahLst/>
            <a:cxnLst/>
            <a:rect l="l" t="t" r="r" b="b"/>
            <a:pathLst>
              <a:path w="150032" h="106476">
                <a:moveTo>
                  <a:pt x="146624" y="3409"/>
                </a:moveTo>
                <a:cubicBezTo>
                  <a:pt x="150032" y="6818"/>
                  <a:pt x="150032" y="12345"/>
                  <a:pt x="146624" y="15755"/>
                </a:cubicBezTo>
                <a:lnTo>
                  <a:pt x="59311" y="103067"/>
                </a:lnTo>
                <a:cubicBezTo>
                  <a:pt x="55902" y="106476"/>
                  <a:pt x="50375" y="106476"/>
                  <a:pt x="46965" y="103067"/>
                </a:cubicBezTo>
                <a:lnTo>
                  <a:pt x="3309" y="59411"/>
                </a:lnTo>
                <a:cubicBezTo>
                  <a:pt x="0" y="55985"/>
                  <a:pt x="47" y="50539"/>
                  <a:pt x="3415" y="47171"/>
                </a:cubicBezTo>
                <a:cubicBezTo>
                  <a:pt x="6783" y="43803"/>
                  <a:pt x="12229" y="43756"/>
                  <a:pt x="15655" y="47065"/>
                </a:cubicBezTo>
                <a:lnTo>
                  <a:pt x="53138" y="84548"/>
                </a:lnTo>
                <a:lnTo>
                  <a:pt x="134278" y="3409"/>
                </a:lnTo>
                <a:cubicBezTo>
                  <a:pt x="137687" y="0"/>
                  <a:pt x="143214" y="0"/>
                  <a:pt x="146624" y="3409"/>
                </a:cubicBezTo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61810" y="408051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让闲置物品在校园内高效流转</a:t>
            </a:r>
          </a:p>
        </p:txBody>
      </p:sp>
      <p:sp>
        <p:nvSpPr>
          <p:cNvPr id="41" name="Freeform 41"/>
          <p:cNvSpPr/>
          <p:nvPr/>
        </p:nvSpPr>
        <p:spPr>
          <a:xfrm>
            <a:off x="6572250" y="4619625"/>
            <a:ext cx="4667250" cy="571500"/>
          </a:xfrm>
          <a:custGeom>
            <a:avLst/>
            <a:gdLst/>
            <a:ahLst/>
            <a:cxnLst/>
            <a:rect l="l" t="t" r="r" b="b"/>
            <a:pathLst>
              <a:path w="4667250" h="571500">
                <a:moveTo>
                  <a:pt x="76200" y="0"/>
                </a:moveTo>
                <a:lnTo>
                  <a:pt x="4591050" y="0"/>
                </a:lnTo>
                <a:cubicBezTo>
                  <a:pt x="4633134" y="0"/>
                  <a:pt x="4667250" y="34116"/>
                  <a:pt x="4667250" y="76200"/>
                </a:cubicBezTo>
                <a:lnTo>
                  <a:pt x="4667250" y="495300"/>
                </a:lnTo>
                <a:cubicBezTo>
                  <a:pt x="4667250" y="537384"/>
                  <a:pt x="4633134" y="571500"/>
                  <a:pt x="459105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694485" y="4747260"/>
            <a:ext cx="24227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参考闲鱼模式，结合校园特色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694485" y="4966335"/>
            <a:ext cx="24227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打造一站式校园二手交易平台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920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02 / 10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571500" y="381000"/>
            <a:ext cx="57150" cy="304800"/>
          </a:xfrm>
          <a:custGeom>
            <a:avLst/>
            <a:gdLst/>
            <a:ahLst/>
            <a:cxnLst/>
            <a:rect l="l" t="t" r="r" b="b"/>
            <a:pathLst>
              <a:path w="57150" h="3048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76225"/>
                </a:lnTo>
                <a:cubicBezTo>
                  <a:pt x="57150" y="292007"/>
                  <a:pt x="44357" y="304800"/>
                  <a:pt x="28575" y="304800"/>
                </a:cubicBezTo>
                <a:lnTo>
                  <a:pt x="28575" y="304800"/>
                </a:lnTo>
                <a:cubicBezTo>
                  <a:pt x="12793" y="304800"/>
                  <a:pt x="0" y="292007"/>
                  <a:pt x="0" y="2762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69570"/>
            <a:ext cx="1533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技术架构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952500"/>
            <a:ext cx="381000" cy="1524000"/>
          </a:xfrm>
          <a:custGeom>
            <a:avLst/>
            <a:gdLst/>
            <a:ahLst/>
            <a:cxnLst/>
            <a:rect l="l" t="t" r="r" b="b"/>
            <a:pathLst>
              <a:path w="381000" h="15240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1447800"/>
                </a:lnTo>
                <a:cubicBezTo>
                  <a:pt x="381000" y="1489884"/>
                  <a:pt x="346884" y="1524000"/>
                  <a:pt x="304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45188" y="1628775"/>
            <a:ext cx="2336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Freeform 8"/>
          <p:cNvSpPr/>
          <p:nvPr/>
        </p:nvSpPr>
        <p:spPr>
          <a:xfrm>
            <a:off x="1104900" y="952500"/>
            <a:ext cx="10515600" cy="1524000"/>
          </a:xfrm>
          <a:custGeom>
            <a:avLst/>
            <a:gdLst/>
            <a:ahLst/>
            <a:cxnLst/>
            <a:rect l="l" t="t" r="r" b="b"/>
            <a:pathLst>
              <a:path w="10515600" h="1524000">
                <a:moveTo>
                  <a:pt x="114300" y="0"/>
                </a:moveTo>
                <a:lnTo>
                  <a:pt x="10401300" y="0"/>
                </a:lnTo>
                <a:cubicBezTo>
                  <a:pt x="10464426" y="0"/>
                  <a:pt x="10515600" y="51174"/>
                  <a:pt x="10515600" y="114300"/>
                </a:cubicBezTo>
                <a:lnTo>
                  <a:pt x="10515600" y="1409700"/>
                </a:lnTo>
                <a:cubicBezTo>
                  <a:pt x="10515600" y="1472826"/>
                  <a:pt x="10464426" y="1524000"/>
                  <a:pt x="10401300" y="1524000"/>
                </a:cubicBezTo>
                <a:lnTo>
                  <a:pt x="114300" y="1524000"/>
                </a:lnTo>
                <a:cubicBezTo>
                  <a:pt x="51174" y="1524000"/>
                  <a:pt x="0" y="1472826"/>
                  <a:pt x="0" y="1409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F">
              <a:alpha val="50000"/>
            </a:srgbClr>
          </a:solidFill>
          <a:ln w="14288">
            <a:solidFill>
              <a:srgbClr val="90CAF9"/>
            </a:solidFill>
            <a:custDash>
              <a:ds d="400000" sp="266666"/>
            </a:custDash>
          </a:ln>
        </p:spPr>
      </p:sp>
      <p:sp>
        <p:nvSpPr>
          <p:cNvPr id="9" name="TextBox 9"/>
          <p:cNvSpPr txBox="1"/>
          <p:nvPr/>
        </p:nvSpPr>
        <p:spPr>
          <a:xfrm>
            <a:off x="5451678" y="1105852"/>
            <a:ext cx="18220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前端层 — 用户界面与交互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33500" y="1381125"/>
            <a:ext cx="3143250" cy="952500"/>
          </a:xfrm>
          <a:custGeom>
            <a:avLst/>
            <a:gdLst/>
            <a:ahLst/>
            <a:cxnLst/>
            <a:rect l="l" t="t" r="r" b="b"/>
            <a:pathLst>
              <a:path w="3143250" h="952500">
                <a:moveTo>
                  <a:pt x="95250" y="0"/>
                </a:moveTo>
                <a:lnTo>
                  <a:pt x="3048000" y="0"/>
                </a:lnTo>
                <a:cubicBezTo>
                  <a:pt x="3100605" y="0"/>
                  <a:pt x="3143250" y="42645"/>
                  <a:pt x="3143250" y="95250"/>
                </a:cubicBezTo>
                <a:lnTo>
                  <a:pt x="3143250" y="857250"/>
                </a:lnTo>
                <a:cubicBezTo>
                  <a:pt x="3143250" y="909855"/>
                  <a:pt x="3100605" y="952500"/>
                  <a:pt x="304800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11" name="Freeform 11"/>
          <p:cNvSpPr/>
          <p:nvPr/>
        </p:nvSpPr>
        <p:spPr>
          <a:xfrm>
            <a:off x="1568449" y="1597024"/>
            <a:ext cx="177802" cy="254002"/>
          </a:xfrm>
          <a:custGeom>
            <a:avLst/>
            <a:gdLst/>
            <a:ahLst/>
            <a:cxnLst/>
            <a:rect l="l" t="t" r="r" b="b"/>
            <a:pathLst>
              <a:path w="177802" h="254002">
                <a:moveTo>
                  <a:pt x="139701" y="1"/>
                </a:moveTo>
                <a:cubicBezTo>
                  <a:pt x="159876" y="0"/>
                  <a:pt x="176554" y="15726"/>
                  <a:pt x="177738" y="35866"/>
                </a:cubicBezTo>
                <a:lnTo>
                  <a:pt x="177801" y="38101"/>
                </a:lnTo>
                <a:lnTo>
                  <a:pt x="177801" y="215901"/>
                </a:lnTo>
                <a:cubicBezTo>
                  <a:pt x="177802" y="236076"/>
                  <a:pt x="162076" y="252754"/>
                  <a:pt x="141936" y="253938"/>
                </a:cubicBezTo>
                <a:lnTo>
                  <a:pt x="139701" y="254001"/>
                </a:lnTo>
                <a:lnTo>
                  <a:pt x="38101" y="254001"/>
                </a:lnTo>
                <a:cubicBezTo>
                  <a:pt x="17926" y="254002"/>
                  <a:pt x="1248" y="238276"/>
                  <a:pt x="65" y="218136"/>
                </a:cubicBezTo>
                <a:lnTo>
                  <a:pt x="1" y="215901"/>
                </a:lnTo>
                <a:lnTo>
                  <a:pt x="1" y="38101"/>
                </a:lnTo>
                <a:cubicBezTo>
                  <a:pt x="0" y="17926"/>
                  <a:pt x="15726" y="1248"/>
                  <a:pt x="35866" y="65"/>
                </a:cubicBezTo>
                <a:lnTo>
                  <a:pt x="38101" y="1"/>
                </a:lnTo>
                <a:lnTo>
                  <a:pt x="139701" y="1"/>
                </a:lnTo>
                <a:close/>
                <a:moveTo>
                  <a:pt x="88901" y="177801"/>
                </a:moveTo>
                <a:cubicBezTo>
                  <a:pt x="82463" y="177802"/>
                  <a:pt x="77043" y="182621"/>
                  <a:pt x="76290" y="189015"/>
                </a:cubicBezTo>
                <a:lnTo>
                  <a:pt x="76201" y="190501"/>
                </a:lnTo>
                <a:lnTo>
                  <a:pt x="76290" y="192114"/>
                </a:lnTo>
                <a:cubicBezTo>
                  <a:pt x="77050" y="198503"/>
                  <a:pt x="82467" y="203314"/>
                  <a:pt x="88901" y="203314"/>
                </a:cubicBezTo>
                <a:cubicBezTo>
                  <a:pt x="95335" y="203314"/>
                  <a:pt x="100752" y="198503"/>
                  <a:pt x="101512" y="192114"/>
                </a:cubicBezTo>
                <a:lnTo>
                  <a:pt x="101601" y="190628"/>
                </a:lnTo>
                <a:lnTo>
                  <a:pt x="101512" y="189015"/>
                </a:lnTo>
                <a:cubicBezTo>
                  <a:pt x="100759" y="182621"/>
                  <a:pt x="95340" y="177802"/>
                  <a:pt x="88901" y="177801"/>
                </a:cubicBezTo>
                <a:close/>
                <a:moveTo>
                  <a:pt x="101601" y="25401"/>
                </a:moveTo>
                <a:lnTo>
                  <a:pt x="76201" y="25401"/>
                </a:lnTo>
                <a:lnTo>
                  <a:pt x="74715" y="25490"/>
                </a:lnTo>
                <a:cubicBezTo>
                  <a:pt x="68326" y="26250"/>
                  <a:pt x="63515" y="31667"/>
                  <a:pt x="63515" y="38101"/>
                </a:cubicBezTo>
                <a:cubicBezTo>
                  <a:pt x="63515" y="44535"/>
                  <a:pt x="68326" y="49952"/>
                  <a:pt x="74715" y="50712"/>
                </a:cubicBezTo>
                <a:lnTo>
                  <a:pt x="76201" y="50801"/>
                </a:lnTo>
                <a:lnTo>
                  <a:pt x="101601" y="50801"/>
                </a:lnTo>
                <a:lnTo>
                  <a:pt x="103087" y="50712"/>
                </a:lnTo>
                <a:cubicBezTo>
                  <a:pt x="109476" y="49952"/>
                  <a:pt x="114287" y="44535"/>
                  <a:pt x="114287" y="38101"/>
                </a:cubicBezTo>
                <a:cubicBezTo>
                  <a:pt x="114287" y="31667"/>
                  <a:pt x="109476" y="26250"/>
                  <a:pt x="103087" y="25490"/>
                </a:cubicBezTo>
                <a:lnTo>
                  <a:pt x="101601" y="25401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887855" y="15878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微信小程序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92618" y="1847374"/>
            <a:ext cx="15413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uni-app + Vue 3 + Pinia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2618" y="2037874"/>
            <a:ext cx="22889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四 Tab 布局：首页/发布/消息/我的</a:t>
            </a:r>
          </a:p>
        </p:txBody>
      </p:sp>
      <p:sp>
        <p:nvSpPr>
          <p:cNvPr id="15" name="Freeform 15"/>
          <p:cNvSpPr/>
          <p:nvPr/>
        </p:nvSpPr>
        <p:spPr>
          <a:xfrm>
            <a:off x="4762500" y="1381125"/>
            <a:ext cx="3143250" cy="952500"/>
          </a:xfrm>
          <a:custGeom>
            <a:avLst/>
            <a:gdLst/>
            <a:ahLst/>
            <a:cxnLst/>
            <a:rect l="l" t="t" r="r" b="b"/>
            <a:pathLst>
              <a:path w="3143250" h="952500">
                <a:moveTo>
                  <a:pt x="95250" y="0"/>
                </a:moveTo>
                <a:lnTo>
                  <a:pt x="3048000" y="0"/>
                </a:lnTo>
                <a:cubicBezTo>
                  <a:pt x="3100605" y="0"/>
                  <a:pt x="3143250" y="42645"/>
                  <a:pt x="3143250" y="95250"/>
                </a:cubicBezTo>
                <a:lnTo>
                  <a:pt x="3143250" y="857250"/>
                </a:lnTo>
                <a:cubicBezTo>
                  <a:pt x="3143250" y="909855"/>
                  <a:pt x="3100605" y="952500"/>
                  <a:pt x="304800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grpSp>
        <p:nvGrpSpPr>
          <p:cNvPr id="18" name="Group 18"/>
          <p:cNvGrpSpPr/>
          <p:nvPr/>
        </p:nvGrpSpPr>
        <p:grpSpPr>
          <a:xfrm>
            <a:off x="4954451" y="1598177"/>
            <a:ext cx="256359" cy="256308"/>
            <a:chOff x="4954451" y="1598177"/>
            <a:chExt cx="256359" cy="256308"/>
          </a:xfrm>
        </p:grpSpPr>
        <p:sp>
          <p:nvSpPr>
            <p:cNvPr id="16" name="Freeform 16"/>
            <p:cNvSpPr/>
            <p:nvPr/>
          </p:nvSpPr>
          <p:spPr>
            <a:xfrm>
              <a:off x="4954451" y="1598177"/>
              <a:ext cx="256359" cy="256308"/>
            </a:xfrm>
            <a:custGeom>
              <a:avLst/>
              <a:gdLst/>
              <a:ahLst/>
              <a:cxnLst/>
              <a:rect l="l" t="t" r="r" b="b"/>
              <a:pathLst>
                <a:path w="256359" h="256308">
                  <a:moveTo>
                    <a:pt x="105013" y="1477"/>
                  </a:moveTo>
                  <a:cubicBezTo>
                    <a:pt x="117543" y="0"/>
                    <a:pt x="129095" y="8425"/>
                    <a:pt x="131518" y="20806"/>
                  </a:cubicBezTo>
                  <a:lnTo>
                    <a:pt x="131836" y="22927"/>
                  </a:lnTo>
                  <a:lnTo>
                    <a:pt x="131899" y="24248"/>
                  </a:lnTo>
                  <a:lnTo>
                    <a:pt x="131899" y="113148"/>
                  </a:lnTo>
                  <a:cubicBezTo>
                    <a:pt x="131900" y="119586"/>
                    <a:pt x="136719" y="125006"/>
                    <a:pt x="143113" y="125759"/>
                  </a:cubicBezTo>
                  <a:lnTo>
                    <a:pt x="144599" y="125848"/>
                  </a:lnTo>
                  <a:lnTo>
                    <a:pt x="230959" y="125848"/>
                  </a:lnTo>
                  <a:cubicBezTo>
                    <a:pt x="244987" y="125848"/>
                    <a:pt x="256359" y="137220"/>
                    <a:pt x="256359" y="151248"/>
                  </a:cubicBezTo>
                  <a:cubicBezTo>
                    <a:pt x="256359" y="152214"/>
                    <a:pt x="256248" y="153177"/>
                    <a:pt x="256029" y="154118"/>
                  </a:cubicBezTo>
                  <a:cubicBezTo>
                    <a:pt x="241968" y="214786"/>
                    <a:pt x="185990" y="256308"/>
                    <a:pt x="123852" y="252161"/>
                  </a:cubicBezTo>
                  <a:cubicBezTo>
                    <a:pt x="61714" y="248014"/>
                    <a:pt x="11750" y="199423"/>
                    <a:pt x="5875" y="137424"/>
                  </a:cubicBezTo>
                  <a:cubicBezTo>
                    <a:pt x="0" y="75426"/>
                    <a:pt x="39947" y="18314"/>
                    <a:pt x="100200" y="2569"/>
                  </a:cubicBezTo>
                  <a:lnTo>
                    <a:pt x="103629" y="1718"/>
                  </a:lnTo>
                  <a:lnTo>
                    <a:pt x="105026" y="1464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111750" y="1602726"/>
              <a:ext cx="95894" cy="95899"/>
            </a:xfrm>
            <a:custGeom>
              <a:avLst/>
              <a:gdLst/>
              <a:ahLst/>
              <a:cxnLst/>
              <a:rect l="l" t="t" r="r" b="b"/>
              <a:pathLst>
                <a:path w="95894" h="95899">
                  <a:moveTo>
                    <a:pt x="0" y="13349"/>
                  </a:moveTo>
                  <a:lnTo>
                    <a:pt x="0" y="83199"/>
                  </a:lnTo>
                  <a:cubicBezTo>
                    <a:pt x="0" y="90213"/>
                    <a:pt x="5686" y="95899"/>
                    <a:pt x="12700" y="95899"/>
                  </a:cubicBezTo>
                  <a:lnTo>
                    <a:pt x="82550" y="95899"/>
                  </a:lnTo>
                  <a:cubicBezTo>
                    <a:pt x="86669" y="95898"/>
                    <a:pt x="90532" y="93899"/>
                    <a:pt x="92912" y="90537"/>
                  </a:cubicBezTo>
                  <a:cubicBezTo>
                    <a:pt x="95292" y="87175"/>
                    <a:pt x="95894" y="82868"/>
                    <a:pt x="94526" y="78982"/>
                  </a:cubicBezTo>
                  <a:cubicBezTo>
                    <a:pt x="81751" y="42695"/>
                    <a:pt x="53215" y="14155"/>
                    <a:pt x="16929" y="1373"/>
                  </a:cubicBezTo>
                  <a:cubicBezTo>
                    <a:pt x="13042" y="0"/>
                    <a:pt x="8731" y="599"/>
                    <a:pt x="5366" y="2980"/>
                  </a:cubicBezTo>
                  <a:cubicBezTo>
                    <a:pt x="2000" y="5361"/>
                    <a:pt x="0" y="9227"/>
                    <a:pt x="0" y="13349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5316855" y="15878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管理后台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21618" y="1847374"/>
            <a:ext cx="25594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Vue 3 + Vite + Element Plus + ECharts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21618" y="2037874"/>
            <a:ext cx="20610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数据概览 / 审核管理 / 配置管理</a:t>
            </a:r>
          </a:p>
        </p:txBody>
      </p:sp>
      <p:sp>
        <p:nvSpPr>
          <p:cNvPr id="22" name="Freeform 22"/>
          <p:cNvSpPr/>
          <p:nvPr/>
        </p:nvSpPr>
        <p:spPr>
          <a:xfrm>
            <a:off x="571500" y="2667000"/>
            <a:ext cx="381000" cy="1524000"/>
          </a:xfrm>
          <a:custGeom>
            <a:avLst/>
            <a:gdLst/>
            <a:ahLst/>
            <a:cxnLst/>
            <a:rect l="l" t="t" r="r" b="b"/>
            <a:pathLst>
              <a:path w="381000" h="15240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1447800"/>
                </a:lnTo>
                <a:cubicBezTo>
                  <a:pt x="381000" y="1489884"/>
                  <a:pt x="346884" y="1524000"/>
                  <a:pt x="304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16434" y="3343275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24" name="Freeform 24"/>
          <p:cNvSpPr/>
          <p:nvPr/>
        </p:nvSpPr>
        <p:spPr>
          <a:xfrm>
            <a:off x="1104900" y="2667000"/>
            <a:ext cx="10515600" cy="1524000"/>
          </a:xfrm>
          <a:custGeom>
            <a:avLst/>
            <a:gdLst/>
            <a:ahLst/>
            <a:cxnLst/>
            <a:rect l="l" t="t" r="r" b="b"/>
            <a:pathLst>
              <a:path w="10515600" h="1524000">
                <a:moveTo>
                  <a:pt x="114300" y="0"/>
                </a:moveTo>
                <a:lnTo>
                  <a:pt x="10401300" y="0"/>
                </a:lnTo>
                <a:cubicBezTo>
                  <a:pt x="10464426" y="0"/>
                  <a:pt x="10515600" y="51174"/>
                  <a:pt x="10515600" y="114300"/>
                </a:cubicBezTo>
                <a:lnTo>
                  <a:pt x="10515600" y="1409700"/>
                </a:lnTo>
                <a:cubicBezTo>
                  <a:pt x="10515600" y="1472826"/>
                  <a:pt x="10464426" y="1524000"/>
                  <a:pt x="10401300" y="1524000"/>
                </a:cubicBezTo>
                <a:lnTo>
                  <a:pt x="114300" y="1524000"/>
                </a:lnTo>
                <a:cubicBezTo>
                  <a:pt x="51174" y="1524000"/>
                  <a:pt x="0" y="1472826"/>
                  <a:pt x="0" y="1409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3F2FD">
              <a:alpha val="50000"/>
            </a:srgbClr>
          </a:solidFill>
          <a:ln w="14288">
            <a:solidFill>
              <a:srgbClr val="64B5F6"/>
            </a:solidFill>
            <a:custDash>
              <a:ds d="400000" sp="266666"/>
            </a:custDash>
          </a:ln>
        </p:spPr>
      </p:sp>
      <p:sp>
        <p:nvSpPr>
          <p:cNvPr id="25" name="TextBox 25"/>
          <p:cNvSpPr txBox="1"/>
          <p:nvPr/>
        </p:nvSpPr>
        <p:spPr>
          <a:xfrm>
            <a:off x="5290658" y="2820352"/>
            <a:ext cx="21440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后端服务层 — 业务逻辑与接口</a:t>
            </a:r>
          </a:p>
        </p:txBody>
      </p:sp>
      <p:sp>
        <p:nvSpPr>
          <p:cNvPr id="26" name="Freeform 26"/>
          <p:cNvSpPr/>
          <p:nvPr/>
        </p:nvSpPr>
        <p:spPr>
          <a:xfrm>
            <a:off x="1333500" y="3095625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95250" y="0"/>
                </a:moveTo>
                <a:lnTo>
                  <a:pt x="2000250" y="0"/>
                </a:lnTo>
                <a:cubicBezTo>
                  <a:pt x="2052855" y="0"/>
                  <a:pt x="2095500" y="42645"/>
                  <a:pt x="2095500" y="95250"/>
                </a:cubicBezTo>
                <a:lnTo>
                  <a:pt x="2095500" y="857250"/>
                </a:lnTo>
                <a:cubicBezTo>
                  <a:pt x="2095500" y="909855"/>
                  <a:pt x="2052855" y="952500"/>
                  <a:pt x="20002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27" name="Freeform 27"/>
          <p:cNvSpPr/>
          <p:nvPr/>
        </p:nvSpPr>
        <p:spPr>
          <a:xfrm>
            <a:off x="1530348" y="3305836"/>
            <a:ext cx="267422" cy="268466"/>
          </a:xfrm>
          <a:custGeom>
            <a:avLst/>
            <a:gdLst/>
            <a:ahLst/>
            <a:cxnLst/>
            <a:rect l="l" t="t" r="r" b="b"/>
            <a:pathLst>
              <a:path w="267422" h="268466">
                <a:moveTo>
                  <a:pt x="190502" y="22707"/>
                </a:moveTo>
                <a:cubicBezTo>
                  <a:pt x="243877" y="53523"/>
                  <a:pt x="267422" y="118214"/>
                  <a:pt x="246342" y="176130"/>
                </a:cubicBezTo>
                <a:cubicBezTo>
                  <a:pt x="225262" y="234045"/>
                  <a:pt x="165642" y="268466"/>
                  <a:pt x="104946" y="257762"/>
                </a:cubicBezTo>
                <a:cubicBezTo>
                  <a:pt x="44250" y="247059"/>
                  <a:pt x="0" y="194322"/>
                  <a:pt x="2" y="132689"/>
                </a:cubicBezTo>
                <a:lnTo>
                  <a:pt x="65" y="128574"/>
                </a:lnTo>
                <a:cubicBezTo>
                  <a:pt x="1512" y="83959"/>
                  <a:pt x="26276" y="43379"/>
                  <a:pt x="65291" y="21689"/>
                </a:cubicBezTo>
                <a:cubicBezTo>
                  <a:pt x="104306" y="0"/>
                  <a:pt x="151844" y="386"/>
                  <a:pt x="190502" y="22707"/>
                </a:cubicBezTo>
                <a:moveTo>
                  <a:pt x="110580" y="98310"/>
                </a:moveTo>
                <a:cubicBezTo>
                  <a:pt x="105621" y="93352"/>
                  <a:pt x="97582" y="93352"/>
                  <a:pt x="92623" y="98310"/>
                </a:cubicBezTo>
                <a:lnTo>
                  <a:pt x="67223" y="123710"/>
                </a:lnTo>
                <a:cubicBezTo>
                  <a:pt x="62265" y="128669"/>
                  <a:pt x="62265" y="136708"/>
                  <a:pt x="67223" y="141668"/>
                </a:cubicBezTo>
                <a:lnTo>
                  <a:pt x="92623" y="167068"/>
                </a:lnTo>
                <a:cubicBezTo>
                  <a:pt x="97582" y="172026"/>
                  <a:pt x="105621" y="172026"/>
                  <a:pt x="110580" y="167068"/>
                </a:cubicBezTo>
                <a:lnTo>
                  <a:pt x="111635" y="165874"/>
                </a:lnTo>
                <a:cubicBezTo>
                  <a:pt x="115556" y="160818"/>
                  <a:pt x="115105" y="153635"/>
                  <a:pt x="110580" y="149110"/>
                </a:cubicBezTo>
                <a:lnTo>
                  <a:pt x="94172" y="132689"/>
                </a:lnTo>
                <a:lnTo>
                  <a:pt x="110580" y="116268"/>
                </a:lnTo>
                <a:cubicBezTo>
                  <a:pt x="115538" y="111308"/>
                  <a:pt x="115538" y="103269"/>
                  <a:pt x="110580" y="98310"/>
                </a:cubicBezTo>
                <a:moveTo>
                  <a:pt x="161380" y="98310"/>
                </a:moveTo>
                <a:cubicBezTo>
                  <a:pt x="156421" y="93352"/>
                  <a:pt x="148382" y="93352"/>
                  <a:pt x="143423" y="98310"/>
                </a:cubicBezTo>
                <a:lnTo>
                  <a:pt x="142369" y="99504"/>
                </a:lnTo>
                <a:cubicBezTo>
                  <a:pt x="138447" y="104559"/>
                  <a:pt x="138898" y="111743"/>
                  <a:pt x="143423" y="116268"/>
                </a:cubicBezTo>
                <a:lnTo>
                  <a:pt x="159831" y="132689"/>
                </a:lnTo>
                <a:lnTo>
                  <a:pt x="143423" y="149110"/>
                </a:lnTo>
                <a:cubicBezTo>
                  <a:pt x="138610" y="154093"/>
                  <a:pt x="138679" y="162014"/>
                  <a:pt x="143577" y="166913"/>
                </a:cubicBezTo>
                <a:cubicBezTo>
                  <a:pt x="148476" y="171812"/>
                  <a:pt x="156397" y="171881"/>
                  <a:pt x="161380" y="167068"/>
                </a:cubicBezTo>
                <a:lnTo>
                  <a:pt x="186780" y="141668"/>
                </a:lnTo>
                <a:cubicBezTo>
                  <a:pt x="191738" y="136708"/>
                  <a:pt x="191738" y="128669"/>
                  <a:pt x="186780" y="12371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889760" y="3318510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Spring Boot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93570" y="3541395"/>
            <a:ext cx="9758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3.3.7 + Java 17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3570" y="3712845"/>
            <a:ext cx="10349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22 个 Controller</a:t>
            </a:r>
          </a:p>
        </p:txBody>
      </p:sp>
      <p:sp>
        <p:nvSpPr>
          <p:cNvPr id="31" name="Freeform 31"/>
          <p:cNvSpPr/>
          <p:nvPr/>
        </p:nvSpPr>
        <p:spPr>
          <a:xfrm>
            <a:off x="3619500" y="3095625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95250" y="0"/>
                </a:moveTo>
                <a:lnTo>
                  <a:pt x="2000250" y="0"/>
                </a:lnTo>
                <a:cubicBezTo>
                  <a:pt x="2052855" y="0"/>
                  <a:pt x="2095500" y="42645"/>
                  <a:pt x="2095500" y="95250"/>
                </a:cubicBezTo>
                <a:lnTo>
                  <a:pt x="2095500" y="857250"/>
                </a:lnTo>
                <a:cubicBezTo>
                  <a:pt x="2095500" y="909855"/>
                  <a:pt x="2052855" y="952500"/>
                  <a:pt x="20002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grpSp>
        <p:nvGrpSpPr>
          <p:cNvPr id="35" name="Group 35"/>
          <p:cNvGrpSpPr/>
          <p:nvPr/>
        </p:nvGrpSpPr>
        <p:grpSpPr>
          <a:xfrm>
            <a:off x="3829049" y="3311525"/>
            <a:ext cx="228601" cy="254000"/>
            <a:chOff x="3829049" y="3311525"/>
            <a:chExt cx="228601" cy="254000"/>
          </a:xfrm>
        </p:grpSpPr>
        <p:sp>
          <p:nvSpPr>
            <p:cNvPr id="32" name="Freeform 32"/>
            <p:cNvSpPr/>
            <p:nvPr/>
          </p:nvSpPr>
          <p:spPr>
            <a:xfrm>
              <a:off x="3829050" y="3485909"/>
              <a:ext cx="228600" cy="79616"/>
            </a:xfrm>
            <a:custGeom>
              <a:avLst/>
              <a:gdLst/>
              <a:ahLst/>
              <a:cxnLst/>
              <a:rect l="l" t="t" r="r" b="b"/>
              <a:pathLst>
                <a:path w="228600" h="79616">
                  <a:moveTo>
                    <a:pt x="0" y="0"/>
                  </a:moveTo>
                  <a:cubicBezTo>
                    <a:pt x="24994" y="19139"/>
                    <a:pt x="66472" y="28816"/>
                    <a:pt x="114300" y="28816"/>
                  </a:cubicBezTo>
                  <a:cubicBezTo>
                    <a:pt x="162052" y="28816"/>
                    <a:pt x="203518" y="19164"/>
                    <a:pt x="228600" y="216"/>
                  </a:cubicBezTo>
                  <a:lnTo>
                    <a:pt x="228600" y="28816"/>
                  </a:lnTo>
                  <a:cubicBezTo>
                    <a:pt x="228600" y="59614"/>
                    <a:pt x="179134" y="78803"/>
                    <a:pt x="118199" y="79591"/>
                  </a:cubicBezTo>
                  <a:lnTo>
                    <a:pt x="114300" y="79616"/>
                  </a:lnTo>
                  <a:cubicBezTo>
                    <a:pt x="51587" y="79616"/>
                    <a:pt x="0" y="60274"/>
                    <a:pt x="0" y="28816"/>
                  </a:cubicBezTo>
                  <a:close/>
                </a:path>
              </a:pathLst>
            </a:custGeom>
            <a:solidFill>
              <a:srgbClr val="0D47A1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3829050" y="3409709"/>
              <a:ext cx="228600" cy="79616"/>
            </a:xfrm>
            <a:custGeom>
              <a:avLst/>
              <a:gdLst/>
              <a:ahLst/>
              <a:cxnLst/>
              <a:rect l="l" t="t" r="r" b="b"/>
              <a:pathLst>
                <a:path w="228600" h="79616">
                  <a:moveTo>
                    <a:pt x="0" y="0"/>
                  </a:moveTo>
                  <a:cubicBezTo>
                    <a:pt x="24994" y="19139"/>
                    <a:pt x="66472" y="28816"/>
                    <a:pt x="114300" y="28816"/>
                  </a:cubicBezTo>
                  <a:cubicBezTo>
                    <a:pt x="162052" y="28816"/>
                    <a:pt x="203518" y="19164"/>
                    <a:pt x="228600" y="216"/>
                  </a:cubicBezTo>
                  <a:lnTo>
                    <a:pt x="228600" y="28816"/>
                  </a:lnTo>
                  <a:cubicBezTo>
                    <a:pt x="228600" y="60274"/>
                    <a:pt x="177013" y="79616"/>
                    <a:pt x="114300" y="79616"/>
                  </a:cubicBezTo>
                  <a:cubicBezTo>
                    <a:pt x="53365" y="79616"/>
                    <a:pt x="2921" y="61354"/>
                    <a:pt x="267" y="31420"/>
                  </a:cubicBezTo>
                  <a:lnTo>
                    <a:pt x="63" y="30137"/>
                  </a:lnTo>
                  <a:lnTo>
                    <a:pt x="0" y="28816"/>
                  </a:lnTo>
                  <a:close/>
                </a:path>
              </a:pathLst>
            </a:custGeom>
            <a:solidFill>
              <a:srgbClr val="0D47A1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3829049" y="3311525"/>
              <a:ext cx="228601" cy="101600"/>
            </a:xfrm>
            <a:custGeom>
              <a:avLst/>
              <a:gdLst/>
              <a:ahLst/>
              <a:cxnLst/>
              <a:rect l="l" t="t" r="r" b="b"/>
              <a:pathLst>
                <a:path w="228601" h="101600">
                  <a:moveTo>
                    <a:pt x="114301" y="0"/>
                  </a:moveTo>
                  <a:cubicBezTo>
                    <a:pt x="127522" y="0"/>
                    <a:pt x="140260" y="864"/>
                    <a:pt x="152109" y="2515"/>
                  </a:cubicBezTo>
                  <a:lnTo>
                    <a:pt x="158065" y="3416"/>
                  </a:lnTo>
                  <a:cubicBezTo>
                    <a:pt x="165177" y="4602"/>
                    <a:pt x="171891" y="6075"/>
                    <a:pt x="178207" y="7836"/>
                  </a:cubicBezTo>
                  <a:lnTo>
                    <a:pt x="183795" y="9500"/>
                  </a:lnTo>
                  <a:lnTo>
                    <a:pt x="184748" y="9804"/>
                  </a:lnTo>
                  <a:cubicBezTo>
                    <a:pt x="188204" y="10941"/>
                    <a:pt x="191614" y="12212"/>
                    <a:pt x="194971" y="13614"/>
                  </a:cubicBezTo>
                  <a:lnTo>
                    <a:pt x="197499" y="14707"/>
                  </a:lnTo>
                  <a:cubicBezTo>
                    <a:pt x="202028" y="16756"/>
                    <a:pt x="206122" y="18999"/>
                    <a:pt x="209780" y="21438"/>
                  </a:cubicBezTo>
                  <a:cubicBezTo>
                    <a:pt x="211177" y="22369"/>
                    <a:pt x="212502" y="23321"/>
                    <a:pt x="213755" y="24295"/>
                  </a:cubicBezTo>
                  <a:cubicBezTo>
                    <a:pt x="216929" y="26758"/>
                    <a:pt x="219783" y="29608"/>
                    <a:pt x="222251" y="32779"/>
                  </a:cubicBezTo>
                  <a:lnTo>
                    <a:pt x="223407" y="34404"/>
                  </a:lnTo>
                  <a:cubicBezTo>
                    <a:pt x="223999" y="35293"/>
                    <a:pt x="224545" y="36187"/>
                    <a:pt x="225045" y="37084"/>
                  </a:cubicBezTo>
                  <a:lnTo>
                    <a:pt x="225934" y="38849"/>
                  </a:lnTo>
                  <a:cubicBezTo>
                    <a:pt x="227314" y="41813"/>
                    <a:pt x="228161" y="44903"/>
                    <a:pt x="228474" y="48120"/>
                  </a:cubicBezTo>
                  <a:lnTo>
                    <a:pt x="228601" y="50800"/>
                  </a:lnTo>
                  <a:cubicBezTo>
                    <a:pt x="228601" y="82258"/>
                    <a:pt x="177014" y="101600"/>
                    <a:pt x="114301" y="101600"/>
                  </a:cubicBezTo>
                  <a:cubicBezTo>
                    <a:pt x="53366" y="101600"/>
                    <a:pt x="2922" y="83337"/>
                    <a:pt x="268" y="53403"/>
                  </a:cubicBezTo>
                  <a:cubicBezTo>
                    <a:pt x="89" y="52547"/>
                    <a:pt x="0" y="51675"/>
                    <a:pt x="1" y="50800"/>
                  </a:cubicBezTo>
                  <a:lnTo>
                    <a:pt x="64" y="49479"/>
                  </a:lnTo>
                  <a:lnTo>
                    <a:pt x="268" y="48209"/>
                  </a:lnTo>
                  <a:cubicBezTo>
                    <a:pt x="2871" y="18923"/>
                    <a:pt x="51195" y="800"/>
                    <a:pt x="110339" y="25"/>
                  </a:cubicBezTo>
                  <a:close/>
                </a:path>
              </a:pathLst>
            </a:custGeom>
            <a:solidFill>
              <a:srgbClr val="0D47A1"/>
            </a:solidFill>
            <a:ln>
              <a:noFill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4175760" y="3318510"/>
            <a:ext cx="11898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MyBatis-Plus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179570" y="3541395"/>
            <a:ext cx="9955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3.5.7 ORM 框架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179570" y="3712845"/>
            <a:ext cx="11795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Lambda 条件构造器</a:t>
            </a:r>
          </a:p>
        </p:txBody>
      </p:sp>
      <p:sp>
        <p:nvSpPr>
          <p:cNvPr id="39" name="Freeform 39"/>
          <p:cNvSpPr/>
          <p:nvPr/>
        </p:nvSpPr>
        <p:spPr>
          <a:xfrm>
            <a:off x="5905500" y="3095625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95250" y="0"/>
                </a:moveTo>
                <a:lnTo>
                  <a:pt x="2000250" y="0"/>
                </a:lnTo>
                <a:cubicBezTo>
                  <a:pt x="2052855" y="0"/>
                  <a:pt x="2095500" y="42645"/>
                  <a:pt x="2095500" y="95250"/>
                </a:cubicBezTo>
                <a:lnTo>
                  <a:pt x="2095500" y="857250"/>
                </a:lnTo>
                <a:cubicBezTo>
                  <a:pt x="2095500" y="909855"/>
                  <a:pt x="2052855" y="952500"/>
                  <a:pt x="20002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40" name="Freeform 40"/>
          <p:cNvSpPr/>
          <p:nvPr/>
        </p:nvSpPr>
        <p:spPr>
          <a:xfrm>
            <a:off x="6096600" y="3311525"/>
            <a:ext cx="265489" cy="254136"/>
          </a:xfrm>
          <a:custGeom>
            <a:avLst/>
            <a:gdLst/>
            <a:ahLst/>
            <a:cxnLst/>
            <a:rect l="l" t="t" r="r" b="b"/>
            <a:pathLst>
              <a:path w="265489" h="254136">
                <a:moveTo>
                  <a:pt x="132725" y="0"/>
                </a:moveTo>
                <a:lnTo>
                  <a:pt x="134224" y="89"/>
                </a:lnTo>
                <a:lnTo>
                  <a:pt x="134973" y="190"/>
                </a:lnTo>
                <a:lnTo>
                  <a:pt x="135748" y="356"/>
                </a:lnTo>
                <a:lnTo>
                  <a:pt x="137157" y="787"/>
                </a:lnTo>
                <a:cubicBezTo>
                  <a:pt x="138131" y="1146"/>
                  <a:pt x="139057" y="1624"/>
                  <a:pt x="139913" y="2210"/>
                </a:cubicBezTo>
                <a:lnTo>
                  <a:pt x="141234" y="3251"/>
                </a:lnTo>
                <a:lnTo>
                  <a:pt x="144473" y="6020"/>
                </a:lnTo>
                <a:cubicBezTo>
                  <a:pt x="170092" y="27299"/>
                  <a:pt x="202472" y="38726"/>
                  <a:pt x="235773" y="38240"/>
                </a:cubicBezTo>
                <a:lnTo>
                  <a:pt x="240116" y="38113"/>
                </a:lnTo>
                <a:cubicBezTo>
                  <a:pt x="245960" y="37846"/>
                  <a:pt x="251230" y="41606"/>
                  <a:pt x="252880" y="47219"/>
                </a:cubicBezTo>
                <a:cubicBezTo>
                  <a:pt x="265489" y="90110"/>
                  <a:pt x="260164" y="136281"/>
                  <a:pt x="238124" y="175177"/>
                </a:cubicBezTo>
                <a:cubicBezTo>
                  <a:pt x="216084" y="214073"/>
                  <a:pt x="179212" y="242368"/>
                  <a:pt x="135938" y="253594"/>
                </a:cubicBezTo>
                <a:cubicBezTo>
                  <a:pt x="133848" y="254136"/>
                  <a:pt x="131653" y="254136"/>
                  <a:pt x="129563" y="253594"/>
                </a:cubicBezTo>
                <a:cubicBezTo>
                  <a:pt x="86286" y="242371"/>
                  <a:pt x="49412" y="214077"/>
                  <a:pt x="27369" y="175181"/>
                </a:cubicBezTo>
                <a:cubicBezTo>
                  <a:pt x="5326" y="136285"/>
                  <a:pt x="0" y="90112"/>
                  <a:pt x="12608" y="47219"/>
                </a:cubicBezTo>
                <a:cubicBezTo>
                  <a:pt x="14258" y="41606"/>
                  <a:pt x="19528" y="37846"/>
                  <a:pt x="25372" y="38113"/>
                </a:cubicBezTo>
                <a:cubicBezTo>
                  <a:pt x="60138" y="39702"/>
                  <a:pt x="94245" y="28257"/>
                  <a:pt x="121016" y="6020"/>
                </a:cubicBezTo>
                <a:lnTo>
                  <a:pt x="124356" y="3162"/>
                </a:lnTo>
                <a:lnTo>
                  <a:pt x="125575" y="2210"/>
                </a:lnTo>
                <a:cubicBezTo>
                  <a:pt x="126432" y="1624"/>
                  <a:pt x="127357" y="1146"/>
                  <a:pt x="128331" y="787"/>
                </a:cubicBezTo>
                <a:lnTo>
                  <a:pt x="129753" y="356"/>
                </a:lnTo>
                <a:cubicBezTo>
                  <a:pt x="130251" y="235"/>
                  <a:pt x="130756" y="146"/>
                  <a:pt x="131265" y="89"/>
                </a:cubicBezTo>
                <a:lnTo>
                  <a:pt x="132725" y="0"/>
                </a:lnTo>
                <a:close/>
                <a:moveTo>
                  <a:pt x="132750" y="88900"/>
                </a:moveTo>
                <a:cubicBezTo>
                  <a:pt x="119458" y="88896"/>
                  <a:pt x="108411" y="99140"/>
                  <a:pt x="107414" y="112395"/>
                </a:cubicBezTo>
                <a:lnTo>
                  <a:pt x="107350" y="114300"/>
                </a:lnTo>
                <a:lnTo>
                  <a:pt x="107414" y="116205"/>
                </a:lnTo>
                <a:cubicBezTo>
                  <a:pt x="108050" y="124575"/>
                  <a:pt x="112779" y="132090"/>
                  <a:pt x="120050" y="136284"/>
                </a:cubicBezTo>
                <a:lnTo>
                  <a:pt x="120050" y="158750"/>
                </a:lnTo>
                <a:lnTo>
                  <a:pt x="120139" y="160236"/>
                </a:lnTo>
                <a:cubicBezTo>
                  <a:pt x="120933" y="166908"/>
                  <a:pt x="126787" y="171808"/>
                  <a:pt x="133495" y="171414"/>
                </a:cubicBezTo>
                <a:cubicBezTo>
                  <a:pt x="140203" y="171020"/>
                  <a:pt x="145443" y="165469"/>
                  <a:pt x="145450" y="158750"/>
                </a:cubicBezTo>
                <a:lnTo>
                  <a:pt x="145463" y="136296"/>
                </a:lnTo>
                <a:cubicBezTo>
                  <a:pt x="155421" y="130547"/>
                  <a:pt x="160274" y="118825"/>
                  <a:pt x="157295" y="107720"/>
                </a:cubicBezTo>
                <a:cubicBezTo>
                  <a:pt x="154316" y="96614"/>
                  <a:pt x="144249" y="88895"/>
                  <a:pt x="132750" y="8890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461760" y="3318510"/>
            <a:ext cx="1042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JWT + Redis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65570" y="3541395"/>
            <a:ext cx="11007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Token 认证 + 缓存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465570" y="3712845"/>
            <a:ext cx="12255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分布式锁 + 会话管理</a:t>
            </a:r>
          </a:p>
        </p:txBody>
      </p:sp>
      <p:sp>
        <p:nvSpPr>
          <p:cNvPr id="44" name="Freeform 44"/>
          <p:cNvSpPr/>
          <p:nvPr/>
        </p:nvSpPr>
        <p:spPr>
          <a:xfrm>
            <a:off x="8191500" y="3095625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95250" y="0"/>
                </a:moveTo>
                <a:lnTo>
                  <a:pt x="2000250" y="0"/>
                </a:lnTo>
                <a:cubicBezTo>
                  <a:pt x="2052855" y="0"/>
                  <a:pt x="2095500" y="42645"/>
                  <a:pt x="2095500" y="95250"/>
                </a:cubicBezTo>
                <a:lnTo>
                  <a:pt x="2095500" y="857250"/>
                </a:lnTo>
                <a:cubicBezTo>
                  <a:pt x="2095500" y="909855"/>
                  <a:pt x="2052855" y="952500"/>
                  <a:pt x="20002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grpSp>
        <p:nvGrpSpPr>
          <p:cNvPr id="47" name="Group 47"/>
          <p:cNvGrpSpPr/>
          <p:nvPr/>
        </p:nvGrpSpPr>
        <p:grpSpPr>
          <a:xfrm>
            <a:off x="8388350" y="3311525"/>
            <a:ext cx="254001" cy="258280"/>
            <a:chOff x="8388350" y="3311525"/>
            <a:chExt cx="254001" cy="258280"/>
          </a:xfrm>
        </p:grpSpPr>
        <p:sp>
          <p:nvSpPr>
            <p:cNvPr id="45" name="Freeform 45"/>
            <p:cNvSpPr/>
            <p:nvPr/>
          </p:nvSpPr>
          <p:spPr>
            <a:xfrm>
              <a:off x="8477250" y="3311525"/>
              <a:ext cx="165101" cy="165120"/>
            </a:xfrm>
            <a:custGeom>
              <a:avLst/>
              <a:gdLst/>
              <a:ahLst/>
              <a:cxnLst/>
              <a:rect l="l" t="t" r="r" b="b"/>
              <a:pathLst>
                <a:path w="165101" h="165120">
                  <a:moveTo>
                    <a:pt x="151143" y="165036"/>
                  </a:moveTo>
                  <a:lnTo>
                    <a:pt x="150584" y="164960"/>
                  </a:lnTo>
                  <a:cubicBezTo>
                    <a:pt x="150143" y="164932"/>
                    <a:pt x="149707" y="164847"/>
                    <a:pt x="149288" y="164706"/>
                  </a:cubicBezTo>
                  <a:lnTo>
                    <a:pt x="148717" y="164554"/>
                  </a:lnTo>
                  <a:lnTo>
                    <a:pt x="148107" y="164338"/>
                  </a:lnTo>
                  <a:lnTo>
                    <a:pt x="147536" y="164135"/>
                  </a:lnTo>
                  <a:lnTo>
                    <a:pt x="146990" y="163881"/>
                  </a:lnTo>
                  <a:lnTo>
                    <a:pt x="146418" y="163601"/>
                  </a:lnTo>
                  <a:lnTo>
                    <a:pt x="145910" y="163297"/>
                  </a:lnTo>
                  <a:lnTo>
                    <a:pt x="145351" y="162966"/>
                  </a:lnTo>
                  <a:lnTo>
                    <a:pt x="144805" y="162560"/>
                  </a:lnTo>
                  <a:lnTo>
                    <a:pt x="144348" y="162217"/>
                  </a:lnTo>
                  <a:cubicBezTo>
                    <a:pt x="144026" y="161953"/>
                    <a:pt x="143716" y="161673"/>
                    <a:pt x="143421" y="161379"/>
                  </a:cubicBezTo>
                  <a:lnTo>
                    <a:pt x="109042" y="127000"/>
                  </a:lnTo>
                  <a:lnTo>
                    <a:pt x="25400" y="127000"/>
                  </a:lnTo>
                  <a:cubicBezTo>
                    <a:pt x="11372" y="127000"/>
                    <a:pt x="0" y="115628"/>
                    <a:pt x="0" y="1016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139700" y="0"/>
                  </a:lnTo>
                  <a:cubicBezTo>
                    <a:pt x="153728" y="0"/>
                    <a:pt x="165100" y="11372"/>
                    <a:pt x="165100" y="25400"/>
                  </a:cubicBezTo>
                  <a:lnTo>
                    <a:pt x="165100" y="152400"/>
                  </a:lnTo>
                  <a:cubicBezTo>
                    <a:pt x="165101" y="154069"/>
                    <a:pt x="164773" y="155722"/>
                    <a:pt x="164135" y="157264"/>
                  </a:cubicBezTo>
                  <a:lnTo>
                    <a:pt x="163881" y="157810"/>
                  </a:lnTo>
                  <a:lnTo>
                    <a:pt x="163601" y="158382"/>
                  </a:lnTo>
                  <a:lnTo>
                    <a:pt x="163297" y="158890"/>
                  </a:lnTo>
                  <a:lnTo>
                    <a:pt x="162966" y="159448"/>
                  </a:lnTo>
                  <a:lnTo>
                    <a:pt x="162560" y="159995"/>
                  </a:lnTo>
                  <a:lnTo>
                    <a:pt x="162217" y="160452"/>
                  </a:lnTo>
                  <a:cubicBezTo>
                    <a:pt x="160354" y="162726"/>
                    <a:pt x="157760" y="164284"/>
                    <a:pt x="154876" y="164859"/>
                  </a:cubicBezTo>
                  <a:lnTo>
                    <a:pt x="154216" y="164960"/>
                  </a:lnTo>
                  <a:lnTo>
                    <a:pt x="153657" y="165036"/>
                  </a:lnTo>
                  <a:cubicBezTo>
                    <a:pt x="152821" y="165120"/>
                    <a:pt x="151979" y="165120"/>
                    <a:pt x="151143" y="165036"/>
                  </a:cubicBezTo>
                </a:path>
              </a:pathLst>
            </a:custGeom>
            <a:solidFill>
              <a:srgbClr val="0D47A1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388350" y="3400412"/>
              <a:ext cx="165100" cy="169393"/>
            </a:xfrm>
            <a:custGeom>
              <a:avLst/>
              <a:gdLst/>
              <a:ahLst/>
              <a:cxnLst/>
              <a:rect l="l" t="t" r="r" b="b"/>
              <a:pathLst>
                <a:path w="165100" h="169393">
                  <a:moveTo>
                    <a:pt x="63500" y="0"/>
                  </a:moveTo>
                  <a:lnTo>
                    <a:pt x="63500" y="12713"/>
                  </a:lnTo>
                  <a:cubicBezTo>
                    <a:pt x="63500" y="40769"/>
                    <a:pt x="86244" y="63513"/>
                    <a:pt x="114300" y="63513"/>
                  </a:cubicBezTo>
                  <a:lnTo>
                    <a:pt x="165100" y="63513"/>
                  </a:lnTo>
                  <a:lnTo>
                    <a:pt x="165100" y="101613"/>
                  </a:lnTo>
                  <a:cubicBezTo>
                    <a:pt x="165100" y="115641"/>
                    <a:pt x="153728" y="127013"/>
                    <a:pt x="139700" y="127013"/>
                  </a:cubicBezTo>
                  <a:lnTo>
                    <a:pt x="56058" y="127013"/>
                  </a:lnTo>
                  <a:lnTo>
                    <a:pt x="21679" y="161392"/>
                  </a:lnTo>
                  <a:cubicBezTo>
                    <a:pt x="13678" y="169393"/>
                    <a:pt x="0" y="163728"/>
                    <a:pt x="0" y="152413"/>
                  </a:cubicBezTo>
                  <a:lnTo>
                    <a:pt x="0" y="25413"/>
                  </a:lnTo>
                  <a:cubicBezTo>
                    <a:pt x="0" y="11385"/>
                    <a:pt x="11372" y="13"/>
                    <a:pt x="25400" y="13"/>
                  </a:cubicBezTo>
                  <a:close/>
                </a:path>
              </a:pathLst>
            </a:custGeom>
            <a:solidFill>
              <a:srgbClr val="0D47A1"/>
            </a:solidFill>
            <a:ln>
              <a:noFill/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8747760" y="3318510"/>
            <a:ext cx="12266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WebSocket IM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751570" y="35413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自建即时通讯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751570" y="3712845"/>
            <a:ext cx="12255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心跳保活 + 已读回执</a:t>
            </a:r>
          </a:p>
        </p:txBody>
      </p:sp>
      <p:sp>
        <p:nvSpPr>
          <p:cNvPr id="51" name="Freeform 51"/>
          <p:cNvSpPr/>
          <p:nvPr/>
        </p:nvSpPr>
        <p:spPr>
          <a:xfrm>
            <a:off x="571500" y="4381500"/>
            <a:ext cx="381000" cy="952500"/>
          </a:xfrm>
          <a:custGeom>
            <a:avLst/>
            <a:gdLst/>
            <a:ahLst/>
            <a:cxnLst/>
            <a:rect l="l" t="t" r="r" b="b"/>
            <a:pathLst>
              <a:path w="381000" h="9525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876300"/>
                </a:lnTo>
                <a:cubicBezTo>
                  <a:pt x="381000" y="918384"/>
                  <a:pt x="346884" y="952500"/>
                  <a:pt x="304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16434" y="4772025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3" name="Freeform 53"/>
          <p:cNvSpPr/>
          <p:nvPr/>
        </p:nvSpPr>
        <p:spPr>
          <a:xfrm>
            <a:off x="1104900" y="4381500"/>
            <a:ext cx="10515600" cy="952500"/>
          </a:xfrm>
          <a:custGeom>
            <a:avLst/>
            <a:gdLst/>
            <a:ahLst/>
            <a:cxnLst/>
            <a:rect l="l" t="t" r="r" b="b"/>
            <a:pathLst>
              <a:path w="10515600" h="952500">
                <a:moveTo>
                  <a:pt x="114300" y="0"/>
                </a:moveTo>
                <a:lnTo>
                  <a:pt x="10401300" y="0"/>
                </a:lnTo>
                <a:cubicBezTo>
                  <a:pt x="10464426" y="0"/>
                  <a:pt x="10515600" y="51174"/>
                  <a:pt x="10515600" y="114300"/>
                </a:cubicBezTo>
                <a:lnTo>
                  <a:pt x="10515600" y="838200"/>
                </a:lnTo>
                <a:cubicBezTo>
                  <a:pt x="10515600" y="901326"/>
                  <a:pt x="10464426" y="952500"/>
                  <a:pt x="104013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3E0">
              <a:alpha val="50000"/>
            </a:srgbClr>
          </a:solidFill>
          <a:ln w="14288">
            <a:solidFill>
              <a:srgbClr val="FFB74D"/>
            </a:solidFill>
            <a:custDash>
              <a:ds d="400000" sp="266666"/>
            </a:custDash>
          </a:ln>
        </p:spPr>
      </p:sp>
      <p:sp>
        <p:nvSpPr>
          <p:cNvPr id="54" name="TextBox 54"/>
          <p:cNvSpPr txBox="1"/>
          <p:nvPr/>
        </p:nvSpPr>
        <p:spPr>
          <a:xfrm>
            <a:off x="5532188" y="4534852"/>
            <a:ext cx="16610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数据层 — 持久化与缓存</a:t>
            </a:r>
          </a:p>
        </p:txBody>
      </p:sp>
      <p:sp>
        <p:nvSpPr>
          <p:cNvPr id="55" name="Freeform 55"/>
          <p:cNvSpPr/>
          <p:nvPr/>
        </p:nvSpPr>
        <p:spPr>
          <a:xfrm>
            <a:off x="1333500" y="4810125"/>
            <a:ext cx="3143250" cy="381000"/>
          </a:xfrm>
          <a:custGeom>
            <a:avLst/>
            <a:gdLst/>
            <a:ahLst/>
            <a:cxnLst/>
            <a:rect l="l" t="t" r="r" b="b"/>
            <a:pathLst>
              <a:path w="3143250" h="3810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304800"/>
                </a:lnTo>
                <a:cubicBezTo>
                  <a:pt x="3143250" y="346884"/>
                  <a:pt x="3109134" y="381000"/>
                  <a:pt x="306705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grpSp>
        <p:nvGrpSpPr>
          <p:cNvPr id="59" name="Group 59"/>
          <p:cNvGrpSpPr/>
          <p:nvPr/>
        </p:nvGrpSpPr>
        <p:grpSpPr>
          <a:xfrm>
            <a:off x="1535905" y="4897438"/>
            <a:ext cx="185739" cy="206374"/>
            <a:chOff x="1535905" y="4897438"/>
            <a:chExt cx="185739" cy="206374"/>
          </a:xfrm>
        </p:grpSpPr>
        <p:sp>
          <p:nvSpPr>
            <p:cNvPr id="56" name="Freeform 56"/>
            <p:cNvSpPr/>
            <p:nvPr/>
          </p:nvSpPr>
          <p:spPr>
            <a:xfrm>
              <a:off x="1535906" y="5039124"/>
              <a:ext cx="185738" cy="64688"/>
            </a:xfrm>
            <a:custGeom>
              <a:avLst/>
              <a:gdLst/>
              <a:ahLst/>
              <a:cxnLst/>
              <a:rect l="l" t="t" r="r" b="b"/>
              <a:pathLst>
                <a:path w="185738" h="64688">
                  <a:moveTo>
                    <a:pt x="0" y="0"/>
                  </a:moveTo>
                  <a:cubicBezTo>
                    <a:pt x="20307" y="15550"/>
                    <a:pt x="54008" y="23413"/>
                    <a:pt x="92869" y="23413"/>
                  </a:cubicBezTo>
                  <a:cubicBezTo>
                    <a:pt x="131667" y="23413"/>
                    <a:pt x="165358" y="15571"/>
                    <a:pt x="185738" y="175"/>
                  </a:cubicBezTo>
                  <a:lnTo>
                    <a:pt x="185738" y="23413"/>
                  </a:lnTo>
                  <a:cubicBezTo>
                    <a:pt x="185738" y="48436"/>
                    <a:pt x="145546" y="64028"/>
                    <a:pt x="96037" y="64668"/>
                  </a:cubicBezTo>
                  <a:lnTo>
                    <a:pt x="92869" y="64688"/>
                  </a:lnTo>
                  <a:cubicBezTo>
                    <a:pt x="41915" y="64688"/>
                    <a:pt x="0" y="48973"/>
                    <a:pt x="0" y="23413"/>
                  </a:cubicBezTo>
                  <a:close/>
                </a:path>
              </a:pathLst>
            </a:custGeom>
            <a:solidFill>
              <a:srgbClr val="FF6F00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1535906" y="4977212"/>
              <a:ext cx="185738" cy="64688"/>
            </a:xfrm>
            <a:custGeom>
              <a:avLst/>
              <a:gdLst/>
              <a:ahLst/>
              <a:cxnLst/>
              <a:rect l="l" t="t" r="r" b="b"/>
              <a:pathLst>
                <a:path w="185738" h="64688">
                  <a:moveTo>
                    <a:pt x="0" y="0"/>
                  </a:moveTo>
                  <a:cubicBezTo>
                    <a:pt x="20307" y="15550"/>
                    <a:pt x="54008" y="23413"/>
                    <a:pt x="92869" y="23413"/>
                  </a:cubicBezTo>
                  <a:cubicBezTo>
                    <a:pt x="131667" y="23413"/>
                    <a:pt x="165358" y="15571"/>
                    <a:pt x="185738" y="175"/>
                  </a:cubicBezTo>
                  <a:lnTo>
                    <a:pt x="185738" y="23413"/>
                  </a:lnTo>
                  <a:cubicBezTo>
                    <a:pt x="185738" y="48973"/>
                    <a:pt x="143823" y="64688"/>
                    <a:pt x="92869" y="64688"/>
                  </a:cubicBezTo>
                  <a:cubicBezTo>
                    <a:pt x="43359" y="64688"/>
                    <a:pt x="2373" y="49850"/>
                    <a:pt x="217" y="25529"/>
                  </a:cubicBezTo>
                  <a:lnTo>
                    <a:pt x="52" y="24486"/>
                  </a:lnTo>
                  <a:lnTo>
                    <a:pt x="0" y="23413"/>
                  </a:lnTo>
                  <a:close/>
                </a:path>
              </a:pathLst>
            </a:custGeom>
            <a:solidFill>
              <a:srgbClr val="FF6F00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1535905" y="4897438"/>
              <a:ext cx="185738" cy="82550"/>
            </a:xfrm>
            <a:custGeom>
              <a:avLst/>
              <a:gdLst/>
              <a:ahLst/>
              <a:cxnLst/>
              <a:rect l="l" t="t" r="r" b="b"/>
              <a:pathLst>
                <a:path w="185738" h="82550">
                  <a:moveTo>
                    <a:pt x="92870" y="0"/>
                  </a:moveTo>
                  <a:cubicBezTo>
                    <a:pt x="103611" y="0"/>
                    <a:pt x="113961" y="702"/>
                    <a:pt x="123588" y="2043"/>
                  </a:cubicBezTo>
                  <a:lnTo>
                    <a:pt x="128428" y="2776"/>
                  </a:lnTo>
                  <a:cubicBezTo>
                    <a:pt x="134206" y="3739"/>
                    <a:pt x="139662" y="4936"/>
                    <a:pt x="144794" y="6367"/>
                  </a:cubicBezTo>
                  <a:lnTo>
                    <a:pt x="149334" y="7718"/>
                  </a:lnTo>
                  <a:lnTo>
                    <a:pt x="150108" y="7966"/>
                  </a:lnTo>
                  <a:cubicBezTo>
                    <a:pt x="152916" y="8889"/>
                    <a:pt x="155687" y="9922"/>
                    <a:pt x="158414" y="11062"/>
                  </a:cubicBezTo>
                  <a:lnTo>
                    <a:pt x="160468" y="11949"/>
                  </a:lnTo>
                  <a:cubicBezTo>
                    <a:pt x="164148" y="13614"/>
                    <a:pt x="167474" y="15437"/>
                    <a:pt x="170446" y="17418"/>
                  </a:cubicBezTo>
                  <a:cubicBezTo>
                    <a:pt x="171581" y="18175"/>
                    <a:pt x="172658" y="18949"/>
                    <a:pt x="173676" y="19740"/>
                  </a:cubicBezTo>
                  <a:cubicBezTo>
                    <a:pt x="176255" y="21741"/>
                    <a:pt x="178574" y="24057"/>
                    <a:pt x="180579" y="26633"/>
                  </a:cubicBezTo>
                  <a:lnTo>
                    <a:pt x="181518" y="27953"/>
                  </a:lnTo>
                  <a:cubicBezTo>
                    <a:pt x="181999" y="28676"/>
                    <a:pt x="182443" y="29402"/>
                    <a:pt x="182849" y="30131"/>
                  </a:cubicBezTo>
                  <a:lnTo>
                    <a:pt x="183571" y="31565"/>
                  </a:lnTo>
                  <a:cubicBezTo>
                    <a:pt x="184693" y="33973"/>
                    <a:pt x="185381" y="36484"/>
                    <a:pt x="185635" y="39098"/>
                  </a:cubicBezTo>
                  <a:lnTo>
                    <a:pt x="185738" y="41275"/>
                  </a:lnTo>
                  <a:cubicBezTo>
                    <a:pt x="185738" y="66835"/>
                    <a:pt x="143824" y="82550"/>
                    <a:pt x="92870" y="82550"/>
                  </a:cubicBezTo>
                  <a:cubicBezTo>
                    <a:pt x="43360" y="82550"/>
                    <a:pt x="2374" y="67712"/>
                    <a:pt x="218" y="43390"/>
                  </a:cubicBezTo>
                  <a:cubicBezTo>
                    <a:pt x="73" y="42695"/>
                    <a:pt x="0" y="41986"/>
                    <a:pt x="1" y="41275"/>
                  </a:cubicBezTo>
                  <a:lnTo>
                    <a:pt x="52" y="40202"/>
                  </a:lnTo>
                  <a:lnTo>
                    <a:pt x="218" y="39170"/>
                  </a:lnTo>
                  <a:cubicBezTo>
                    <a:pt x="2333" y="15375"/>
                    <a:pt x="41596" y="650"/>
                    <a:pt x="89650" y="21"/>
                  </a:cubicBezTo>
                  <a:close/>
                </a:path>
              </a:pathLst>
            </a:custGeom>
            <a:solidFill>
              <a:srgbClr val="FF6F00"/>
            </a:solidFill>
            <a:ln>
              <a:noFill/>
            </a:ln>
          </p:spPr>
        </p:sp>
      </p:grpSp>
      <p:sp>
        <p:nvSpPr>
          <p:cNvPr id="60" name="TextBox 60"/>
          <p:cNvSpPr txBox="1"/>
          <p:nvPr/>
        </p:nvSpPr>
        <p:spPr>
          <a:xfrm>
            <a:off x="1833562" y="4945856"/>
            <a:ext cx="31253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MySQL 5.7 — 15+ 数据表，增量更新脚本</a:t>
            </a:r>
          </a:p>
        </p:txBody>
      </p:sp>
      <p:sp>
        <p:nvSpPr>
          <p:cNvPr id="61" name="Freeform 61"/>
          <p:cNvSpPr/>
          <p:nvPr/>
        </p:nvSpPr>
        <p:spPr>
          <a:xfrm>
            <a:off x="4762500" y="4810125"/>
            <a:ext cx="3143250" cy="381000"/>
          </a:xfrm>
          <a:custGeom>
            <a:avLst/>
            <a:gdLst/>
            <a:ahLst/>
            <a:cxnLst/>
            <a:rect l="l" t="t" r="r" b="b"/>
            <a:pathLst>
              <a:path w="3143250" h="3810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304800"/>
                </a:lnTo>
                <a:cubicBezTo>
                  <a:pt x="3143250" y="346884"/>
                  <a:pt x="3109134" y="381000"/>
                  <a:pt x="306705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62" name="Freeform 62"/>
          <p:cNvSpPr/>
          <p:nvPr/>
        </p:nvSpPr>
        <p:spPr>
          <a:xfrm>
            <a:off x="4947426" y="4890276"/>
            <a:ext cx="220697" cy="220697"/>
          </a:xfrm>
          <a:custGeom>
            <a:avLst/>
            <a:gdLst/>
            <a:ahLst/>
            <a:cxnLst/>
            <a:rect l="l" t="t" r="r" b="b"/>
            <a:pathLst>
              <a:path w="220697" h="220697">
                <a:moveTo>
                  <a:pt x="137662" y="28635"/>
                </a:moveTo>
                <a:cubicBezTo>
                  <a:pt x="138224" y="30952"/>
                  <a:pt x="139858" y="32862"/>
                  <a:pt x="142061" y="33776"/>
                </a:cubicBezTo>
                <a:cubicBezTo>
                  <a:pt x="144263" y="34690"/>
                  <a:pt x="146770" y="34497"/>
                  <a:pt x="148807" y="33257"/>
                </a:cubicBezTo>
                <a:cubicBezTo>
                  <a:pt x="173974" y="17934"/>
                  <a:pt x="202774" y="46723"/>
                  <a:pt x="187450" y="71891"/>
                </a:cubicBezTo>
                <a:cubicBezTo>
                  <a:pt x="186211" y="73926"/>
                  <a:pt x="186017" y="76431"/>
                  <a:pt x="186928" y="78634"/>
                </a:cubicBezTo>
                <a:cubicBezTo>
                  <a:pt x="187840" y="80836"/>
                  <a:pt x="189747" y="82471"/>
                  <a:pt x="192063" y="83035"/>
                </a:cubicBezTo>
                <a:cubicBezTo>
                  <a:pt x="220697" y="89979"/>
                  <a:pt x="220697" y="130708"/>
                  <a:pt x="192063" y="137662"/>
                </a:cubicBezTo>
                <a:cubicBezTo>
                  <a:pt x="189745" y="138224"/>
                  <a:pt x="187835" y="139858"/>
                  <a:pt x="186922" y="142061"/>
                </a:cubicBezTo>
                <a:cubicBezTo>
                  <a:pt x="186008" y="144263"/>
                  <a:pt x="186201" y="146770"/>
                  <a:pt x="187440" y="148807"/>
                </a:cubicBezTo>
                <a:cubicBezTo>
                  <a:pt x="202763" y="173974"/>
                  <a:pt x="173974" y="202774"/>
                  <a:pt x="148807" y="187450"/>
                </a:cubicBezTo>
                <a:cubicBezTo>
                  <a:pt x="146771" y="186211"/>
                  <a:pt x="144266" y="186017"/>
                  <a:pt x="142064" y="186928"/>
                </a:cubicBezTo>
                <a:cubicBezTo>
                  <a:pt x="139862" y="187840"/>
                  <a:pt x="138227" y="189747"/>
                  <a:pt x="137662" y="192063"/>
                </a:cubicBezTo>
                <a:cubicBezTo>
                  <a:pt x="130718" y="220697"/>
                  <a:pt x="89990" y="220697"/>
                  <a:pt x="83035" y="192063"/>
                </a:cubicBezTo>
                <a:cubicBezTo>
                  <a:pt x="82473" y="189745"/>
                  <a:pt x="80839" y="187835"/>
                  <a:pt x="78637" y="186922"/>
                </a:cubicBezTo>
                <a:cubicBezTo>
                  <a:pt x="76434" y="186008"/>
                  <a:pt x="73928" y="186201"/>
                  <a:pt x="71891" y="187440"/>
                </a:cubicBezTo>
                <a:cubicBezTo>
                  <a:pt x="46723" y="202763"/>
                  <a:pt x="17924" y="173974"/>
                  <a:pt x="33247" y="148807"/>
                </a:cubicBezTo>
                <a:cubicBezTo>
                  <a:pt x="34487" y="146771"/>
                  <a:pt x="34681" y="144266"/>
                  <a:pt x="33769" y="142064"/>
                </a:cubicBezTo>
                <a:cubicBezTo>
                  <a:pt x="32858" y="139862"/>
                  <a:pt x="30950" y="138227"/>
                  <a:pt x="28635" y="137662"/>
                </a:cubicBezTo>
                <a:cubicBezTo>
                  <a:pt x="0" y="130718"/>
                  <a:pt x="0" y="89990"/>
                  <a:pt x="28635" y="83035"/>
                </a:cubicBezTo>
                <a:cubicBezTo>
                  <a:pt x="30952" y="82473"/>
                  <a:pt x="32862" y="80839"/>
                  <a:pt x="33776" y="78637"/>
                </a:cubicBezTo>
                <a:cubicBezTo>
                  <a:pt x="34690" y="76434"/>
                  <a:pt x="34497" y="73928"/>
                  <a:pt x="33257" y="71891"/>
                </a:cubicBezTo>
                <a:cubicBezTo>
                  <a:pt x="17934" y="46723"/>
                  <a:pt x="46723" y="17924"/>
                  <a:pt x="71891" y="33247"/>
                </a:cubicBezTo>
                <a:cubicBezTo>
                  <a:pt x="73925" y="34496"/>
                  <a:pt x="76434" y="34695"/>
                  <a:pt x="78639" y="33783"/>
                </a:cubicBezTo>
                <a:cubicBezTo>
                  <a:pt x="80844" y="32870"/>
                  <a:pt x="82479" y="30956"/>
                  <a:pt x="83035" y="28635"/>
                </a:cubicBezTo>
                <a:cubicBezTo>
                  <a:pt x="89979" y="0"/>
                  <a:pt x="130708" y="0"/>
                  <a:pt x="137662" y="28635"/>
                </a:cubicBezTo>
                <a:close/>
                <a:moveTo>
                  <a:pt x="110349" y="79392"/>
                </a:moveTo>
                <a:cubicBezTo>
                  <a:pt x="93252" y="79392"/>
                  <a:pt x="79392" y="93252"/>
                  <a:pt x="79392" y="110349"/>
                </a:cubicBezTo>
                <a:cubicBezTo>
                  <a:pt x="79392" y="127445"/>
                  <a:pt x="93252" y="141305"/>
                  <a:pt x="110349" y="141305"/>
                </a:cubicBezTo>
                <a:cubicBezTo>
                  <a:pt x="127445" y="141305"/>
                  <a:pt x="141305" y="127445"/>
                  <a:pt x="141305" y="110349"/>
                </a:cubicBezTo>
                <a:cubicBezTo>
                  <a:pt x="141305" y="93252"/>
                  <a:pt x="127445" y="79392"/>
                  <a:pt x="110349" y="79392"/>
                </a:cubicBezTo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5262562" y="4945856"/>
            <a:ext cx="29614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Redis 6.0+ — 20+ 缓存 Key，TTL 策略</a:t>
            </a:r>
          </a:p>
        </p:txBody>
      </p:sp>
      <p:sp>
        <p:nvSpPr>
          <p:cNvPr id="64" name="Line 64"/>
          <p:cNvSpPr/>
          <p:nvPr/>
        </p:nvSpPr>
        <p:spPr>
          <a:xfrm>
            <a:off x="6362700" y="2476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90CAF9"/>
            </a:solidFill>
            <a:prstDash val="dash"/>
          </a:ln>
        </p:spPr>
      </p:sp>
      <p:sp>
        <p:nvSpPr>
          <p:cNvPr id="65" name="Line 65"/>
          <p:cNvSpPr/>
          <p:nvPr/>
        </p:nvSpPr>
        <p:spPr>
          <a:xfrm>
            <a:off x="6362700" y="41910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FFB74D"/>
            </a:solidFill>
            <a:prstDash val="dash"/>
          </a:ln>
        </p:spPr>
      </p:sp>
      <p:sp>
        <p:nvSpPr>
          <p:cNvPr id="66" name="TextBox 66"/>
          <p:cNvSpPr txBox="1"/>
          <p:nvPr/>
        </p:nvSpPr>
        <p:spPr>
          <a:xfrm>
            <a:off x="113920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03 / 10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571500" y="381000"/>
            <a:ext cx="57150" cy="304800"/>
          </a:xfrm>
          <a:custGeom>
            <a:avLst/>
            <a:gdLst/>
            <a:ahLst/>
            <a:cxnLst/>
            <a:rect l="l" t="t" r="r" b="b"/>
            <a:pathLst>
              <a:path w="57150" h="3048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76225"/>
                </a:lnTo>
                <a:cubicBezTo>
                  <a:pt x="57150" y="292007"/>
                  <a:pt x="44357" y="304800"/>
                  <a:pt x="28575" y="304800"/>
                </a:cubicBezTo>
                <a:lnTo>
                  <a:pt x="28575" y="304800"/>
                </a:lnTo>
                <a:cubicBezTo>
                  <a:pt x="12793" y="304800"/>
                  <a:pt x="0" y="292007"/>
                  <a:pt x="0" y="2762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69570"/>
            <a:ext cx="1533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用户体系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952500"/>
            <a:ext cx="3429000" cy="5334000"/>
          </a:xfrm>
          <a:custGeom>
            <a:avLst/>
            <a:gdLst/>
            <a:ahLst/>
            <a:cxnLst/>
            <a:rect l="l" t="t" r="r" b="b"/>
            <a:pathLst>
              <a:path w="3429000" h="53340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5181600"/>
                </a:lnTo>
                <a:cubicBezTo>
                  <a:pt x="3429000" y="5265768"/>
                  <a:pt x="3360768" y="5334000"/>
                  <a:pt x="3276600" y="5334000"/>
                </a:cubicBezTo>
                <a:lnTo>
                  <a:pt x="152400" y="5334000"/>
                </a:lnTo>
                <a:cubicBezTo>
                  <a:pt x="68232" y="5334000"/>
                  <a:pt x="0" y="5265768"/>
                  <a:pt x="0" y="5181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7" name="Freeform 7"/>
          <p:cNvSpPr/>
          <p:nvPr/>
        </p:nvSpPr>
        <p:spPr>
          <a:xfrm>
            <a:off x="571500" y="952500"/>
            <a:ext cx="3429000" cy="533400"/>
          </a:xfrm>
          <a:custGeom>
            <a:avLst/>
            <a:gdLst/>
            <a:ahLst/>
            <a:cxnLst/>
            <a:rect l="l" t="t" r="r" b="b"/>
            <a:pathLst>
              <a:path w="3429000" h="5334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381000"/>
                </a:lnTo>
                <a:cubicBezTo>
                  <a:pt x="3429000" y="465168"/>
                  <a:pt x="3360768" y="533400"/>
                  <a:pt x="3276600" y="533400"/>
                </a:cubicBezTo>
                <a:lnTo>
                  <a:pt x="152400" y="533400"/>
                </a:lnTo>
                <a:cubicBezTo>
                  <a:pt x="68232" y="533400"/>
                  <a:pt x="0" y="465168"/>
                  <a:pt x="0" y="3810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3429000" cy="1524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91878" y="11334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多方式登录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038350" y="1704975"/>
            <a:ext cx="266700" cy="381000"/>
            <a:chOff x="2038350" y="1704975"/>
            <a:chExt cx="266700" cy="381000"/>
          </a:xfrm>
        </p:grpSpPr>
        <p:sp>
          <p:nvSpPr>
            <p:cNvPr id="10" name="Freeform 10"/>
            <p:cNvSpPr/>
            <p:nvPr/>
          </p:nvSpPr>
          <p:spPr>
            <a:xfrm>
              <a:off x="2076450" y="17049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147855" y="0"/>
                    <a:pt x="190500" y="42645"/>
                    <a:pt x="190500" y="95250"/>
                  </a:cubicBezTo>
                  <a:cubicBezTo>
                    <a:pt x="190500" y="147855"/>
                    <a:pt x="147855" y="190500"/>
                    <a:pt x="95250" y="190500"/>
                  </a:cubicBezTo>
                  <a:cubicBezTo>
                    <a:pt x="42645" y="190500"/>
                    <a:pt x="0" y="147855"/>
                    <a:pt x="0" y="95250"/>
                  </a:cubicBezTo>
                  <a:lnTo>
                    <a:pt x="95" y="91116"/>
                  </a:lnTo>
                  <a:cubicBezTo>
                    <a:pt x="2308" y="40169"/>
                    <a:pt x="44255" y="3"/>
                    <a:pt x="95250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38350" y="1933575"/>
              <a:ext cx="266700" cy="152400"/>
            </a:xfrm>
            <a:custGeom>
              <a:avLst/>
              <a:gdLst/>
              <a:ahLst/>
              <a:cxnLst/>
              <a:rect l="l" t="t" r="r" b="b"/>
              <a:pathLst>
                <a:path w="266700" h="152400">
                  <a:moveTo>
                    <a:pt x="171450" y="0"/>
                  </a:moveTo>
                  <a:cubicBezTo>
                    <a:pt x="224055" y="0"/>
                    <a:pt x="266700" y="42645"/>
                    <a:pt x="266700" y="95250"/>
                  </a:cubicBezTo>
                  <a:lnTo>
                    <a:pt x="266700" y="114300"/>
                  </a:lnTo>
                  <a:cubicBezTo>
                    <a:pt x="266700" y="135342"/>
                    <a:pt x="249642" y="152400"/>
                    <a:pt x="228600" y="152400"/>
                  </a:cubicBezTo>
                  <a:lnTo>
                    <a:pt x="38100" y="152400"/>
                  </a:lnTo>
                  <a:cubicBezTo>
                    <a:pt x="17058" y="152400"/>
                    <a:pt x="0" y="135342"/>
                    <a:pt x="0" y="1143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lnTo>
                    <a:pt x="171450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683234" y="2291239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三种登录方式</a:t>
            </a:r>
          </a:p>
        </p:txBody>
      </p:sp>
      <p:sp>
        <p:nvSpPr>
          <p:cNvPr id="14" name="Freeform 14"/>
          <p:cNvSpPr/>
          <p:nvPr/>
        </p:nvSpPr>
        <p:spPr>
          <a:xfrm>
            <a:off x="857250" y="2619375"/>
            <a:ext cx="2857500" cy="428625"/>
          </a:xfrm>
          <a:custGeom>
            <a:avLst/>
            <a:gdLst/>
            <a:ahLst/>
            <a:cxnLst/>
            <a:rect l="l" t="t" r="r" b="b"/>
            <a:pathLst>
              <a:path w="2857500" h="42862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52425"/>
                </a:lnTo>
                <a:cubicBezTo>
                  <a:pt x="2857500" y="394509"/>
                  <a:pt x="2823384" y="428625"/>
                  <a:pt x="278130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78794" y="27741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微信一键登录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143250"/>
            <a:ext cx="2857500" cy="428625"/>
          </a:xfrm>
          <a:custGeom>
            <a:avLst/>
            <a:gdLst/>
            <a:ahLst/>
            <a:cxnLst/>
            <a:rect l="l" t="t" r="r" b="b"/>
            <a:pathLst>
              <a:path w="2857500" h="42862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52425"/>
                </a:lnTo>
                <a:cubicBezTo>
                  <a:pt x="2857500" y="394509"/>
                  <a:pt x="2823384" y="428625"/>
                  <a:pt x="278130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602165" y="3298031"/>
            <a:ext cx="13676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手机号 + 密码登录</a:t>
            </a:r>
          </a:p>
        </p:txBody>
      </p:sp>
      <p:sp>
        <p:nvSpPr>
          <p:cNvPr id="18" name="Freeform 18"/>
          <p:cNvSpPr/>
          <p:nvPr/>
        </p:nvSpPr>
        <p:spPr>
          <a:xfrm>
            <a:off x="857250" y="3667125"/>
            <a:ext cx="2857500" cy="428625"/>
          </a:xfrm>
          <a:custGeom>
            <a:avLst/>
            <a:gdLst/>
            <a:ahLst/>
            <a:cxnLst/>
            <a:rect l="l" t="t" r="r" b="b"/>
            <a:pathLst>
              <a:path w="2857500" h="42862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52425"/>
                </a:lnTo>
                <a:cubicBezTo>
                  <a:pt x="2857500" y="394509"/>
                  <a:pt x="2823384" y="428625"/>
                  <a:pt x="278130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778794" y="382190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短信验证登录</a:t>
            </a:r>
          </a:p>
        </p:txBody>
      </p:sp>
      <p:sp>
        <p:nvSpPr>
          <p:cNvPr id="20" name="Freeform 20"/>
          <p:cNvSpPr/>
          <p:nvPr/>
        </p:nvSpPr>
        <p:spPr>
          <a:xfrm>
            <a:off x="857250" y="4333875"/>
            <a:ext cx="2857500" cy="571500"/>
          </a:xfrm>
          <a:custGeom>
            <a:avLst/>
            <a:gdLst/>
            <a:ahLst/>
            <a:cxnLst/>
            <a:rect l="l" t="t" r="r" b="b"/>
            <a:pathLst>
              <a:path w="2857500" h="57150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495300"/>
                </a:lnTo>
                <a:cubicBezTo>
                  <a:pt x="2857500" y="537384"/>
                  <a:pt x="2823384" y="571500"/>
                  <a:pt x="27813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720596" y="4458652"/>
            <a:ext cx="11308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JWT Token 认证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21880" y="4668202"/>
            <a:ext cx="19282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24 小时有效期，拦截器验证</a:t>
            </a:r>
          </a:p>
        </p:txBody>
      </p:sp>
      <p:sp>
        <p:nvSpPr>
          <p:cNvPr id="23" name="Freeform 23"/>
          <p:cNvSpPr/>
          <p:nvPr/>
        </p:nvSpPr>
        <p:spPr>
          <a:xfrm>
            <a:off x="857250" y="5095875"/>
            <a:ext cx="2857500" cy="381000"/>
          </a:xfrm>
          <a:custGeom>
            <a:avLst/>
            <a:gdLst/>
            <a:ahLst/>
            <a:cxnLst/>
            <a:rect l="l" t="t" r="r" b="b"/>
            <a:pathLst>
              <a:path w="2857500" h="38100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04800"/>
                </a:lnTo>
                <a:cubicBezTo>
                  <a:pt x="2857500" y="346884"/>
                  <a:pt x="2823384" y="381000"/>
                  <a:pt x="27813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63549" y="5247799"/>
            <a:ext cx="26449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登录失败 5 次锁定 15 分钟（Redis 计数）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81500" y="952500"/>
            <a:ext cx="3429000" cy="5334000"/>
          </a:xfrm>
          <a:custGeom>
            <a:avLst/>
            <a:gdLst/>
            <a:ahLst/>
            <a:cxnLst/>
            <a:rect l="l" t="t" r="r" b="b"/>
            <a:pathLst>
              <a:path w="3429000" h="53340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5181600"/>
                </a:lnTo>
                <a:cubicBezTo>
                  <a:pt x="3429000" y="5265768"/>
                  <a:pt x="3360768" y="5334000"/>
                  <a:pt x="3276600" y="5334000"/>
                </a:cubicBezTo>
                <a:lnTo>
                  <a:pt x="152400" y="5334000"/>
                </a:lnTo>
                <a:cubicBezTo>
                  <a:pt x="68232" y="5334000"/>
                  <a:pt x="0" y="5265768"/>
                  <a:pt x="0" y="5181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26" name="Freeform 26"/>
          <p:cNvSpPr/>
          <p:nvPr/>
        </p:nvSpPr>
        <p:spPr>
          <a:xfrm>
            <a:off x="4381500" y="952500"/>
            <a:ext cx="3429000" cy="533400"/>
          </a:xfrm>
          <a:custGeom>
            <a:avLst/>
            <a:gdLst/>
            <a:ahLst/>
            <a:cxnLst/>
            <a:rect l="l" t="t" r="r" b="b"/>
            <a:pathLst>
              <a:path w="3429000" h="5334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381000"/>
                </a:lnTo>
                <a:cubicBezTo>
                  <a:pt x="3429000" y="465168"/>
                  <a:pt x="3360768" y="533400"/>
                  <a:pt x="3276600" y="533400"/>
                </a:cubicBezTo>
                <a:lnTo>
                  <a:pt x="152400" y="533400"/>
                </a:lnTo>
                <a:cubicBezTo>
                  <a:pt x="68232" y="533400"/>
                  <a:pt x="0" y="465168"/>
                  <a:pt x="0" y="3810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4381500" y="1333500"/>
            <a:ext cx="3429000" cy="15240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16892" y="11334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校园认证</a:t>
            </a:r>
          </a:p>
        </p:txBody>
      </p:sp>
      <p:sp>
        <p:nvSpPr>
          <p:cNvPr id="29" name="Freeform 29"/>
          <p:cNvSpPr/>
          <p:nvPr/>
        </p:nvSpPr>
        <p:spPr>
          <a:xfrm>
            <a:off x="5903862" y="1779320"/>
            <a:ext cx="327343" cy="232310"/>
          </a:xfrm>
          <a:custGeom>
            <a:avLst/>
            <a:gdLst/>
            <a:ahLst/>
            <a:cxnLst/>
            <a:rect l="l" t="t" r="r" b="b"/>
            <a:pathLst>
              <a:path w="327343" h="232310">
                <a:moveTo>
                  <a:pt x="319906" y="7437"/>
                </a:moveTo>
                <a:cubicBezTo>
                  <a:pt x="327343" y="14876"/>
                  <a:pt x="327343" y="26934"/>
                  <a:pt x="319906" y="34373"/>
                </a:cubicBezTo>
                <a:lnTo>
                  <a:pt x="129406" y="224873"/>
                </a:lnTo>
                <a:cubicBezTo>
                  <a:pt x="121967" y="232310"/>
                  <a:pt x="109908" y="232310"/>
                  <a:pt x="102469" y="224873"/>
                </a:cubicBezTo>
                <a:lnTo>
                  <a:pt x="7219" y="129623"/>
                </a:lnTo>
                <a:cubicBezTo>
                  <a:pt x="0" y="122149"/>
                  <a:pt x="103" y="110267"/>
                  <a:pt x="7451" y="102919"/>
                </a:cubicBezTo>
                <a:cubicBezTo>
                  <a:pt x="14800" y="95571"/>
                  <a:pt x="26681" y="95467"/>
                  <a:pt x="34156" y="102687"/>
                </a:cubicBezTo>
                <a:lnTo>
                  <a:pt x="115938" y="184468"/>
                </a:lnTo>
                <a:lnTo>
                  <a:pt x="292969" y="7437"/>
                </a:lnTo>
                <a:cubicBezTo>
                  <a:pt x="300408" y="0"/>
                  <a:pt x="312467" y="0"/>
                  <a:pt x="319906" y="7437"/>
                </a:cubicBezTo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688759" y="2291239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认证流程</a:t>
            </a:r>
          </a:p>
        </p:txBody>
      </p:sp>
      <p:sp>
        <p:nvSpPr>
          <p:cNvPr id="31" name="Freeform 31"/>
          <p:cNvSpPr/>
          <p:nvPr/>
        </p:nvSpPr>
        <p:spPr>
          <a:xfrm>
            <a:off x="4667250" y="2619375"/>
            <a:ext cx="2857500" cy="428625"/>
          </a:xfrm>
          <a:custGeom>
            <a:avLst/>
            <a:gdLst/>
            <a:ahLst/>
            <a:cxnLst/>
            <a:rect l="l" t="t" r="r" b="b"/>
            <a:pathLst>
              <a:path w="2857500" h="42862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52425"/>
                </a:lnTo>
                <a:cubicBezTo>
                  <a:pt x="2857500" y="394509"/>
                  <a:pt x="2823384" y="428625"/>
                  <a:pt x="278130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235535" y="2774156"/>
            <a:ext cx="17209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填写学院 / 学号 / 班级</a:t>
            </a:r>
          </a:p>
        </p:txBody>
      </p:sp>
      <p:sp>
        <p:nvSpPr>
          <p:cNvPr id="33" name="Freeform 33"/>
          <p:cNvSpPr/>
          <p:nvPr/>
        </p:nvSpPr>
        <p:spPr>
          <a:xfrm>
            <a:off x="4667250" y="3143250"/>
            <a:ext cx="2857500" cy="428625"/>
          </a:xfrm>
          <a:custGeom>
            <a:avLst/>
            <a:gdLst/>
            <a:ahLst/>
            <a:cxnLst/>
            <a:rect l="l" t="t" r="r" b="b"/>
            <a:pathLst>
              <a:path w="2857500" h="42862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52425"/>
                </a:lnTo>
                <a:cubicBezTo>
                  <a:pt x="2857500" y="394509"/>
                  <a:pt x="2823384" y="428625"/>
                  <a:pt x="278130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247858" y="3298031"/>
            <a:ext cx="16962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上传一卡通 / 教务截图</a:t>
            </a:r>
          </a:p>
        </p:txBody>
      </p:sp>
      <p:sp>
        <p:nvSpPr>
          <p:cNvPr id="35" name="Freeform 35"/>
          <p:cNvSpPr/>
          <p:nvPr/>
        </p:nvSpPr>
        <p:spPr>
          <a:xfrm>
            <a:off x="4667250" y="3667125"/>
            <a:ext cx="2857500" cy="428625"/>
          </a:xfrm>
          <a:custGeom>
            <a:avLst/>
            <a:gdLst/>
            <a:ahLst/>
            <a:cxnLst/>
            <a:rect l="l" t="t" r="r" b="b"/>
            <a:pathLst>
              <a:path w="2857500" h="42862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52425"/>
                </a:lnTo>
                <a:cubicBezTo>
                  <a:pt x="2857500" y="394509"/>
                  <a:pt x="2823384" y="428625"/>
                  <a:pt x="278130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588794" y="382190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后台人工审核</a:t>
            </a:r>
          </a:p>
        </p:txBody>
      </p:sp>
      <p:sp>
        <p:nvSpPr>
          <p:cNvPr id="37" name="Freeform 37"/>
          <p:cNvSpPr/>
          <p:nvPr/>
        </p:nvSpPr>
        <p:spPr>
          <a:xfrm>
            <a:off x="4667250" y="4333875"/>
            <a:ext cx="2857500" cy="571500"/>
          </a:xfrm>
          <a:custGeom>
            <a:avLst/>
            <a:gdLst/>
            <a:ahLst/>
            <a:cxnLst/>
            <a:rect l="l" t="t" r="r" b="b"/>
            <a:pathLst>
              <a:path w="2857500" h="57150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495300"/>
                </a:lnTo>
                <a:cubicBezTo>
                  <a:pt x="2857500" y="537384"/>
                  <a:pt x="2823384" y="571500"/>
                  <a:pt x="27813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392579" y="44586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认证历史全轨迹回溯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392579" y="46682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修改资料可重新提交</a:t>
            </a:r>
          </a:p>
        </p:txBody>
      </p:sp>
      <p:sp>
        <p:nvSpPr>
          <p:cNvPr id="40" name="Freeform 40"/>
          <p:cNvSpPr/>
          <p:nvPr/>
        </p:nvSpPr>
        <p:spPr>
          <a:xfrm>
            <a:off x="4667250" y="5095875"/>
            <a:ext cx="2857500" cy="381000"/>
          </a:xfrm>
          <a:custGeom>
            <a:avLst/>
            <a:gdLst/>
            <a:ahLst/>
            <a:cxnLst/>
            <a:rect l="l" t="t" r="r" b="b"/>
            <a:pathLst>
              <a:path w="2857500" h="38100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04800"/>
                </a:lnTo>
                <a:cubicBezTo>
                  <a:pt x="2857500" y="346884"/>
                  <a:pt x="2823384" y="381000"/>
                  <a:pt x="27813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360944" y="5247799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内容对比 + 多版本审核</a:t>
            </a:r>
          </a:p>
        </p:txBody>
      </p:sp>
      <p:sp>
        <p:nvSpPr>
          <p:cNvPr id="42" name="Freeform 42"/>
          <p:cNvSpPr/>
          <p:nvPr/>
        </p:nvSpPr>
        <p:spPr>
          <a:xfrm>
            <a:off x="8191500" y="952500"/>
            <a:ext cx="3429000" cy="5334000"/>
          </a:xfrm>
          <a:custGeom>
            <a:avLst/>
            <a:gdLst/>
            <a:ahLst/>
            <a:cxnLst/>
            <a:rect l="l" t="t" r="r" b="b"/>
            <a:pathLst>
              <a:path w="3429000" h="53340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5181600"/>
                </a:lnTo>
                <a:cubicBezTo>
                  <a:pt x="3429000" y="5265768"/>
                  <a:pt x="3360768" y="5334000"/>
                  <a:pt x="3276600" y="5334000"/>
                </a:cubicBezTo>
                <a:lnTo>
                  <a:pt x="152400" y="5334000"/>
                </a:lnTo>
                <a:cubicBezTo>
                  <a:pt x="68232" y="5334000"/>
                  <a:pt x="0" y="5265768"/>
                  <a:pt x="0" y="5181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43" name="Freeform 43"/>
          <p:cNvSpPr/>
          <p:nvPr/>
        </p:nvSpPr>
        <p:spPr>
          <a:xfrm>
            <a:off x="8191500" y="952500"/>
            <a:ext cx="3429000" cy="533400"/>
          </a:xfrm>
          <a:custGeom>
            <a:avLst/>
            <a:gdLst/>
            <a:ahLst/>
            <a:cxnLst/>
            <a:rect l="l" t="t" r="r" b="b"/>
            <a:pathLst>
              <a:path w="3429000" h="5334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381000"/>
                </a:lnTo>
                <a:cubicBezTo>
                  <a:pt x="3429000" y="465168"/>
                  <a:pt x="3360768" y="533400"/>
                  <a:pt x="3276600" y="533400"/>
                </a:cubicBezTo>
                <a:lnTo>
                  <a:pt x="152400" y="533400"/>
                </a:lnTo>
                <a:cubicBezTo>
                  <a:pt x="68232" y="533400"/>
                  <a:pt x="0" y="465168"/>
                  <a:pt x="0" y="3810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8191500" y="1333500"/>
            <a:ext cx="3429000" cy="15240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426892" y="11334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安全机制</a:t>
            </a:r>
          </a:p>
        </p:txBody>
      </p:sp>
      <p:sp>
        <p:nvSpPr>
          <p:cNvPr id="46" name="Freeform 46"/>
          <p:cNvSpPr/>
          <p:nvPr/>
        </p:nvSpPr>
        <p:spPr>
          <a:xfrm>
            <a:off x="9668774" y="1704975"/>
            <a:ext cx="398233" cy="381204"/>
          </a:xfrm>
          <a:custGeom>
            <a:avLst/>
            <a:gdLst/>
            <a:ahLst/>
            <a:cxnLst/>
            <a:rect l="l" t="t" r="r" b="b"/>
            <a:pathLst>
              <a:path w="398233" h="381204">
                <a:moveTo>
                  <a:pt x="199088" y="0"/>
                </a:moveTo>
                <a:lnTo>
                  <a:pt x="201336" y="133"/>
                </a:lnTo>
                <a:lnTo>
                  <a:pt x="202459" y="286"/>
                </a:lnTo>
                <a:lnTo>
                  <a:pt x="203622" y="533"/>
                </a:lnTo>
                <a:lnTo>
                  <a:pt x="205736" y="1181"/>
                </a:lnTo>
                <a:cubicBezTo>
                  <a:pt x="207197" y="1720"/>
                  <a:pt x="208585" y="2436"/>
                  <a:pt x="209870" y="3315"/>
                </a:cubicBezTo>
                <a:lnTo>
                  <a:pt x="211851" y="4877"/>
                </a:lnTo>
                <a:lnTo>
                  <a:pt x="216709" y="9030"/>
                </a:lnTo>
                <a:cubicBezTo>
                  <a:pt x="255139" y="40949"/>
                  <a:pt x="303708" y="58089"/>
                  <a:pt x="353659" y="57360"/>
                </a:cubicBezTo>
                <a:lnTo>
                  <a:pt x="360174" y="57169"/>
                </a:lnTo>
                <a:cubicBezTo>
                  <a:pt x="368940" y="56769"/>
                  <a:pt x="376845" y="62409"/>
                  <a:pt x="379320" y="70828"/>
                </a:cubicBezTo>
                <a:cubicBezTo>
                  <a:pt x="398233" y="135165"/>
                  <a:pt x="390247" y="204422"/>
                  <a:pt x="357186" y="262766"/>
                </a:cubicBezTo>
                <a:cubicBezTo>
                  <a:pt x="324126" y="321110"/>
                  <a:pt x="268818" y="363552"/>
                  <a:pt x="203907" y="380390"/>
                </a:cubicBezTo>
                <a:cubicBezTo>
                  <a:pt x="200771" y="381204"/>
                  <a:pt x="197480" y="381204"/>
                  <a:pt x="194344" y="380390"/>
                </a:cubicBezTo>
                <a:cubicBezTo>
                  <a:pt x="129430" y="363556"/>
                  <a:pt x="74117" y="321116"/>
                  <a:pt x="41053" y="262771"/>
                </a:cubicBezTo>
                <a:cubicBezTo>
                  <a:pt x="7989" y="204427"/>
                  <a:pt x="0" y="135168"/>
                  <a:pt x="18913" y="70828"/>
                </a:cubicBezTo>
                <a:cubicBezTo>
                  <a:pt x="21387" y="62409"/>
                  <a:pt x="29292" y="56769"/>
                  <a:pt x="38058" y="57169"/>
                </a:cubicBezTo>
                <a:cubicBezTo>
                  <a:pt x="90207" y="59553"/>
                  <a:pt x="141367" y="42386"/>
                  <a:pt x="181524" y="9030"/>
                </a:cubicBezTo>
                <a:lnTo>
                  <a:pt x="186534" y="4743"/>
                </a:lnTo>
                <a:lnTo>
                  <a:pt x="188362" y="3315"/>
                </a:lnTo>
                <a:cubicBezTo>
                  <a:pt x="189647" y="2436"/>
                  <a:pt x="191036" y="1720"/>
                  <a:pt x="192496" y="1181"/>
                </a:cubicBezTo>
                <a:lnTo>
                  <a:pt x="194630" y="533"/>
                </a:lnTo>
                <a:cubicBezTo>
                  <a:pt x="195377" y="353"/>
                  <a:pt x="196134" y="219"/>
                  <a:pt x="196897" y="133"/>
                </a:cubicBezTo>
                <a:lnTo>
                  <a:pt x="199088" y="0"/>
                </a:lnTo>
                <a:close/>
                <a:moveTo>
                  <a:pt x="199126" y="133350"/>
                </a:moveTo>
                <a:cubicBezTo>
                  <a:pt x="179188" y="133344"/>
                  <a:pt x="162616" y="148710"/>
                  <a:pt x="161121" y="168592"/>
                </a:cubicBezTo>
                <a:lnTo>
                  <a:pt x="161026" y="171450"/>
                </a:lnTo>
                <a:lnTo>
                  <a:pt x="161121" y="174308"/>
                </a:lnTo>
                <a:cubicBezTo>
                  <a:pt x="162075" y="186862"/>
                  <a:pt x="169169" y="198135"/>
                  <a:pt x="180076" y="204426"/>
                </a:cubicBezTo>
                <a:lnTo>
                  <a:pt x="180076" y="238125"/>
                </a:lnTo>
                <a:lnTo>
                  <a:pt x="180209" y="240354"/>
                </a:lnTo>
                <a:cubicBezTo>
                  <a:pt x="181400" y="250363"/>
                  <a:pt x="190180" y="257712"/>
                  <a:pt x="200242" y="257121"/>
                </a:cubicBezTo>
                <a:cubicBezTo>
                  <a:pt x="210304" y="256530"/>
                  <a:pt x="218165" y="248204"/>
                  <a:pt x="218176" y="238125"/>
                </a:cubicBezTo>
                <a:lnTo>
                  <a:pt x="218195" y="204445"/>
                </a:lnTo>
                <a:cubicBezTo>
                  <a:pt x="233131" y="195820"/>
                  <a:pt x="240411" y="178238"/>
                  <a:pt x="235942" y="161580"/>
                </a:cubicBezTo>
                <a:cubicBezTo>
                  <a:pt x="231474" y="144921"/>
                  <a:pt x="216373" y="133342"/>
                  <a:pt x="199126" y="13335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303234" y="2291239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多重安全防护</a:t>
            </a:r>
          </a:p>
        </p:txBody>
      </p:sp>
      <p:sp>
        <p:nvSpPr>
          <p:cNvPr id="48" name="Freeform 48"/>
          <p:cNvSpPr/>
          <p:nvPr/>
        </p:nvSpPr>
        <p:spPr>
          <a:xfrm>
            <a:off x="8477250" y="2619375"/>
            <a:ext cx="2857500" cy="428625"/>
          </a:xfrm>
          <a:custGeom>
            <a:avLst/>
            <a:gdLst/>
            <a:ahLst/>
            <a:cxnLst/>
            <a:rect l="l" t="t" r="r" b="b"/>
            <a:pathLst>
              <a:path w="2857500" h="42862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52425"/>
                </a:lnTo>
                <a:cubicBezTo>
                  <a:pt x="2857500" y="394509"/>
                  <a:pt x="2823384" y="428625"/>
                  <a:pt x="278130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267349" y="2774156"/>
            <a:ext cx="12773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BCrypt 密码加密</a:t>
            </a:r>
          </a:p>
        </p:txBody>
      </p:sp>
      <p:sp>
        <p:nvSpPr>
          <p:cNvPr id="50" name="Freeform 50"/>
          <p:cNvSpPr/>
          <p:nvPr/>
        </p:nvSpPr>
        <p:spPr>
          <a:xfrm>
            <a:off x="8477250" y="3143250"/>
            <a:ext cx="2857500" cy="428625"/>
          </a:xfrm>
          <a:custGeom>
            <a:avLst/>
            <a:gdLst/>
            <a:ahLst/>
            <a:cxnLst/>
            <a:rect l="l" t="t" r="r" b="b"/>
            <a:pathLst>
              <a:path w="2857500" h="42862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52425"/>
                </a:lnTo>
                <a:cubicBezTo>
                  <a:pt x="2857500" y="394509"/>
                  <a:pt x="2823384" y="428625"/>
                  <a:pt x="278130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9168765" y="3298031"/>
            <a:ext cx="14744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Redis 登录失败锁定</a:t>
            </a:r>
          </a:p>
        </p:txBody>
      </p:sp>
      <p:sp>
        <p:nvSpPr>
          <p:cNvPr id="52" name="Freeform 52"/>
          <p:cNvSpPr/>
          <p:nvPr/>
        </p:nvSpPr>
        <p:spPr>
          <a:xfrm>
            <a:off x="8477250" y="3667125"/>
            <a:ext cx="2857500" cy="428625"/>
          </a:xfrm>
          <a:custGeom>
            <a:avLst/>
            <a:gdLst/>
            <a:ahLst/>
            <a:cxnLst/>
            <a:rect l="l" t="t" r="r" b="b"/>
            <a:pathLst>
              <a:path w="2857500" h="42862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52425"/>
                </a:lnTo>
                <a:cubicBezTo>
                  <a:pt x="2857500" y="394509"/>
                  <a:pt x="2823384" y="428625"/>
                  <a:pt x="278130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979813" y="3821906"/>
            <a:ext cx="18523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手机号脱敏 138****8888</a:t>
            </a:r>
          </a:p>
        </p:txBody>
      </p:sp>
      <p:sp>
        <p:nvSpPr>
          <p:cNvPr id="54" name="Freeform 54"/>
          <p:cNvSpPr/>
          <p:nvPr/>
        </p:nvSpPr>
        <p:spPr>
          <a:xfrm>
            <a:off x="8477250" y="4333875"/>
            <a:ext cx="2857500" cy="381000"/>
          </a:xfrm>
          <a:custGeom>
            <a:avLst/>
            <a:gdLst/>
            <a:ahLst/>
            <a:cxnLst/>
            <a:rect l="l" t="t" r="r" b="b"/>
            <a:pathLst>
              <a:path w="2857500" h="38100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04800"/>
                </a:lnTo>
                <a:cubicBezTo>
                  <a:pt x="2857500" y="346884"/>
                  <a:pt x="2823384" y="381000"/>
                  <a:pt x="27813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853702" y="4477702"/>
            <a:ext cx="21045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SQL 注入防护 — 全部 #{} 绑定</a:t>
            </a:r>
          </a:p>
        </p:txBody>
      </p:sp>
      <p:sp>
        <p:nvSpPr>
          <p:cNvPr id="56" name="Freeform 56"/>
          <p:cNvSpPr/>
          <p:nvPr/>
        </p:nvSpPr>
        <p:spPr>
          <a:xfrm>
            <a:off x="8477250" y="4810125"/>
            <a:ext cx="2857500" cy="381000"/>
          </a:xfrm>
          <a:custGeom>
            <a:avLst/>
            <a:gdLst/>
            <a:ahLst/>
            <a:cxnLst/>
            <a:rect l="l" t="t" r="r" b="b"/>
            <a:pathLst>
              <a:path w="2857500" h="38100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04800"/>
                </a:lnTo>
                <a:cubicBezTo>
                  <a:pt x="2857500" y="346884"/>
                  <a:pt x="2823384" y="381000"/>
                  <a:pt x="27813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64882" y="4953952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XSS 防护 — 前后端双重校验</a:t>
            </a:r>
          </a:p>
        </p:txBody>
      </p:sp>
      <p:sp>
        <p:nvSpPr>
          <p:cNvPr id="58" name="Freeform 58"/>
          <p:cNvSpPr/>
          <p:nvPr/>
        </p:nvSpPr>
        <p:spPr>
          <a:xfrm>
            <a:off x="8477250" y="5286375"/>
            <a:ext cx="2857500" cy="381000"/>
          </a:xfrm>
          <a:custGeom>
            <a:avLst/>
            <a:gdLst/>
            <a:ahLst/>
            <a:cxnLst/>
            <a:rect l="l" t="t" r="r" b="b"/>
            <a:pathLst>
              <a:path w="2857500" h="38100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04800"/>
                </a:lnTo>
                <a:cubicBezTo>
                  <a:pt x="2857500" y="346884"/>
                  <a:pt x="2823384" y="381000"/>
                  <a:pt x="27813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8926544" y="5430202"/>
            <a:ext cx="19589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越权防护 — 用户 ID 隔离校验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3920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04 / 10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571500" y="381000"/>
            <a:ext cx="57150" cy="304800"/>
          </a:xfrm>
          <a:custGeom>
            <a:avLst/>
            <a:gdLst/>
            <a:ahLst/>
            <a:cxnLst/>
            <a:rect l="l" t="t" r="r" b="b"/>
            <a:pathLst>
              <a:path w="57150" h="3048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76225"/>
                </a:lnTo>
                <a:cubicBezTo>
                  <a:pt x="57150" y="292007"/>
                  <a:pt x="44357" y="304800"/>
                  <a:pt x="28575" y="304800"/>
                </a:cubicBezTo>
                <a:lnTo>
                  <a:pt x="28575" y="304800"/>
                </a:lnTo>
                <a:cubicBezTo>
                  <a:pt x="12793" y="304800"/>
                  <a:pt x="0" y="292007"/>
                  <a:pt x="0" y="2762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69570"/>
            <a:ext cx="1533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交易闭环</a:t>
            </a:r>
          </a:p>
        </p:txBody>
      </p:sp>
      <p:sp>
        <p:nvSpPr>
          <p:cNvPr id="6" name="Line 6"/>
          <p:cNvSpPr/>
          <p:nvPr/>
        </p:nvSpPr>
        <p:spPr>
          <a:xfrm>
            <a:off x="2047875" y="2190750"/>
            <a:ext cx="809625" cy="1"/>
          </a:xfrm>
          <a:prstGeom prst="line">
            <a:avLst/>
          </a:prstGeom>
          <a:noFill/>
          <a:ln w="23812">
            <a:solidFill>
              <a:srgbClr val="CBD5E1"/>
            </a:solidFill>
            <a:tailEnd type="triangle" w="lg" len="lg"/>
          </a:ln>
        </p:spPr>
      </p:sp>
      <p:sp>
        <p:nvSpPr>
          <p:cNvPr id="7" name="Line 7"/>
          <p:cNvSpPr/>
          <p:nvPr/>
        </p:nvSpPr>
        <p:spPr>
          <a:xfrm>
            <a:off x="4429125" y="2190750"/>
            <a:ext cx="809625" cy="1"/>
          </a:xfrm>
          <a:prstGeom prst="line">
            <a:avLst/>
          </a:prstGeom>
          <a:noFill/>
          <a:ln w="23812">
            <a:solidFill>
              <a:srgbClr val="CBD5E1"/>
            </a:solidFill>
            <a:tailEnd type="triangle" w="lg" len="lg"/>
          </a:ln>
        </p:spPr>
      </p:sp>
      <p:sp>
        <p:nvSpPr>
          <p:cNvPr id="8" name="Line 8"/>
          <p:cNvSpPr/>
          <p:nvPr/>
        </p:nvSpPr>
        <p:spPr>
          <a:xfrm>
            <a:off x="6810375" y="2190750"/>
            <a:ext cx="809625" cy="1"/>
          </a:xfrm>
          <a:prstGeom prst="line">
            <a:avLst/>
          </a:prstGeom>
          <a:noFill/>
          <a:ln w="23812">
            <a:solidFill>
              <a:srgbClr val="CBD5E1"/>
            </a:solidFill>
            <a:tailEnd type="triangle" w="lg" len="lg"/>
          </a:ln>
        </p:spPr>
      </p:sp>
      <p:sp>
        <p:nvSpPr>
          <p:cNvPr id="9" name="Line 9"/>
          <p:cNvSpPr/>
          <p:nvPr/>
        </p:nvSpPr>
        <p:spPr>
          <a:xfrm>
            <a:off x="9191625" y="2190750"/>
            <a:ext cx="809625" cy="1"/>
          </a:xfrm>
          <a:prstGeom prst="line">
            <a:avLst/>
          </a:prstGeom>
          <a:noFill/>
          <a:ln w="23812">
            <a:solidFill>
              <a:srgbClr val="CBD5E1"/>
            </a:solidFill>
            <a:tailEnd type="triangle" w="lg" len="lg"/>
          </a:ln>
        </p:spPr>
      </p:sp>
      <p:grpSp>
        <p:nvGrpSpPr>
          <p:cNvPr id="14" name="Group 14"/>
          <p:cNvGrpSpPr/>
          <p:nvPr/>
        </p:nvGrpSpPr>
        <p:grpSpPr>
          <a:xfrm>
            <a:off x="1209675" y="1828800"/>
            <a:ext cx="723900" cy="723900"/>
            <a:chOff x="1209675" y="1828800"/>
            <a:chExt cx="723900" cy="72390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0" name="Ellipse 10"/>
            <p:cNvSpPr/>
            <p:nvPr/>
          </p:nvSpPr>
          <p:spPr>
            <a:xfrm>
              <a:off x="1209675" y="1828800"/>
              <a:ext cx="723900" cy="7239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1" name="Ellipse 11"/>
            <p:cNvSpPr/>
            <p:nvPr/>
          </p:nvSpPr>
          <p:spPr>
            <a:xfrm>
              <a:off x="1266825" y="1885950"/>
              <a:ext cx="609600" cy="609600"/>
            </a:xfrm>
            <a:prstGeom prst="ellipse">
              <a:avLst/>
            </a:prstGeom>
            <a:noFill/>
            <a:ln w="19050">
              <a:solidFill>
                <a:srgbClr val="FFFFFF">
                  <a:alpha val="40000"/>
                </a:srgbClr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1443132" y="1974532"/>
              <a:ext cx="256987" cy="3352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49188" y="2270284"/>
              <a:ext cx="244873" cy="1371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b="1" dirty="0">
                  <a:solidFill>
                    <a:srgbClr val="FFFFFF">
                      <a:alpha val="80000"/>
                    </a:srgbClr>
                  </a:solidFill>
                  <a:latin typeface="Arial"/>
                  <a:ea typeface="Microsoft YaHei"/>
                  <a:cs typeface="Arial"/>
                </a:rPr>
                <a:t>STEP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1571625" y="2552700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9050">
            <a:solidFill>
              <a:srgbClr val="1565C0">
                <a:alpha val="50000"/>
              </a:srgbClr>
            </a:solidFill>
            <a:prstDash val="dash"/>
          </a:ln>
        </p:spPr>
      </p:sp>
      <p:grpSp>
        <p:nvGrpSpPr>
          <p:cNvPr id="25" name="Group 25"/>
          <p:cNvGrpSpPr/>
          <p:nvPr/>
        </p:nvGrpSpPr>
        <p:grpSpPr>
          <a:xfrm>
            <a:off x="571500" y="2905125"/>
            <a:ext cx="2000250" cy="3333750"/>
            <a:chOff x="571500" y="2905125"/>
            <a:chExt cx="2000250" cy="3333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6" name="Freeform 16"/>
            <p:cNvSpPr/>
            <p:nvPr/>
          </p:nvSpPr>
          <p:spPr>
            <a:xfrm>
              <a:off x="571500" y="2905125"/>
              <a:ext cx="2000250" cy="3333750"/>
            </a:xfrm>
            <a:custGeom>
              <a:avLst/>
              <a:gdLst/>
              <a:ahLst/>
              <a:cxnLst/>
              <a:rect l="l" t="t" r="r" b="b"/>
              <a:pathLst>
                <a:path w="2000250" h="3333750">
                  <a:moveTo>
                    <a:pt x="95250" y="0"/>
                  </a:moveTo>
                  <a:lnTo>
                    <a:pt x="1905000" y="0"/>
                  </a:lnTo>
                  <a:cubicBezTo>
                    <a:pt x="1957605" y="0"/>
                    <a:pt x="2000250" y="42645"/>
                    <a:pt x="2000250" y="95250"/>
                  </a:cubicBezTo>
                  <a:lnTo>
                    <a:pt x="2000250" y="3238500"/>
                  </a:lnTo>
                  <a:cubicBezTo>
                    <a:pt x="2000250" y="3291105"/>
                    <a:pt x="1957605" y="3333750"/>
                    <a:pt x="1905000" y="3333750"/>
                  </a:cubicBezTo>
                  <a:lnTo>
                    <a:pt x="95250" y="3333750"/>
                  </a:lnTo>
                  <a:cubicBezTo>
                    <a:pt x="42645" y="3333750"/>
                    <a:pt x="0" y="3291105"/>
                    <a:pt x="0" y="3238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7" name="Rectangle 17"/>
            <p:cNvSpPr/>
            <p:nvPr/>
          </p:nvSpPr>
          <p:spPr>
            <a:xfrm>
              <a:off x="571500" y="3143250"/>
              <a:ext cx="38100" cy="3429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26758" y="3215164"/>
              <a:ext cx="814483" cy="2590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商品发布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252538" y="3648075"/>
              <a:ext cx="257378" cy="288870"/>
            </a:xfrm>
            <a:custGeom>
              <a:avLst/>
              <a:gdLst/>
              <a:ahLst/>
              <a:cxnLst/>
              <a:rect l="l" t="t" r="r" b="b"/>
              <a:pathLst>
                <a:path w="257378" h="288870">
                  <a:moveTo>
                    <a:pt x="42862" y="0"/>
                  </a:moveTo>
                  <a:cubicBezTo>
                    <a:pt x="50106" y="1"/>
                    <a:pt x="56203" y="5422"/>
                    <a:pt x="57050" y="12616"/>
                  </a:cubicBezTo>
                  <a:lnTo>
                    <a:pt x="57150" y="14288"/>
                  </a:lnTo>
                  <a:lnTo>
                    <a:pt x="57150" y="29547"/>
                  </a:lnTo>
                  <a:lnTo>
                    <a:pt x="243902" y="42905"/>
                  </a:lnTo>
                  <a:cubicBezTo>
                    <a:pt x="251528" y="43445"/>
                    <a:pt x="257378" y="49893"/>
                    <a:pt x="257175" y="57536"/>
                  </a:cubicBezTo>
                  <a:lnTo>
                    <a:pt x="257032" y="59165"/>
                  </a:lnTo>
                  <a:lnTo>
                    <a:pt x="242745" y="159177"/>
                  </a:lnTo>
                  <a:cubicBezTo>
                    <a:pt x="241830" y="165619"/>
                    <a:pt x="236679" y="170629"/>
                    <a:pt x="230214" y="171364"/>
                  </a:cubicBezTo>
                  <a:lnTo>
                    <a:pt x="228600" y="171450"/>
                  </a:lnTo>
                  <a:lnTo>
                    <a:pt x="57150" y="171450"/>
                  </a:lnTo>
                  <a:lnTo>
                    <a:pt x="57150" y="200025"/>
                  </a:lnTo>
                  <a:lnTo>
                    <a:pt x="200025" y="200025"/>
                  </a:lnTo>
                  <a:cubicBezTo>
                    <a:pt x="223370" y="200026"/>
                    <a:pt x="242421" y="218710"/>
                    <a:pt x="242877" y="242050"/>
                  </a:cubicBezTo>
                  <a:cubicBezTo>
                    <a:pt x="243333" y="265391"/>
                    <a:pt x="225026" y="284804"/>
                    <a:pt x="201699" y="285717"/>
                  </a:cubicBezTo>
                  <a:cubicBezTo>
                    <a:pt x="178371" y="286630"/>
                    <a:pt x="158604" y="268707"/>
                    <a:pt x="157234" y="245402"/>
                  </a:cubicBezTo>
                  <a:lnTo>
                    <a:pt x="157162" y="242888"/>
                  </a:lnTo>
                  <a:lnTo>
                    <a:pt x="157234" y="240373"/>
                  </a:lnTo>
                  <a:cubicBezTo>
                    <a:pt x="157477" y="236258"/>
                    <a:pt x="158291" y="232315"/>
                    <a:pt x="159606" y="228600"/>
                  </a:cubicBezTo>
                  <a:lnTo>
                    <a:pt x="83282" y="228600"/>
                  </a:lnTo>
                  <a:cubicBezTo>
                    <a:pt x="88851" y="244396"/>
                    <a:pt x="84709" y="261988"/>
                    <a:pt x="72678" y="273641"/>
                  </a:cubicBezTo>
                  <a:cubicBezTo>
                    <a:pt x="60647" y="285293"/>
                    <a:pt x="42931" y="288870"/>
                    <a:pt x="27321" y="282799"/>
                  </a:cubicBezTo>
                  <a:cubicBezTo>
                    <a:pt x="11712" y="276728"/>
                    <a:pt x="1068" y="262121"/>
                    <a:pt x="71" y="245402"/>
                  </a:cubicBezTo>
                  <a:lnTo>
                    <a:pt x="0" y="242888"/>
                  </a:lnTo>
                  <a:lnTo>
                    <a:pt x="71" y="240373"/>
                  </a:lnTo>
                  <a:cubicBezTo>
                    <a:pt x="1082" y="223151"/>
                    <a:pt x="12313" y="208211"/>
                    <a:pt x="28575" y="202454"/>
                  </a:cubicBezTo>
                  <a:lnTo>
                    <a:pt x="28575" y="28575"/>
                  </a:lnTo>
                  <a:lnTo>
                    <a:pt x="14288" y="28575"/>
                  </a:lnTo>
                  <a:cubicBezTo>
                    <a:pt x="7044" y="28574"/>
                    <a:pt x="947" y="23153"/>
                    <a:pt x="100" y="15959"/>
                  </a:cubicBezTo>
                  <a:lnTo>
                    <a:pt x="0" y="14288"/>
                  </a:lnTo>
                  <a:cubicBezTo>
                    <a:pt x="1" y="7044"/>
                    <a:pt x="5422" y="947"/>
                    <a:pt x="12616" y="100"/>
                  </a:cubicBezTo>
                  <a:lnTo>
                    <a:pt x="14288" y="0"/>
                  </a:lnTo>
                  <a:lnTo>
                    <a:pt x="42862" y="0"/>
                  </a:lnTo>
                  <a:close/>
                  <a:moveTo>
                    <a:pt x="42862" y="228600"/>
                  </a:moveTo>
                  <a:cubicBezTo>
                    <a:pt x="34972" y="228600"/>
                    <a:pt x="28575" y="234997"/>
                    <a:pt x="28575" y="242888"/>
                  </a:cubicBezTo>
                  <a:cubicBezTo>
                    <a:pt x="28575" y="250778"/>
                    <a:pt x="34972" y="257175"/>
                    <a:pt x="42862" y="257175"/>
                  </a:cubicBezTo>
                  <a:cubicBezTo>
                    <a:pt x="50753" y="257175"/>
                    <a:pt x="57150" y="250778"/>
                    <a:pt x="57150" y="242888"/>
                  </a:cubicBezTo>
                  <a:cubicBezTo>
                    <a:pt x="57150" y="234997"/>
                    <a:pt x="50753" y="228600"/>
                    <a:pt x="42862" y="228600"/>
                  </a:cubicBezTo>
                  <a:moveTo>
                    <a:pt x="200025" y="228600"/>
                  </a:moveTo>
                  <a:cubicBezTo>
                    <a:pt x="192134" y="228600"/>
                    <a:pt x="185738" y="234997"/>
                    <a:pt x="185738" y="242888"/>
                  </a:cubicBezTo>
                  <a:cubicBezTo>
                    <a:pt x="185738" y="250778"/>
                    <a:pt x="192134" y="257175"/>
                    <a:pt x="200025" y="257175"/>
                  </a:cubicBezTo>
                  <a:cubicBezTo>
                    <a:pt x="207916" y="257175"/>
                    <a:pt x="214312" y="250778"/>
                    <a:pt x="214312" y="242888"/>
                  </a:cubicBezTo>
                  <a:cubicBezTo>
                    <a:pt x="214312" y="234997"/>
                    <a:pt x="207916" y="228600"/>
                    <a:pt x="200025" y="228600"/>
                  </a:cubicBezTo>
                </a:path>
              </a:pathLst>
            </a:custGeom>
            <a:solidFill>
              <a:srgbClr val="1565C0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729615" y="4125278"/>
              <a:ext cx="1583198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图片上传（最多 9 张）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9615" y="4363402"/>
              <a:ext cx="94678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商品信息填写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9615" y="4601528"/>
              <a:ext cx="64008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审核上架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42950" y="4953000"/>
              <a:ext cx="1666875" cy="285750"/>
            </a:xfrm>
            <a:custGeom>
              <a:avLst/>
              <a:gdLst/>
              <a:ahLst/>
              <a:cxnLst/>
              <a:rect l="l" t="t" r="r" b="b"/>
              <a:pathLst>
                <a:path w="1666875" h="285750">
                  <a:moveTo>
                    <a:pt x="57150" y="0"/>
                  </a:moveTo>
                  <a:lnTo>
                    <a:pt x="1609725" y="0"/>
                  </a:lnTo>
                  <a:cubicBezTo>
                    <a:pt x="1641288" y="0"/>
                    <a:pt x="1666875" y="25587"/>
                    <a:pt x="1666875" y="57150"/>
                  </a:cubicBezTo>
                  <a:lnTo>
                    <a:pt x="1666875" y="228600"/>
                  </a:lnTo>
                  <a:cubicBezTo>
                    <a:pt x="1666875" y="260163"/>
                    <a:pt x="1641288" y="285750"/>
                    <a:pt x="1609725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958834" y="5055870"/>
              <a:ext cx="1225582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审核队列 → 通知上架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590925" y="1828800"/>
            <a:ext cx="723900" cy="723900"/>
            <a:chOff x="3590925" y="1828800"/>
            <a:chExt cx="723900" cy="72390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6" name="Ellipse 26"/>
            <p:cNvSpPr/>
            <p:nvPr/>
          </p:nvSpPr>
          <p:spPr>
            <a:xfrm>
              <a:off x="3590925" y="1828800"/>
              <a:ext cx="723900" cy="723900"/>
            </a:xfrm>
            <a:prstGeom prst="ellipse">
              <a:avLst/>
            </a:prstGeom>
            <a:solidFill>
              <a:srgbClr val="0D47A1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7" name="Ellipse 27"/>
            <p:cNvSpPr/>
            <p:nvPr/>
          </p:nvSpPr>
          <p:spPr>
            <a:xfrm>
              <a:off x="3648075" y="1885950"/>
              <a:ext cx="609600" cy="609600"/>
            </a:xfrm>
            <a:prstGeom prst="ellipse">
              <a:avLst/>
            </a:prstGeom>
            <a:noFill/>
            <a:ln w="19050">
              <a:solidFill>
                <a:srgbClr val="FFFFFF">
                  <a:alpha val="40000"/>
                </a:srgbClr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3792753" y="1974532"/>
              <a:ext cx="320245" cy="3352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30438" y="2270284"/>
              <a:ext cx="244873" cy="1371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b="1" dirty="0">
                  <a:solidFill>
                    <a:srgbClr val="FFFFFF">
                      <a:alpha val="80000"/>
                    </a:srgbClr>
                  </a:solidFill>
                  <a:latin typeface="Arial"/>
                  <a:ea typeface="Microsoft YaHei"/>
                  <a:cs typeface="Arial"/>
                </a:rPr>
                <a:t>STEP</a:t>
              </a:r>
            </a:p>
          </p:txBody>
        </p:sp>
      </p:grpSp>
      <p:sp>
        <p:nvSpPr>
          <p:cNvPr id="31" name="Line 31"/>
          <p:cNvSpPr/>
          <p:nvPr/>
        </p:nvSpPr>
        <p:spPr>
          <a:xfrm>
            <a:off x="3952875" y="2552700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9050">
            <a:solidFill>
              <a:srgbClr val="0D47A1">
                <a:alpha val="50000"/>
              </a:srgbClr>
            </a:solidFill>
            <a:prstDash val="dash"/>
          </a:ln>
        </p:spPr>
      </p:sp>
      <p:grpSp>
        <p:nvGrpSpPr>
          <p:cNvPr id="43" name="Group 43"/>
          <p:cNvGrpSpPr/>
          <p:nvPr/>
        </p:nvGrpSpPr>
        <p:grpSpPr>
          <a:xfrm>
            <a:off x="2952750" y="2905125"/>
            <a:ext cx="2000250" cy="3333750"/>
            <a:chOff x="2952750" y="2905125"/>
            <a:chExt cx="2000250" cy="3333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32" name="Freeform 32"/>
            <p:cNvSpPr/>
            <p:nvPr/>
          </p:nvSpPr>
          <p:spPr>
            <a:xfrm>
              <a:off x="2952750" y="2905125"/>
              <a:ext cx="2000250" cy="3333750"/>
            </a:xfrm>
            <a:custGeom>
              <a:avLst/>
              <a:gdLst/>
              <a:ahLst/>
              <a:cxnLst/>
              <a:rect l="l" t="t" r="r" b="b"/>
              <a:pathLst>
                <a:path w="2000250" h="3333750">
                  <a:moveTo>
                    <a:pt x="95250" y="0"/>
                  </a:moveTo>
                  <a:lnTo>
                    <a:pt x="1905000" y="0"/>
                  </a:lnTo>
                  <a:cubicBezTo>
                    <a:pt x="1957605" y="0"/>
                    <a:pt x="2000250" y="42645"/>
                    <a:pt x="2000250" y="95250"/>
                  </a:cubicBezTo>
                  <a:lnTo>
                    <a:pt x="2000250" y="3238500"/>
                  </a:lnTo>
                  <a:cubicBezTo>
                    <a:pt x="2000250" y="3291105"/>
                    <a:pt x="1957605" y="3333750"/>
                    <a:pt x="1905000" y="3333750"/>
                  </a:cubicBezTo>
                  <a:lnTo>
                    <a:pt x="95250" y="3333750"/>
                  </a:lnTo>
                  <a:cubicBezTo>
                    <a:pt x="42645" y="3333750"/>
                    <a:pt x="0" y="3291105"/>
                    <a:pt x="0" y="3238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3" name="Rectangle 33"/>
            <p:cNvSpPr/>
            <p:nvPr/>
          </p:nvSpPr>
          <p:spPr>
            <a:xfrm>
              <a:off x="2952750" y="3143250"/>
              <a:ext cx="38100" cy="342900"/>
            </a:xfrm>
            <a:prstGeom prst="rect">
              <a:avLst/>
            </a:prstGeom>
            <a:solidFill>
              <a:srgbClr val="0D47A1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4" name="TextBox 34"/>
            <p:cNvSpPr txBox="1"/>
            <p:nvPr/>
          </p:nvSpPr>
          <p:spPr>
            <a:xfrm>
              <a:off x="3108008" y="3215164"/>
              <a:ext cx="687392" cy="2590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IM 沟通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3619500" y="3648075"/>
              <a:ext cx="285751" cy="290565"/>
              <a:chOff x="3619500" y="3648075"/>
              <a:chExt cx="285751" cy="29056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3719512" y="3648075"/>
                <a:ext cx="185739" cy="185760"/>
              </a:xfrm>
              <a:custGeom>
                <a:avLst/>
                <a:gdLst/>
                <a:ahLst/>
                <a:cxnLst/>
                <a:rect l="l" t="t" r="r" b="b"/>
                <a:pathLst>
                  <a:path w="185739" h="185760">
                    <a:moveTo>
                      <a:pt x="170036" y="185666"/>
                    </a:moveTo>
                    <a:lnTo>
                      <a:pt x="169407" y="185580"/>
                    </a:lnTo>
                    <a:cubicBezTo>
                      <a:pt x="168911" y="185549"/>
                      <a:pt x="168421" y="185453"/>
                      <a:pt x="167950" y="185295"/>
                    </a:cubicBezTo>
                    <a:lnTo>
                      <a:pt x="167307" y="185123"/>
                    </a:lnTo>
                    <a:lnTo>
                      <a:pt x="166621" y="184880"/>
                    </a:lnTo>
                    <a:lnTo>
                      <a:pt x="165978" y="184652"/>
                    </a:lnTo>
                    <a:lnTo>
                      <a:pt x="165364" y="184366"/>
                    </a:lnTo>
                    <a:lnTo>
                      <a:pt x="164721" y="184052"/>
                    </a:lnTo>
                    <a:lnTo>
                      <a:pt x="164149" y="183709"/>
                    </a:lnTo>
                    <a:lnTo>
                      <a:pt x="163520" y="183337"/>
                    </a:lnTo>
                    <a:lnTo>
                      <a:pt x="162906" y="182880"/>
                    </a:lnTo>
                    <a:lnTo>
                      <a:pt x="162392" y="182494"/>
                    </a:lnTo>
                    <a:cubicBezTo>
                      <a:pt x="162029" y="182197"/>
                      <a:pt x="161681" y="181883"/>
                      <a:pt x="161349" y="181551"/>
                    </a:cubicBezTo>
                    <a:lnTo>
                      <a:pt x="122672" y="142875"/>
                    </a:lnTo>
                    <a:lnTo>
                      <a:pt x="28575" y="142875"/>
                    </a:lnTo>
                    <a:cubicBezTo>
                      <a:pt x="12793" y="142875"/>
                      <a:pt x="0" y="130082"/>
                      <a:pt x="0" y="1143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57162" y="0"/>
                    </a:lnTo>
                    <a:cubicBezTo>
                      <a:pt x="172944" y="0"/>
                      <a:pt x="185738" y="12793"/>
                      <a:pt x="185738" y="28575"/>
                    </a:cubicBezTo>
                    <a:lnTo>
                      <a:pt x="185738" y="171450"/>
                    </a:lnTo>
                    <a:cubicBezTo>
                      <a:pt x="185739" y="173328"/>
                      <a:pt x="185370" y="175187"/>
                      <a:pt x="184652" y="176922"/>
                    </a:cubicBezTo>
                    <a:lnTo>
                      <a:pt x="184366" y="177536"/>
                    </a:lnTo>
                    <a:lnTo>
                      <a:pt x="184052" y="178179"/>
                    </a:lnTo>
                    <a:lnTo>
                      <a:pt x="183709" y="178751"/>
                    </a:lnTo>
                    <a:lnTo>
                      <a:pt x="183337" y="179380"/>
                    </a:lnTo>
                    <a:lnTo>
                      <a:pt x="182880" y="179994"/>
                    </a:lnTo>
                    <a:lnTo>
                      <a:pt x="182494" y="180508"/>
                    </a:lnTo>
                    <a:cubicBezTo>
                      <a:pt x="180398" y="183067"/>
                      <a:pt x="177480" y="184819"/>
                      <a:pt x="174236" y="185466"/>
                    </a:cubicBezTo>
                    <a:lnTo>
                      <a:pt x="173493" y="185580"/>
                    </a:lnTo>
                    <a:lnTo>
                      <a:pt x="172864" y="185666"/>
                    </a:lnTo>
                    <a:cubicBezTo>
                      <a:pt x="171924" y="185760"/>
                      <a:pt x="170976" y="185760"/>
                      <a:pt x="170036" y="185666"/>
                    </a:cubicBezTo>
                  </a:path>
                </a:pathLst>
              </a:custGeom>
              <a:solidFill>
                <a:srgbClr val="0D47A1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619500" y="3748073"/>
                <a:ext cx="185738" cy="190567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90567">
                    <a:moveTo>
                      <a:pt x="71438" y="0"/>
                    </a:moveTo>
                    <a:lnTo>
                      <a:pt x="71438" y="14302"/>
                    </a:lnTo>
                    <a:cubicBezTo>
                      <a:pt x="71438" y="45865"/>
                      <a:pt x="97024" y="71452"/>
                      <a:pt x="128588" y="71452"/>
                    </a:cubicBezTo>
                    <a:lnTo>
                      <a:pt x="185738" y="71452"/>
                    </a:lnTo>
                    <a:lnTo>
                      <a:pt x="185738" y="114314"/>
                    </a:lnTo>
                    <a:cubicBezTo>
                      <a:pt x="185738" y="130096"/>
                      <a:pt x="172944" y="142889"/>
                      <a:pt x="157162" y="142889"/>
                    </a:cubicBezTo>
                    <a:lnTo>
                      <a:pt x="63065" y="142889"/>
                    </a:lnTo>
                    <a:lnTo>
                      <a:pt x="24389" y="181566"/>
                    </a:lnTo>
                    <a:cubicBezTo>
                      <a:pt x="15388" y="190567"/>
                      <a:pt x="0" y="184194"/>
                      <a:pt x="0" y="171464"/>
                    </a:cubicBezTo>
                    <a:lnTo>
                      <a:pt x="0" y="28589"/>
                    </a:lnTo>
                    <a:cubicBezTo>
                      <a:pt x="0" y="12808"/>
                      <a:pt x="12793" y="14"/>
                      <a:pt x="28575" y="14"/>
                    </a:cubicBezTo>
                    <a:close/>
                  </a:path>
                </a:pathLst>
              </a:custGeom>
              <a:solidFill>
                <a:srgbClr val="0D47A1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3110865" y="4125278"/>
              <a:ext cx="140684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「我想要」发起聊天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10865" y="4363402"/>
              <a:ext cx="1475851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WebSocket 实时消息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10865" y="4601528"/>
              <a:ext cx="125349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商品卡片自动发送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124200" y="4953000"/>
              <a:ext cx="1666875" cy="285750"/>
            </a:xfrm>
            <a:custGeom>
              <a:avLst/>
              <a:gdLst/>
              <a:ahLst/>
              <a:cxnLst/>
              <a:rect l="l" t="t" r="r" b="b"/>
              <a:pathLst>
                <a:path w="1666875" h="285750">
                  <a:moveTo>
                    <a:pt x="57150" y="0"/>
                  </a:moveTo>
                  <a:lnTo>
                    <a:pt x="1609725" y="0"/>
                  </a:lnTo>
                  <a:cubicBezTo>
                    <a:pt x="1641288" y="0"/>
                    <a:pt x="1666875" y="25587"/>
                    <a:pt x="1666875" y="57150"/>
                  </a:cubicBezTo>
                  <a:lnTo>
                    <a:pt x="1666875" y="228600"/>
                  </a:lnTo>
                  <a:cubicBezTo>
                    <a:pt x="1666875" y="260163"/>
                    <a:pt x="1641288" y="285750"/>
                    <a:pt x="1609725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3F2FD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2" name="TextBox 42"/>
            <p:cNvSpPr txBox="1"/>
            <p:nvPr/>
          </p:nvSpPr>
          <p:spPr>
            <a:xfrm>
              <a:off x="3340084" y="5055870"/>
              <a:ext cx="1225582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协商价格 / 面交地点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972175" y="1828800"/>
            <a:ext cx="723900" cy="723900"/>
            <a:chOff x="5972175" y="1828800"/>
            <a:chExt cx="723900" cy="72390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44" name="Ellipse 44"/>
            <p:cNvSpPr/>
            <p:nvPr/>
          </p:nvSpPr>
          <p:spPr>
            <a:xfrm>
              <a:off x="5972175" y="1828800"/>
              <a:ext cx="723900" cy="723900"/>
            </a:xfrm>
            <a:prstGeom prst="ellipse">
              <a:avLst/>
            </a:prstGeom>
            <a:solidFill>
              <a:srgbClr val="FF6F00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5" name="Ellipse 45"/>
            <p:cNvSpPr/>
            <p:nvPr/>
          </p:nvSpPr>
          <p:spPr>
            <a:xfrm>
              <a:off x="6029325" y="1885950"/>
              <a:ext cx="609600" cy="609600"/>
            </a:xfrm>
            <a:prstGeom prst="ellipse">
              <a:avLst/>
            </a:prstGeom>
            <a:noFill/>
            <a:ln w="19050">
              <a:solidFill>
                <a:srgbClr val="FFFFFF">
                  <a:alpha val="40000"/>
                </a:srgbClr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6" name="TextBox 46"/>
            <p:cNvSpPr txBox="1"/>
            <p:nvPr/>
          </p:nvSpPr>
          <p:spPr>
            <a:xfrm>
              <a:off x="6174003" y="1974532"/>
              <a:ext cx="320245" cy="3352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11688" y="2270284"/>
              <a:ext cx="244873" cy="1371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b="1" dirty="0">
                  <a:solidFill>
                    <a:srgbClr val="FFFFFF">
                      <a:alpha val="80000"/>
                    </a:srgbClr>
                  </a:solidFill>
                  <a:latin typeface="Arial"/>
                  <a:ea typeface="Microsoft YaHei"/>
                  <a:cs typeface="Arial"/>
                </a:rPr>
                <a:t>STEP</a:t>
              </a:r>
            </a:p>
          </p:txBody>
        </p:sp>
      </p:grpSp>
      <p:sp>
        <p:nvSpPr>
          <p:cNvPr id="49" name="Line 49"/>
          <p:cNvSpPr/>
          <p:nvPr/>
        </p:nvSpPr>
        <p:spPr>
          <a:xfrm>
            <a:off x="6334125" y="2552700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9050">
            <a:solidFill>
              <a:srgbClr val="FF6F00">
                <a:alpha val="50000"/>
              </a:srgbClr>
            </a:solidFill>
            <a:prstDash val="dash"/>
          </a:ln>
        </p:spPr>
      </p:sp>
      <p:grpSp>
        <p:nvGrpSpPr>
          <p:cNvPr id="59" name="Group 59"/>
          <p:cNvGrpSpPr/>
          <p:nvPr/>
        </p:nvGrpSpPr>
        <p:grpSpPr>
          <a:xfrm>
            <a:off x="5334000" y="2905125"/>
            <a:ext cx="2000250" cy="3333750"/>
            <a:chOff x="5334000" y="2905125"/>
            <a:chExt cx="2000250" cy="3333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50" name="Freeform 50"/>
            <p:cNvSpPr/>
            <p:nvPr/>
          </p:nvSpPr>
          <p:spPr>
            <a:xfrm>
              <a:off x="5334000" y="2905125"/>
              <a:ext cx="2000250" cy="3333750"/>
            </a:xfrm>
            <a:custGeom>
              <a:avLst/>
              <a:gdLst/>
              <a:ahLst/>
              <a:cxnLst/>
              <a:rect l="l" t="t" r="r" b="b"/>
              <a:pathLst>
                <a:path w="2000250" h="3333750">
                  <a:moveTo>
                    <a:pt x="95250" y="0"/>
                  </a:moveTo>
                  <a:lnTo>
                    <a:pt x="1905000" y="0"/>
                  </a:lnTo>
                  <a:cubicBezTo>
                    <a:pt x="1957605" y="0"/>
                    <a:pt x="2000250" y="42645"/>
                    <a:pt x="2000250" y="95250"/>
                  </a:cubicBezTo>
                  <a:lnTo>
                    <a:pt x="2000250" y="3238500"/>
                  </a:lnTo>
                  <a:cubicBezTo>
                    <a:pt x="2000250" y="3291105"/>
                    <a:pt x="1957605" y="3333750"/>
                    <a:pt x="1905000" y="3333750"/>
                  </a:cubicBezTo>
                  <a:lnTo>
                    <a:pt x="95250" y="3333750"/>
                  </a:lnTo>
                  <a:cubicBezTo>
                    <a:pt x="42645" y="3333750"/>
                    <a:pt x="0" y="3291105"/>
                    <a:pt x="0" y="3238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1" name="Rectangle 51"/>
            <p:cNvSpPr/>
            <p:nvPr/>
          </p:nvSpPr>
          <p:spPr>
            <a:xfrm>
              <a:off x="5334000" y="3143250"/>
              <a:ext cx="38100" cy="342900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2" name="TextBox 52"/>
            <p:cNvSpPr txBox="1"/>
            <p:nvPr/>
          </p:nvSpPr>
          <p:spPr>
            <a:xfrm>
              <a:off x="5489258" y="3215164"/>
              <a:ext cx="814483" cy="2590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下单交易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5994281" y="3648075"/>
              <a:ext cx="298675" cy="285903"/>
            </a:xfrm>
            <a:custGeom>
              <a:avLst/>
              <a:gdLst/>
              <a:ahLst/>
              <a:cxnLst/>
              <a:rect l="l" t="t" r="r" b="b"/>
              <a:pathLst>
                <a:path w="298675" h="285903">
                  <a:moveTo>
                    <a:pt x="149316" y="0"/>
                  </a:moveTo>
                  <a:lnTo>
                    <a:pt x="151002" y="100"/>
                  </a:lnTo>
                  <a:lnTo>
                    <a:pt x="151845" y="214"/>
                  </a:lnTo>
                  <a:lnTo>
                    <a:pt x="152716" y="400"/>
                  </a:lnTo>
                  <a:lnTo>
                    <a:pt x="154302" y="886"/>
                  </a:lnTo>
                  <a:cubicBezTo>
                    <a:pt x="155397" y="1290"/>
                    <a:pt x="156439" y="1827"/>
                    <a:pt x="157402" y="2486"/>
                  </a:cubicBezTo>
                  <a:lnTo>
                    <a:pt x="158888" y="3658"/>
                  </a:lnTo>
                  <a:lnTo>
                    <a:pt x="162532" y="6772"/>
                  </a:lnTo>
                  <a:cubicBezTo>
                    <a:pt x="191354" y="30712"/>
                    <a:pt x="227781" y="43567"/>
                    <a:pt x="265245" y="43020"/>
                  </a:cubicBezTo>
                  <a:lnTo>
                    <a:pt x="270131" y="42877"/>
                  </a:lnTo>
                  <a:cubicBezTo>
                    <a:pt x="276705" y="42577"/>
                    <a:pt x="282634" y="46807"/>
                    <a:pt x="284490" y="53121"/>
                  </a:cubicBezTo>
                  <a:cubicBezTo>
                    <a:pt x="298675" y="101374"/>
                    <a:pt x="292685" y="153316"/>
                    <a:pt x="267890" y="197074"/>
                  </a:cubicBezTo>
                  <a:cubicBezTo>
                    <a:pt x="243095" y="240832"/>
                    <a:pt x="201614" y="272664"/>
                    <a:pt x="152930" y="285293"/>
                  </a:cubicBezTo>
                  <a:cubicBezTo>
                    <a:pt x="150579" y="285903"/>
                    <a:pt x="148110" y="285903"/>
                    <a:pt x="145758" y="285293"/>
                  </a:cubicBezTo>
                  <a:cubicBezTo>
                    <a:pt x="97072" y="272667"/>
                    <a:pt x="55588" y="240837"/>
                    <a:pt x="30790" y="197078"/>
                  </a:cubicBezTo>
                  <a:cubicBezTo>
                    <a:pt x="5992" y="153320"/>
                    <a:pt x="0" y="101376"/>
                    <a:pt x="14185" y="53121"/>
                  </a:cubicBezTo>
                  <a:cubicBezTo>
                    <a:pt x="16040" y="46807"/>
                    <a:pt x="21969" y="42577"/>
                    <a:pt x="28543" y="42877"/>
                  </a:cubicBezTo>
                  <a:cubicBezTo>
                    <a:pt x="67655" y="44665"/>
                    <a:pt x="106026" y="31790"/>
                    <a:pt x="136143" y="6772"/>
                  </a:cubicBezTo>
                  <a:lnTo>
                    <a:pt x="139900" y="3558"/>
                  </a:lnTo>
                  <a:lnTo>
                    <a:pt x="141272" y="2486"/>
                  </a:lnTo>
                  <a:cubicBezTo>
                    <a:pt x="142236" y="1827"/>
                    <a:pt x="143277" y="1290"/>
                    <a:pt x="144372" y="886"/>
                  </a:cubicBezTo>
                  <a:lnTo>
                    <a:pt x="145972" y="400"/>
                  </a:lnTo>
                  <a:cubicBezTo>
                    <a:pt x="146532" y="265"/>
                    <a:pt x="147100" y="165"/>
                    <a:pt x="147673" y="100"/>
                  </a:cubicBezTo>
                  <a:lnTo>
                    <a:pt x="149316" y="0"/>
                  </a:lnTo>
                  <a:close/>
                  <a:moveTo>
                    <a:pt x="149344" y="100012"/>
                  </a:moveTo>
                  <a:cubicBezTo>
                    <a:pt x="134391" y="100008"/>
                    <a:pt x="121962" y="111533"/>
                    <a:pt x="120841" y="126444"/>
                  </a:cubicBezTo>
                  <a:lnTo>
                    <a:pt x="120769" y="128588"/>
                  </a:lnTo>
                  <a:lnTo>
                    <a:pt x="120841" y="130731"/>
                  </a:lnTo>
                  <a:cubicBezTo>
                    <a:pt x="121556" y="140147"/>
                    <a:pt x="126877" y="148601"/>
                    <a:pt x="135057" y="153319"/>
                  </a:cubicBezTo>
                  <a:lnTo>
                    <a:pt x="135057" y="178594"/>
                  </a:lnTo>
                  <a:lnTo>
                    <a:pt x="135157" y="180265"/>
                  </a:lnTo>
                  <a:cubicBezTo>
                    <a:pt x="136050" y="187772"/>
                    <a:pt x="142635" y="193284"/>
                    <a:pt x="150182" y="192841"/>
                  </a:cubicBezTo>
                  <a:cubicBezTo>
                    <a:pt x="157728" y="192398"/>
                    <a:pt x="163623" y="186153"/>
                    <a:pt x="163632" y="178594"/>
                  </a:cubicBezTo>
                  <a:lnTo>
                    <a:pt x="163646" y="153333"/>
                  </a:lnTo>
                  <a:cubicBezTo>
                    <a:pt x="174848" y="146865"/>
                    <a:pt x="180308" y="133679"/>
                    <a:pt x="176957" y="121185"/>
                  </a:cubicBezTo>
                  <a:cubicBezTo>
                    <a:pt x="173606" y="108691"/>
                    <a:pt x="162280" y="100007"/>
                    <a:pt x="149344" y="100012"/>
                  </a:cubicBezTo>
                  <a:close/>
                </a:path>
              </a:pathLst>
            </a:custGeom>
            <a:solidFill>
              <a:srgbClr val="FF6F00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4" name="TextBox 54"/>
            <p:cNvSpPr txBox="1"/>
            <p:nvPr/>
          </p:nvSpPr>
          <p:spPr>
            <a:xfrm>
              <a:off x="5492115" y="4125278"/>
              <a:ext cx="1529524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Redis 分布式锁防并发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492115" y="4363402"/>
              <a:ext cx="1468183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72 小时超时自动取消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492115" y="4601528"/>
              <a:ext cx="1100137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同一商品一单制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5505450" y="4953000"/>
              <a:ext cx="1666875" cy="285750"/>
            </a:xfrm>
            <a:custGeom>
              <a:avLst/>
              <a:gdLst/>
              <a:ahLst/>
              <a:cxnLst/>
              <a:rect l="l" t="t" r="r" b="b"/>
              <a:pathLst>
                <a:path w="1666875" h="285750">
                  <a:moveTo>
                    <a:pt x="57150" y="0"/>
                  </a:moveTo>
                  <a:lnTo>
                    <a:pt x="1609725" y="0"/>
                  </a:lnTo>
                  <a:cubicBezTo>
                    <a:pt x="1641288" y="0"/>
                    <a:pt x="1666875" y="25587"/>
                    <a:pt x="1666875" y="57150"/>
                  </a:cubicBezTo>
                  <a:lnTo>
                    <a:pt x="1666875" y="228600"/>
                  </a:lnTo>
                  <a:cubicBezTo>
                    <a:pt x="1666875" y="260163"/>
                    <a:pt x="1641288" y="285750"/>
                    <a:pt x="1609725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3E0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5852779" y="5055870"/>
              <a:ext cx="962692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6F00"/>
                  </a:solidFill>
                  <a:latin typeface="Arial"/>
                  <a:ea typeface="Microsoft YaHei"/>
                  <a:cs typeface="Arial"/>
                </a:rPr>
                <a:t>待接单 → 待面交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353425" y="1828800"/>
            <a:ext cx="723900" cy="723900"/>
            <a:chOff x="8353425" y="1828800"/>
            <a:chExt cx="723900" cy="72390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60" name="Ellipse 60"/>
            <p:cNvSpPr/>
            <p:nvPr/>
          </p:nvSpPr>
          <p:spPr>
            <a:xfrm>
              <a:off x="8353425" y="1828800"/>
              <a:ext cx="723900" cy="7239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1" name="Ellipse 61"/>
            <p:cNvSpPr/>
            <p:nvPr/>
          </p:nvSpPr>
          <p:spPr>
            <a:xfrm>
              <a:off x="8410575" y="1885950"/>
              <a:ext cx="609600" cy="609600"/>
            </a:xfrm>
            <a:prstGeom prst="ellipse">
              <a:avLst/>
            </a:prstGeom>
            <a:noFill/>
            <a:ln w="19050">
              <a:solidFill>
                <a:srgbClr val="FFFFFF">
                  <a:alpha val="40000"/>
                </a:srgbClr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2" name="TextBox 62"/>
            <p:cNvSpPr txBox="1"/>
            <p:nvPr/>
          </p:nvSpPr>
          <p:spPr>
            <a:xfrm>
              <a:off x="8555253" y="1974532"/>
              <a:ext cx="320245" cy="3352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592938" y="2270284"/>
              <a:ext cx="244873" cy="1371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b="1" dirty="0">
                  <a:solidFill>
                    <a:srgbClr val="FFFFFF">
                      <a:alpha val="80000"/>
                    </a:srgbClr>
                  </a:solidFill>
                  <a:latin typeface="Arial"/>
                  <a:ea typeface="Microsoft YaHei"/>
                  <a:cs typeface="Arial"/>
                </a:rPr>
                <a:t>STEP</a:t>
              </a:r>
            </a:p>
          </p:txBody>
        </p:sp>
      </p:grpSp>
      <p:sp>
        <p:nvSpPr>
          <p:cNvPr id="65" name="Line 65"/>
          <p:cNvSpPr/>
          <p:nvPr/>
        </p:nvSpPr>
        <p:spPr>
          <a:xfrm>
            <a:off x="8715375" y="2552700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9050">
            <a:solidFill>
              <a:srgbClr val="2E7D32">
                <a:alpha val="50000"/>
              </a:srgbClr>
            </a:solidFill>
            <a:prstDash val="dash"/>
          </a:ln>
        </p:spPr>
      </p:sp>
      <p:grpSp>
        <p:nvGrpSpPr>
          <p:cNvPr id="75" name="Group 75"/>
          <p:cNvGrpSpPr/>
          <p:nvPr/>
        </p:nvGrpSpPr>
        <p:grpSpPr>
          <a:xfrm>
            <a:off x="7715250" y="2905125"/>
            <a:ext cx="2000250" cy="3333750"/>
            <a:chOff x="7715250" y="2905125"/>
            <a:chExt cx="2000250" cy="3333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66" name="Freeform 66"/>
            <p:cNvSpPr/>
            <p:nvPr/>
          </p:nvSpPr>
          <p:spPr>
            <a:xfrm>
              <a:off x="7715250" y="2905125"/>
              <a:ext cx="2000250" cy="3333750"/>
            </a:xfrm>
            <a:custGeom>
              <a:avLst/>
              <a:gdLst/>
              <a:ahLst/>
              <a:cxnLst/>
              <a:rect l="l" t="t" r="r" b="b"/>
              <a:pathLst>
                <a:path w="2000250" h="3333750">
                  <a:moveTo>
                    <a:pt x="95250" y="0"/>
                  </a:moveTo>
                  <a:lnTo>
                    <a:pt x="1905000" y="0"/>
                  </a:lnTo>
                  <a:cubicBezTo>
                    <a:pt x="1957605" y="0"/>
                    <a:pt x="2000250" y="42645"/>
                    <a:pt x="2000250" y="95250"/>
                  </a:cubicBezTo>
                  <a:lnTo>
                    <a:pt x="2000250" y="3238500"/>
                  </a:lnTo>
                  <a:cubicBezTo>
                    <a:pt x="2000250" y="3291105"/>
                    <a:pt x="1957605" y="3333750"/>
                    <a:pt x="1905000" y="3333750"/>
                  </a:cubicBezTo>
                  <a:lnTo>
                    <a:pt x="95250" y="3333750"/>
                  </a:lnTo>
                  <a:cubicBezTo>
                    <a:pt x="42645" y="3333750"/>
                    <a:pt x="0" y="3291105"/>
                    <a:pt x="0" y="3238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7715250" y="3143250"/>
              <a:ext cx="38100" cy="3429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8" name="TextBox 68"/>
            <p:cNvSpPr txBox="1"/>
            <p:nvPr/>
          </p:nvSpPr>
          <p:spPr>
            <a:xfrm>
              <a:off x="7870508" y="3215164"/>
              <a:ext cx="814483" cy="2590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双向确认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8409347" y="3703834"/>
              <a:ext cx="245507" cy="174233"/>
            </a:xfrm>
            <a:custGeom>
              <a:avLst/>
              <a:gdLst/>
              <a:ahLst/>
              <a:cxnLst/>
              <a:rect l="l" t="t" r="r" b="b"/>
              <a:pathLst>
                <a:path w="245507" h="174233">
                  <a:moveTo>
                    <a:pt x="239930" y="5578"/>
                  </a:moveTo>
                  <a:cubicBezTo>
                    <a:pt x="245507" y="11157"/>
                    <a:pt x="245507" y="20201"/>
                    <a:pt x="239930" y="25780"/>
                  </a:cubicBezTo>
                  <a:lnTo>
                    <a:pt x="97055" y="168655"/>
                  </a:lnTo>
                  <a:cubicBezTo>
                    <a:pt x="91475" y="174233"/>
                    <a:pt x="82431" y="174233"/>
                    <a:pt x="76852" y="168655"/>
                  </a:cubicBezTo>
                  <a:lnTo>
                    <a:pt x="5415" y="97218"/>
                  </a:lnTo>
                  <a:cubicBezTo>
                    <a:pt x="0" y="91611"/>
                    <a:pt x="77" y="82700"/>
                    <a:pt x="5589" y="77189"/>
                  </a:cubicBezTo>
                  <a:cubicBezTo>
                    <a:pt x="11100" y="71678"/>
                    <a:pt x="20011" y="71601"/>
                    <a:pt x="25617" y="77015"/>
                  </a:cubicBezTo>
                  <a:lnTo>
                    <a:pt x="86953" y="138351"/>
                  </a:lnTo>
                  <a:lnTo>
                    <a:pt x="219727" y="5578"/>
                  </a:lnTo>
                  <a:cubicBezTo>
                    <a:pt x="225306" y="0"/>
                    <a:pt x="234350" y="0"/>
                    <a:pt x="239930" y="5578"/>
                  </a:cubicBezTo>
                </a:path>
              </a:pathLst>
            </a:custGeom>
            <a:solidFill>
              <a:srgbClr val="2E7D32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0" name="TextBox 70"/>
            <p:cNvSpPr txBox="1"/>
            <p:nvPr/>
          </p:nvSpPr>
          <p:spPr>
            <a:xfrm>
              <a:off x="7873365" y="4125278"/>
              <a:ext cx="1100137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卖家确认已交付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873365" y="4363402"/>
              <a:ext cx="94678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买家确认收货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73365" y="4601528"/>
              <a:ext cx="142984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双方均确认 → 已完成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7886700" y="4953000"/>
              <a:ext cx="1666875" cy="285750"/>
            </a:xfrm>
            <a:custGeom>
              <a:avLst/>
              <a:gdLst/>
              <a:ahLst/>
              <a:cxnLst/>
              <a:rect l="l" t="t" r="r" b="b"/>
              <a:pathLst>
                <a:path w="1666875" h="285750">
                  <a:moveTo>
                    <a:pt x="57150" y="0"/>
                  </a:moveTo>
                  <a:lnTo>
                    <a:pt x="1609725" y="0"/>
                  </a:lnTo>
                  <a:cubicBezTo>
                    <a:pt x="1641288" y="0"/>
                    <a:pt x="1666875" y="25587"/>
                    <a:pt x="1666875" y="57150"/>
                  </a:cubicBezTo>
                  <a:lnTo>
                    <a:pt x="1666875" y="228600"/>
                  </a:lnTo>
                  <a:cubicBezTo>
                    <a:pt x="1666875" y="260163"/>
                    <a:pt x="1641288" y="285750"/>
                    <a:pt x="1609725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4" name="TextBox 74"/>
            <p:cNvSpPr txBox="1"/>
            <p:nvPr/>
          </p:nvSpPr>
          <p:spPr>
            <a:xfrm>
              <a:off x="8234029" y="5055870"/>
              <a:ext cx="962692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待面交 → 已完成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0258425" y="1828800"/>
            <a:ext cx="723900" cy="723900"/>
            <a:chOff x="10258425" y="1828800"/>
            <a:chExt cx="723900" cy="72390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76" name="Ellipse 76"/>
            <p:cNvSpPr/>
            <p:nvPr/>
          </p:nvSpPr>
          <p:spPr>
            <a:xfrm>
              <a:off x="10258425" y="1828800"/>
              <a:ext cx="723900" cy="723900"/>
            </a:xfrm>
            <a:prstGeom prst="ellipse">
              <a:avLst/>
            </a:prstGeom>
            <a:solidFill>
              <a:srgbClr val="9C27B0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7" name="Ellipse 77"/>
            <p:cNvSpPr/>
            <p:nvPr/>
          </p:nvSpPr>
          <p:spPr>
            <a:xfrm>
              <a:off x="10315575" y="1885950"/>
              <a:ext cx="609600" cy="609600"/>
            </a:xfrm>
            <a:prstGeom prst="ellipse">
              <a:avLst/>
            </a:prstGeom>
            <a:noFill/>
            <a:ln w="19050">
              <a:solidFill>
                <a:srgbClr val="FFFFFF">
                  <a:alpha val="40000"/>
                </a:srgbClr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8" name="TextBox 78"/>
            <p:cNvSpPr txBox="1"/>
            <p:nvPr/>
          </p:nvSpPr>
          <p:spPr>
            <a:xfrm>
              <a:off x="10460253" y="1974532"/>
              <a:ext cx="320245" cy="3352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497938" y="2270284"/>
              <a:ext cx="244873" cy="1371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b="1" dirty="0">
                  <a:solidFill>
                    <a:srgbClr val="FFFFFF">
                      <a:alpha val="80000"/>
                    </a:srgbClr>
                  </a:solidFill>
                  <a:latin typeface="Arial"/>
                  <a:ea typeface="Microsoft YaHei"/>
                  <a:cs typeface="Arial"/>
                </a:rPr>
                <a:t>STEP</a:t>
              </a:r>
            </a:p>
          </p:txBody>
        </p:sp>
      </p:grpSp>
      <p:sp>
        <p:nvSpPr>
          <p:cNvPr id="81" name="Line 81"/>
          <p:cNvSpPr/>
          <p:nvPr/>
        </p:nvSpPr>
        <p:spPr>
          <a:xfrm>
            <a:off x="10620375" y="2552700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9050">
            <a:solidFill>
              <a:srgbClr val="9C27B0">
                <a:alpha val="50000"/>
              </a:srgbClr>
            </a:solidFill>
            <a:prstDash val="dash"/>
          </a:ln>
        </p:spPr>
      </p:sp>
      <p:grpSp>
        <p:nvGrpSpPr>
          <p:cNvPr id="91" name="Group 91"/>
          <p:cNvGrpSpPr/>
          <p:nvPr/>
        </p:nvGrpSpPr>
        <p:grpSpPr>
          <a:xfrm>
            <a:off x="9620250" y="2905125"/>
            <a:ext cx="2000250" cy="3333750"/>
            <a:chOff x="9620250" y="2905125"/>
            <a:chExt cx="2000250" cy="3333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82" name="Freeform 82"/>
            <p:cNvSpPr/>
            <p:nvPr/>
          </p:nvSpPr>
          <p:spPr>
            <a:xfrm>
              <a:off x="9620250" y="2905125"/>
              <a:ext cx="2000250" cy="3333750"/>
            </a:xfrm>
            <a:custGeom>
              <a:avLst/>
              <a:gdLst/>
              <a:ahLst/>
              <a:cxnLst/>
              <a:rect l="l" t="t" r="r" b="b"/>
              <a:pathLst>
                <a:path w="2000250" h="3333750">
                  <a:moveTo>
                    <a:pt x="95250" y="0"/>
                  </a:moveTo>
                  <a:lnTo>
                    <a:pt x="1905000" y="0"/>
                  </a:lnTo>
                  <a:cubicBezTo>
                    <a:pt x="1957605" y="0"/>
                    <a:pt x="2000250" y="42645"/>
                    <a:pt x="2000250" y="95250"/>
                  </a:cubicBezTo>
                  <a:lnTo>
                    <a:pt x="2000250" y="3238500"/>
                  </a:lnTo>
                  <a:cubicBezTo>
                    <a:pt x="2000250" y="3291105"/>
                    <a:pt x="1957605" y="3333750"/>
                    <a:pt x="1905000" y="3333750"/>
                  </a:cubicBezTo>
                  <a:lnTo>
                    <a:pt x="95250" y="3333750"/>
                  </a:lnTo>
                  <a:cubicBezTo>
                    <a:pt x="42645" y="3333750"/>
                    <a:pt x="0" y="3291105"/>
                    <a:pt x="0" y="3238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3" name="Rectangle 83"/>
            <p:cNvSpPr/>
            <p:nvPr/>
          </p:nvSpPr>
          <p:spPr>
            <a:xfrm>
              <a:off x="9620250" y="3143250"/>
              <a:ext cx="38100" cy="342900"/>
            </a:xfrm>
            <a:prstGeom prst="rect">
              <a:avLst/>
            </a:prstGeom>
            <a:solidFill>
              <a:srgbClr val="9C27B0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4" name="TextBox 84"/>
            <p:cNvSpPr txBox="1"/>
            <p:nvPr/>
          </p:nvSpPr>
          <p:spPr>
            <a:xfrm>
              <a:off x="9775508" y="3215164"/>
              <a:ext cx="814483" cy="2590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互评体系</a:t>
              </a:r>
            </a:p>
          </p:txBody>
        </p:sp>
        <p:sp>
          <p:nvSpPr>
            <p:cNvPr id="85" name="Freeform 85"/>
            <p:cNvSpPr/>
            <p:nvPr/>
          </p:nvSpPr>
          <p:spPr>
            <a:xfrm>
              <a:off x="10271969" y="3633817"/>
              <a:ext cx="315655" cy="300843"/>
            </a:xfrm>
            <a:custGeom>
              <a:avLst/>
              <a:gdLst/>
              <a:ahLst/>
              <a:cxnLst/>
              <a:rect l="l" t="t" r="r" b="b"/>
              <a:pathLst>
                <a:path w="315655" h="300843">
                  <a:moveTo>
                    <a:pt x="104228" y="90554"/>
                  </a:moveTo>
                  <a:lnTo>
                    <a:pt x="13073" y="103770"/>
                  </a:lnTo>
                  <a:lnTo>
                    <a:pt x="11459" y="104098"/>
                  </a:lnTo>
                  <a:cubicBezTo>
                    <a:pt x="6483" y="105419"/>
                    <a:pt x="2603" y="109315"/>
                    <a:pt x="1301" y="114296"/>
                  </a:cubicBezTo>
                  <a:cubicBezTo>
                    <a:pt x="0" y="119277"/>
                    <a:pt x="1479" y="124572"/>
                    <a:pt x="5172" y="128158"/>
                  </a:cubicBezTo>
                  <a:lnTo>
                    <a:pt x="71209" y="192438"/>
                  </a:lnTo>
                  <a:lnTo>
                    <a:pt x="55636" y="283235"/>
                  </a:lnTo>
                  <a:lnTo>
                    <a:pt x="55450" y="284807"/>
                  </a:lnTo>
                  <a:cubicBezTo>
                    <a:pt x="55146" y="289953"/>
                    <a:pt x="57637" y="294865"/>
                    <a:pt x="61970" y="297658"/>
                  </a:cubicBezTo>
                  <a:cubicBezTo>
                    <a:pt x="66303" y="300452"/>
                    <a:pt x="71805" y="300695"/>
                    <a:pt x="76367" y="298294"/>
                  </a:cubicBezTo>
                  <a:lnTo>
                    <a:pt x="157892" y="255431"/>
                  </a:lnTo>
                  <a:lnTo>
                    <a:pt x="239230" y="298294"/>
                  </a:lnTo>
                  <a:lnTo>
                    <a:pt x="240659" y="298951"/>
                  </a:lnTo>
                  <a:cubicBezTo>
                    <a:pt x="245461" y="300843"/>
                    <a:pt x="250909" y="299997"/>
                    <a:pt x="254912" y="296740"/>
                  </a:cubicBezTo>
                  <a:cubicBezTo>
                    <a:pt x="258915" y="293484"/>
                    <a:pt x="260851" y="288321"/>
                    <a:pt x="259976" y="283235"/>
                  </a:cubicBezTo>
                  <a:lnTo>
                    <a:pt x="244388" y="192438"/>
                  </a:lnTo>
                  <a:lnTo>
                    <a:pt x="310453" y="128144"/>
                  </a:lnTo>
                  <a:lnTo>
                    <a:pt x="311568" y="126930"/>
                  </a:lnTo>
                  <a:cubicBezTo>
                    <a:pt x="314809" y="122938"/>
                    <a:pt x="315655" y="117513"/>
                    <a:pt x="313784" y="112724"/>
                  </a:cubicBezTo>
                  <a:cubicBezTo>
                    <a:pt x="311912" y="107935"/>
                    <a:pt x="307612" y="104521"/>
                    <a:pt x="302524" y="103784"/>
                  </a:cubicBezTo>
                  <a:lnTo>
                    <a:pt x="211370" y="90554"/>
                  </a:lnTo>
                  <a:lnTo>
                    <a:pt x="170622" y="7972"/>
                  </a:lnTo>
                  <a:cubicBezTo>
                    <a:pt x="168216" y="3091"/>
                    <a:pt x="163247" y="0"/>
                    <a:pt x="157806" y="0"/>
                  </a:cubicBezTo>
                  <a:cubicBezTo>
                    <a:pt x="152364" y="0"/>
                    <a:pt x="147395" y="3091"/>
                    <a:pt x="144990" y="7972"/>
                  </a:cubicBezTo>
                  <a:lnTo>
                    <a:pt x="104228" y="90554"/>
                  </a:lnTo>
                  <a:close/>
                </a:path>
              </a:pathLst>
            </a:custGeom>
            <a:solidFill>
              <a:srgbClr val="9C27B0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6" name="TextBox 86"/>
            <p:cNvSpPr txBox="1"/>
            <p:nvPr/>
          </p:nvSpPr>
          <p:spPr>
            <a:xfrm>
              <a:off x="9778365" y="4125278"/>
              <a:ext cx="79343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三维度评分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778365" y="4363402"/>
              <a:ext cx="1230487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7 天未评自动好评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778365" y="4601528"/>
              <a:ext cx="125349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7A"/>
                  </a:solidFill>
                  <a:latin typeface="Arial"/>
                  <a:ea typeface="Microsoft YaHei"/>
                  <a:cs typeface="Arial"/>
                </a:rPr>
                <a:t>综合评分实时计算</a:t>
              </a:r>
            </a:p>
          </p:txBody>
        </p:sp>
        <p:sp>
          <p:nvSpPr>
            <p:cNvPr id="89" name="Freeform 89"/>
            <p:cNvSpPr/>
            <p:nvPr/>
          </p:nvSpPr>
          <p:spPr>
            <a:xfrm>
              <a:off x="9791700" y="4953000"/>
              <a:ext cx="1666875" cy="285750"/>
            </a:xfrm>
            <a:custGeom>
              <a:avLst/>
              <a:gdLst/>
              <a:ahLst/>
              <a:cxnLst/>
              <a:rect l="l" t="t" r="r" b="b"/>
              <a:pathLst>
                <a:path w="1666875" h="285750">
                  <a:moveTo>
                    <a:pt x="57150" y="0"/>
                  </a:moveTo>
                  <a:lnTo>
                    <a:pt x="1609725" y="0"/>
                  </a:lnTo>
                  <a:cubicBezTo>
                    <a:pt x="1641288" y="0"/>
                    <a:pt x="1666875" y="25587"/>
                    <a:pt x="1666875" y="57150"/>
                  </a:cubicBezTo>
                  <a:lnTo>
                    <a:pt x="1666875" y="228600"/>
                  </a:lnTo>
                  <a:cubicBezTo>
                    <a:pt x="1666875" y="260163"/>
                    <a:pt x="1641288" y="285750"/>
                    <a:pt x="1609725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3E5F5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90" name="TextBox 90"/>
            <p:cNvSpPr txBox="1"/>
            <p:nvPr/>
          </p:nvSpPr>
          <p:spPr>
            <a:xfrm>
              <a:off x="10139029" y="5055870"/>
              <a:ext cx="962692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C27B0"/>
                  </a:solidFill>
                  <a:latin typeface="Arial"/>
                  <a:ea typeface="Microsoft YaHei"/>
                  <a:cs typeface="Arial"/>
                </a:rPr>
                <a:t>已完成 → 已评价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113920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05 / 10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54122" y="356235"/>
            <a:ext cx="228375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IM 即时通讯</a:t>
            </a:r>
          </a:p>
        </p:txBody>
      </p:sp>
      <p:sp>
        <p:nvSpPr>
          <p:cNvPr id="5" name="Line 5"/>
          <p:cNvSpPr/>
          <p:nvPr/>
        </p:nvSpPr>
        <p:spPr>
          <a:xfrm>
            <a:off x="5143500" y="80962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571500" y="1238250"/>
            <a:ext cx="1905000" cy="762000"/>
          </a:xfrm>
          <a:custGeom>
            <a:avLst/>
            <a:gdLst/>
            <a:ahLst/>
            <a:cxnLst/>
            <a:rect l="l" t="t" r="r" b="b"/>
            <a:pathLst>
              <a:path w="1905000" h="762000">
                <a:moveTo>
                  <a:pt x="95250" y="0"/>
                </a:moveTo>
                <a:lnTo>
                  <a:pt x="1809750" y="0"/>
                </a:lnTo>
                <a:cubicBezTo>
                  <a:pt x="1862355" y="0"/>
                  <a:pt x="1905000" y="42645"/>
                  <a:pt x="1905000" y="95250"/>
                </a:cubicBezTo>
                <a:lnTo>
                  <a:pt x="1905000" y="666750"/>
                </a:lnTo>
                <a:cubicBezTo>
                  <a:pt x="1905000" y="719355"/>
                  <a:pt x="1862355" y="762000"/>
                  <a:pt x="18097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FF6FF"/>
          </a:solidFill>
          <a:ln w="14288">
            <a:solidFill>
              <a:srgbClr val="90CAF9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7" name="Freeform 7"/>
          <p:cNvSpPr/>
          <p:nvPr/>
        </p:nvSpPr>
        <p:spPr>
          <a:xfrm>
            <a:off x="1015999" y="1377949"/>
            <a:ext cx="177802" cy="254002"/>
          </a:xfrm>
          <a:custGeom>
            <a:avLst/>
            <a:gdLst/>
            <a:ahLst/>
            <a:cxnLst/>
            <a:rect l="l" t="t" r="r" b="b"/>
            <a:pathLst>
              <a:path w="177802" h="254002">
                <a:moveTo>
                  <a:pt x="139701" y="1"/>
                </a:moveTo>
                <a:cubicBezTo>
                  <a:pt x="159876" y="0"/>
                  <a:pt x="176554" y="15726"/>
                  <a:pt x="177738" y="35866"/>
                </a:cubicBezTo>
                <a:lnTo>
                  <a:pt x="177801" y="38101"/>
                </a:lnTo>
                <a:lnTo>
                  <a:pt x="177801" y="215901"/>
                </a:lnTo>
                <a:cubicBezTo>
                  <a:pt x="177802" y="236076"/>
                  <a:pt x="162076" y="252754"/>
                  <a:pt x="141936" y="253938"/>
                </a:cubicBezTo>
                <a:lnTo>
                  <a:pt x="139701" y="254001"/>
                </a:lnTo>
                <a:lnTo>
                  <a:pt x="38101" y="254001"/>
                </a:lnTo>
                <a:cubicBezTo>
                  <a:pt x="17926" y="254002"/>
                  <a:pt x="1248" y="238276"/>
                  <a:pt x="65" y="218136"/>
                </a:cubicBezTo>
                <a:lnTo>
                  <a:pt x="1" y="215901"/>
                </a:lnTo>
                <a:lnTo>
                  <a:pt x="1" y="38101"/>
                </a:lnTo>
                <a:cubicBezTo>
                  <a:pt x="0" y="17926"/>
                  <a:pt x="15726" y="1248"/>
                  <a:pt x="35866" y="65"/>
                </a:cubicBezTo>
                <a:lnTo>
                  <a:pt x="38101" y="1"/>
                </a:lnTo>
                <a:lnTo>
                  <a:pt x="139701" y="1"/>
                </a:lnTo>
                <a:close/>
                <a:moveTo>
                  <a:pt x="88901" y="177801"/>
                </a:moveTo>
                <a:cubicBezTo>
                  <a:pt x="82463" y="177802"/>
                  <a:pt x="77043" y="182621"/>
                  <a:pt x="76290" y="189015"/>
                </a:cubicBezTo>
                <a:lnTo>
                  <a:pt x="76201" y="190501"/>
                </a:lnTo>
                <a:lnTo>
                  <a:pt x="76290" y="192114"/>
                </a:lnTo>
                <a:cubicBezTo>
                  <a:pt x="77050" y="198503"/>
                  <a:pt x="82467" y="203314"/>
                  <a:pt x="88901" y="203314"/>
                </a:cubicBezTo>
                <a:cubicBezTo>
                  <a:pt x="95335" y="203314"/>
                  <a:pt x="100752" y="198503"/>
                  <a:pt x="101512" y="192114"/>
                </a:cubicBezTo>
                <a:lnTo>
                  <a:pt x="101601" y="190628"/>
                </a:lnTo>
                <a:lnTo>
                  <a:pt x="101512" y="189015"/>
                </a:lnTo>
                <a:cubicBezTo>
                  <a:pt x="100759" y="182621"/>
                  <a:pt x="95340" y="177802"/>
                  <a:pt x="88901" y="177801"/>
                </a:cubicBezTo>
                <a:close/>
                <a:moveTo>
                  <a:pt x="101601" y="25401"/>
                </a:moveTo>
                <a:lnTo>
                  <a:pt x="76201" y="25401"/>
                </a:lnTo>
                <a:lnTo>
                  <a:pt x="74715" y="25490"/>
                </a:lnTo>
                <a:cubicBezTo>
                  <a:pt x="68326" y="26250"/>
                  <a:pt x="63515" y="31667"/>
                  <a:pt x="63515" y="38101"/>
                </a:cubicBezTo>
                <a:cubicBezTo>
                  <a:pt x="63515" y="44535"/>
                  <a:pt x="68326" y="49952"/>
                  <a:pt x="74715" y="50712"/>
                </a:cubicBezTo>
                <a:lnTo>
                  <a:pt x="76201" y="50801"/>
                </a:lnTo>
                <a:lnTo>
                  <a:pt x="101601" y="50801"/>
                </a:lnTo>
                <a:lnTo>
                  <a:pt x="103087" y="50712"/>
                </a:lnTo>
                <a:cubicBezTo>
                  <a:pt x="109476" y="49952"/>
                  <a:pt x="114287" y="44535"/>
                  <a:pt x="114287" y="38101"/>
                </a:cubicBezTo>
                <a:cubicBezTo>
                  <a:pt x="114287" y="31667"/>
                  <a:pt x="109476" y="26250"/>
                  <a:pt x="103087" y="25490"/>
                </a:cubicBezTo>
                <a:lnTo>
                  <a:pt x="101601" y="25401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32726" y="15659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客户端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1039" y="1788795"/>
            <a:ext cx="1665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ws://host:port/ws/chat</a:t>
            </a:r>
          </a:p>
        </p:txBody>
      </p:sp>
      <p:sp>
        <p:nvSpPr>
          <p:cNvPr id="10" name="Line 10"/>
          <p:cNvSpPr/>
          <p:nvPr/>
        </p:nvSpPr>
        <p:spPr>
          <a:xfrm>
            <a:off x="2476500" y="1619250"/>
            <a:ext cx="666750" cy="1"/>
          </a:xfrm>
          <a:prstGeom prst="line">
            <a:avLst/>
          </a:prstGeom>
          <a:noFill/>
          <a:ln w="19050">
            <a:solidFill>
              <a:srgbClr val="1565C0"/>
            </a:solidFill>
            <a:tailEnd type="triangle" w="lg" len="lg"/>
          </a:ln>
        </p:spPr>
      </p:sp>
      <p:sp>
        <p:nvSpPr>
          <p:cNvPr id="11" name="TextBox 11"/>
          <p:cNvSpPr txBox="1"/>
          <p:nvPr/>
        </p:nvSpPr>
        <p:spPr>
          <a:xfrm>
            <a:off x="2687943" y="1434941"/>
            <a:ext cx="2438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JWT</a:t>
            </a:r>
          </a:p>
        </p:txBody>
      </p:sp>
      <p:sp>
        <p:nvSpPr>
          <p:cNvPr id="12" name="Freeform 12"/>
          <p:cNvSpPr/>
          <p:nvPr/>
        </p:nvSpPr>
        <p:spPr>
          <a:xfrm>
            <a:off x="3238500" y="1238250"/>
            <a:ext cx="1714500" cy="762000"/>
          </a:xfrm>
          <a:custGeom>
            <a:avLst/>
            <a:gdLst/>
            <a:ahLst/>
            <a:cxnLst/>
            <a:rect l="l" t="t" r="r" b="b"/>
            <a:pathLst>
              <a:path w="1714500" h="762000">
                <a:moveTo>
                  <a:pt x="95250" y="0"/>
                </a:moveTo>
                <a:lnTo>
                  <a:pt x="1619250" y="0"/>
                </a:lnTo>
                <a:cubicBezTo>
                  <a:pt x="1671855" y="0"/>
                  <a:pt x="1714500" y="42645"/>
                  <a:pt x="1714500" y="95250"/>
                </a:cubicBezTo>
                <a:lnTo>
                  <a:pt x="1714500" y="666750"/>
                </a:lnTo>
                <a:cubicBezTo>
                  <a:pt x="1714500" y="719355"/>
                  <a:pt x="1671855" y="762000"/>
                  <a:pt x="16192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 w="14288">
            <a:solidFill>
              <a:srgbClr val="FFB74D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13" name="Freeform 13"/>
          <p:cNvSpPr/>
          <p:nvPr/>
        </p:nvSpPr>
        <p:spPr>
          <a:xfrm>
            <a:off x="3591525" y="1377950"/>
            <a:ext cx="265489" cy="254136"/>
          </a:xfrm>
          <a:custGeom>
            <a:avLst/>
            <a:gdLst/>
            <a:ahLst/>
            <a:cxnLst/>
            <a:rect l="l" t="t" r="r" b="b"/>
            <a:pathLst>
              <a:path w="265489" h="254136">
                <a:moveTo>
                  <a:pt x="132725" y="0"/>
                </a:moveTo>
                <a:lnTo>
                  <a:pt x="134224" y="89"/>
                </a:lnTo>
                <a:lnTo>
                  <a:pt x="134973" y="191"/>
                </a:lnTo>
                <a:lnTo>
                  <a:pt x="135748" y="356"/>
                </a:lnTo>
                <a:lnTo>
                  <a:pt x="137157" y="787"/>
                </a:lnTo>
                <a:cubicBezTo>
                  <a:pt x="138131" y="1146"/>
                  <a:pt x="139057" y="1624"/>
                  <a:pt x="139913" y="2210"/>
                </a:cubicBezTo>
                <a:lnTo>
                  <a:pt x="141234" y="3251"/>
                </a:lnTo>
                <a:lnTo>
                  <a:pt x="144473" y="6020"/>
                </a:lnTo>
                <a:cubicBezTo>
                  <a:pt x="170092" y="27299"/>
                  <a:pt x="202472" y="38726"/>
                  <a:pt x="235773" y="38240"/>
                </a:cubicBezTo>
                <a:lnTo>
                  <a:pt x="240116" y="38113"/>
                </a:lnTo>
                <a:cubicBezTo>
                  <a:pt x="245960" y="37846"/>
                  <a:pt x="251230" y="41606"/>
                  <a:pt x="252880" y="47219"/>
                </a:cubicBezTo>
                <a:cubicBezTo>
                  <a:pt x="265489" y="90110"/>
                  <a:pt x="260164" y="136281"/>
                  <a:pt x="238124" y="175177"/>
                </a:cubicBezTo>
                <a:cubicBezTo>
                  <a:pt x="216084" y="214073"/>
                  <a:pt x="179212" y="242368"/>
                  <a:pt x="135938" y="253594"/>
                </a:cubicBezTo>
                <a:cubicBezTo>
                  <a:pt x="133848" y="254136"/>
                  <a:pt x="131653" y="254136"/>
                  <a:pt x="129563" y="253594"/>
                </a:cubicBezTo>
                <a:cubicBezTo>
                  <a:pt x="86286" y="242371"/>
                  <a:pt x="49412" y="214077"/>
                  <a:pt x="27369" y="175181"/>
                </a:cubicBezTo>
                <a:cubicBezTo>
                  <a:pt x="5326" y="136285"/>
                  <a:pt x="0" y="90112"/>
                  <a:pt x="12608" y="47219"/>
                </a:cubicBezTo>
                <a:cubicBezTo>
                  <a:pt x="14258" y="41606"/>
                  <a:pt x="19528" y="37846"/>
                  <a:pt x="25372" y="38113"/>
                </a:cubicBezTo>
                <a:cubicBezTo>
                  <a:pt x="60138" y="39702"/>
                  <a:pt x="94245" y="28257"/>
                  <a:pt x="121016" y="6020"/>
                </a:cubicBezTo>
                <a:lnTo>
                  <a:pt x="124356" y="3162"/>
                </a:lnTo>
                <a:lnTo>
                  <a:pt x="125575" y="2210"/>
                </a:lnTo>
                <a:cubicBezTo>
                  <a:pt x="126432" y="1624"/>
                  <a:pt x="127357" y="1146"/>
                  <a:pt x="128331" y="787"/>
                </a:cubicBezTo>
                <a:lnTo>
                  <a:pt x="129753" y="356"/>
                </a:lnTo>
                <a:cubicBezTo>
                  <a:pt x="130251" y="235"/>
                  <a:pt x="130756" y="146"/>
                  <a:pt x="131265" y="89"/>
                </a:cubicBezTo>
                <a:lnTo>
                  <a:pt x="132725" y="0"/>
                </a:lnTo>
                <a:close/>
                <a:moveTo>
                  <a:pt x="132750" y="88900"/>
                </a:moveTo>
                <a:cubicBezTo>
                  <a:pt x="119458" y="88896"/>
                  <a:pt x="108411" y="99140"/>
                  <a:pt x="107414" y="112395"/>
                </a:cubicBezTo>
                <a:lnTo>
                  <a:pt x="107350" y="114300"/>
                </a:lnTo>
                <a:lnTo>
                  <a:pt x="107414" y="116205"/>
                </a:lnTo>
                <a:cubicBezTo>
                  <a:pt x="108050" y="124575"/>
                  <a:pt x="112779" y="132090"/>
                  <a:pt x="120050" y="136284"/>
                </a:cubicBezTo>
                <a:lnTo>
                  <a:pt x="120050" y="158750"/>
                </a:lnTo>
                <a:lnTo>
                  <a:pt x="120139" y="160236"/>
                </a:lnTo>
                <a:cubicBezTo>
                  <a:pt x="120933" y="166908"/>
                  <a:pt x="126787" y="171808"/>
                  <a:pt x="133495" y="171414"/>
                </a:cubicBezTo>
                <a:cubicBezTo>
                  <a:pt x="140203" y="171020"/>
                  <a:pt x="145443" y="165469"/>
                  <a:pt x="145450" y="158750"/>
                </a:cubicBezTo>
                <a:lnTo>
                  <a:pt x="145463" y="136296"/>
                </a:lnTo>
                <a:cubicBezTo>
                  <a:pt x="155421" y="130547"/>
                  <a:pt x="160274" y="118825"/>
                  <a:pt x="157295" y="107720"/>
                </a:cubicBezTo>
                <a:cubicBezTo>
                  <a:pt x="154316" y="96614"/>
                  <a:pt x="144249" y="88895"/>
                  <a:pt x="132750" y="8890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760375" y="15821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握手鉴权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05092" y="1796891"/>
            <a:ext cx="15813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ChatHandshakeInterceptor</a:t>
            </a:r>
          </a:p>
        </p:txBody>
      </p:sp>
      <p:sp>
        <p:nvSpPr>
          <p:cNvPr id="16" name="Line 16"/>
          <p:cNvSpPr/>
          <p:nvPr/>
        </p:nvSpPr>
        <p:spPr>
          <a:xfrm>
            <a:off x="4953000" y="1619250"/>
            <a:ext cx="666750" cy="1"/>
          </a:xfrm>
          <a:prstGeom prst="line">
            <a:avLst/>
          </a:prstGeom>
          <a:noFill/>
          <a:ln w="19050">
            <a:solidFill>
              <a:srgbClr val="1565C0"/>
            </a:solidFill>
            <a:tailEnd type="triangle" w="lg" len="lg"/>
          </a:ln>
        </p:spPr>
      </p:sp>
      <p:sp>
        <p:nvSpPr>
          <p:cNvPr id="17" name="Freeform 17"/>
          <p:cNvSpPr/>
          <p:nvPr/>
        </p:nvSpPr>
        <p:spPr>
          <a:xfrm>
            <a:off x="5715000" y="1238250"/>
            <a:ext cx="1714500" cy="762000"/>
          </a:xfrm>
          <a:custGeom>
            <a:avLst/>
            <a:gdLst/>
            <a:ahLst/>
            <a:cxnLst/>
            <a:rect l="l" t="t" r="r" b="b"/>
            <a:pathLst>
              <a:path w="1714500" h="762000">
                <a:moveTo>
                  <a:pt x="95250" y="0"/>
                </a:moveTo>
                <a:lnTo>
                  <a:pt x="1619250" y="0"/>
                </a:lnTo>
                <a:cubicBezTo>
                  <a:pt x="1671855" y="0"/>
                  <a:pt x="1714500" y="42645"/>
                  <a:pt x="1714500" y="95250"/>
                </a:cubicBezTo>
                <a:lnTo>
                  <a:pt x="1714500" y="666750"/>
                </a:lnTo>
                <a:cubicBezTo>
                  <a:pt x="1714500" y="719355"/>
                  <a:pt x="1671855" y="762000"/>
                  <a:pt x="16192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FF6FF"/>
          </a:solidFill>
          <a:ln w="14288">
            <a:solidFill>
              <a:srgbClr val="90CAF9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18" name="Freeform 18"/>
          <p:cNvSpPr/>
          <p:nvPr/>
        </p:nvSpPr>
        <p:spPr>
          <a:xfrm>
            <a:off x="6064961" y="1369136"/>
            <a:ext cx="271628" cy="271628"/>
          </a:xfrm>
          <a:custGeom>
            <a:avLst/>
            <a:gdLst/>
            <a:ahLst/>
            <a:cxnLst/>
            <a:rect l="l" t="t" r="r" b="b"/>
            <a:pathLst>
              <a:path w="271628" h="271628">
                <a:moveTo>
                  <a:pt x="169431" y="35243"/>
                </a:moveTo>
                <a:cubicBezTo>
                  <a:pt x="170122" y="38095"/>
                  <a:pt x="172133" y="40446"/>
                  <a:pt x="174844" y="41570"/>
                </a:cubicBezTo>
                <a:cubicBezTo>
                  <a:pt x="177555" y="42695"/>
                  <a:pt x="180640" y="42458"/>
                  <a:pt x="183147" y="40932"/>
                </a:cubicBezTo>
                <a:cubicBezTo>
                  <a:pt x="214122" y="22073"/>
                  <a:pt x="249568" y="57506"/>
                  <a:pt x="230708" y="88481"/>
                </a:cubicBezTo>
                <a:cubicBezTo>
                  <a:pt x="229182" y="90986"/>
                  <a:pt x="228944" y="94069"/>
                  <a:pt x="230066" y="96780"/>
                </a:cubicBezTo>
                <a:cubicBezTo>
                  <a:pt x="231187" y="99490"/>
                  <a:pt x="233535" y="101503"/>
                  <a:pt x="236385" y="102197"/>
                </a:cubicBezTo>
                <a:cubicBezTo>
                  <a:pt x="271628" y="110744"/>
                  <a:pt x="271628" y="160871"/>
                  <a:pt x="236385" y="169431"/>
                </a:cubicBezTo>
                <a:cubicBezTo>
                  <a:pt x="233533" y="170122"/>
                  <a:pt x="231182" y="172133"/>
                  <a:pt x="230057" y="174844"/>
                </a:cubicBezTo>
                <a:cubicBezTo>
                  <a:pt x="228933" y="177555"/>
                  <a:pt x="229170" y="180640"/>
                  <a:pt x="230695" y="183147"/>
                </a:cubicBezTo>
                <a:cubicBezTo>
                  <a:pt x="249555" y="214122"/>
                  <a:pt x="214122" y="249568"/>
                  <a:pt x="183147" y="230708"/>
                </a:cubicBezTo>
                <a:cubicBezTo>
                  <a:pt x="180641" y="229182"/>
                  <a:pt x="177558" y="228944"/>
                  <a:pt x="174848" y="230066"/>
                </a:cubicBezTo>
                <a:cubicBezTo>
                  <a:pt x="172137" y="231187"/>
                  <a:pt x="170125" y="233535"/>
                  <a:pt x="169431" y="236385"/>
                </a:cubicBezTo>
                <a:cubicBezTo>
                  <a:pt x="160884" y="271628"/>
                  <a:pt x="110757" y="271628"/>
                  <a:pt x="102197" y="236385"/>
                </a:cubicBezTo>
                <a:cubicBezTo>
                  <a:pt x="101506" y="233533"/>
                  <a:pt x="99495" y="231182"/>
                  <a:pt x="96784" y="230057"/>
                </a:cubicBezTo>
                <a:cubicBezTo>
                  <a:pt x="94073" y="228933"/>
                  <a:pt x="90988" y="229170"/>
                  <a:pt x="88481" y="230696"/>
                </a:cubicBezTo>
                <a:cubicBezTo>
                  <a:pt x="57506" y="249555"/>
                  <a:pt x="22060" y="214122"/>
                  <a:pt x="40919" y="183147"/>
                </a:cubicBezTo>
                <a:cubicBezTo>
                  <a:pt x="42445" y="180641"/>
                  <a:pt x="42684" y="177558"/>
                  <a:pt x="41562" y="174848"/>
                </a:cubicBezTo>
                <a:cubicBezTo>
                  <a:pt x="40440" y="172137"/>
                  <a:pt x="38093" y="170125"/>
                  <a:pt x="35242" y="169431"/>
                </a:cubicBezTo>
                <a:cubicBezTo>
                  <a:pt x="0" y="160884"/>
                  <a:pt x="0" y="110757"/>
                  <a:pt x="35242" y="102197"/>
                </a:cubicBezTo>
                <a:cubicBezTo>
                  <a:pt x="38095" y="101506"/>
                  <a:pt x="40446" y="99495"/>
                  <a:pt x="41570" y="96784"/>
                </a:cubicBezTo>
                <a:cubicBezTo>
                  <a:pt x="42695" y="94073"/>
                  <a:pt x="42458" y="90988"/>
                  <a:pt x="40932" y="88481"/>
                </a:cubicBezTo>
                <a:cubicBezTo>
                  <a:pt x="22073" y="57506"/>
                  <a:pt x="57506" y="22060"/>
                  <a:pt x="88481" y="40919"/>
                </a:cubicBezTo>
                <a:cubicBezTo>
                  <a:pt x="90984" y="42457"/>
                  <a:pt x="94072" y="42702"/>
                  <a:pt x="96786" y="41578"/>
                </a:cubicBezTo>
                <a:cubicBezTo>
                  <a:pt x="99501" y="40455"/>
                  <a:pt x="101512" y="38099"/>
                  <a:pt x="102197" y="35243"/>
                </a:cubicBezTo>
                <a:cubicBezTo>
                  <a:pt x="110744" y="0"/>
                  <a:pt x="160871" y="0"/>
                  <a:pt x="169431" y="35243"/>
                </a:cubicBezTo>
                <a:close/>
                <a:moveTo>
                  <a:pt x="135814" y="97714"/>
                </a:moveTo>
                <a:cubicBezTo>
                  <a:pt x="114772" y="97714"/>
                  <a:pt x="97714" y="114772"/>
                  <a:pt x="97714" y="135814"/>
                </a:cubicBezTo>
                <a:cubicBezTo>
                  <a:pt x="97714" y="156856"/>
                  <a:pt x="114772" y="173914"/>
                  <a:pt x="135814" y="173914"/>
                </a:cubicBezTo>
                <a:cubicBezTo>
                  <a:pt x="156856" y="173914"/>
                  <a:pt x="173914" y="156856"/>
                  <a:pt x="173914" y="135814"/>
                </a:cubicBezTo>
                <a:cubicBezTo>
                  <a:pt x="173914" y="114772"/>
                  <a:pt x="156856" y="97714"/>
                  <a:pt x="135814" y="97714"/>
                </a:cubicBezTo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236875" y="15821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会话管理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90628" y="1796891"/>
            <a:ext cx="15632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WebSocketSessionManager</a:t>
            </a:r>
          </a:p>
        </p:txBody>
      </p:sp>
      <p:sp>
        <p:nvSpPr>
          <p:cNvPr id="21" name="Line 21"/>
          <p:cNvSpPr/>
          <p:nvPr/>
        </p:nvSpPr>
        <p:spPr>
          <a:xfrm>
            <a:off x="7429500" y="1619250"/>
            <a:ext cx="666750" cy="1"/>
          </a:xfrm>
          <a:prstGeom prst="line">
            <a:avLst/>
          </a:prstGeom>
          <a:noFill/>
          <a:ln w="19050">
            <a:solidFill>
              <a:srgbClr val="1565C0"/>
            </a:solidFill>
            <a:tailEnd type="triangle" w="lg" len="lg"/>
          </a:ln>
        </p:spPr>
      </p:sp>
      <p:sp>
        <p:nvSpPr>
          <p:cNvPr id="22" name="Freeform 22"/>
          <p:cNvSpPr/>
          <p:nvPr/>
        </p:nvSpPr>
        <p:spPr>
          <a:xfrm>
            <a:off x="8191500" y="1238250"/>
            <a:ext cx="1714500" cy="762000"/>
          </a:xfrm>
          <a:custGeom>
            <a:avLst/>
            <a:gdLst/>
            <a:ahLst/>
            <a:cxnLst/>
            <a:rect l="l" t="t" r="r" b="b"/>
            <a:pathLst>
              <a:path w="1714500" h="762000">
                <a:moveTo>
                  <a:pt x="95250" y="0"/>
                </a:moveTo>
                <a:lnTo>
                  <a:pt x="1619250" y="0"/>
                </a:lnTo>
                <a:cubicBezTo>
                  <a:pt x="1671855" y="0"/>
                  <a:pt x="1714500" y="42645"/>
                  <a:pt x="1714500" y="95250"/>
                </a:cubicBezTo>
                <a:lnTo>
                  <a:pt x="1714500" y="666750"/>
                </a:lnTo>
                <a:cubicBezTo>
                  <a:pt x="1714500" y="719355"/>
                  <a:pt x="1671855" y="762000"/>
                  <a:pt x="16192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 w="14288">
            <a:solidFill>
              <a:srgbClr val="64B5F6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23" name="TextBox 23"/>
          <p:cNvSpPr txBox="1"/>
          <p:nvPr/>
        </p:nvSpPr>
        <p:spPr>
          <a:xfrm>
            <a:off x="8573452" y="14897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消息分发器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77988" y="1768316"/>
            <a:ext cx="11415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MessageDispatcher</a:t>
            </a:r>
          </a:p>
        </p:txBody>
      </p:sp>
      <p:sp>
        <p:nvSpPr>
          <p:cNvPr id="25" name="Line 25"/>
          <p:cNvSpPr/>
          <p:nvPr/>
        </p:nvSpPr>
        <p:spPr>
          <a:xfrm>
            <a:off x="9906000" y="1619250"/>
            <a:ext cx="571500" cy="1"/>
          </a:xfrm>
          <a:prstGeom prst="line">
            <a:avLst/>
          </a:prstGeom>
          <a:noFill/>
          <a:ln w="14288">
            <a:solidFill>
              <a:srgbClr val="5A5A7A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10572750" y="1143000"/>
            <a:ext cx="1238250" cy="419100"/>
          </a:xfrm>
          <a:custGeom>
            <a:avLst/>
            <a:gdLst/>
            <a:ahLst/>
            <a:cxnLst/>
            <a:rect l="l" t="t" r="r" b="b"/>
            <a:pathLst>
              <a:path w="1238250" h="419100">
                <a:moveTo>
                  <a:pt x="76200" y="0"/>
                </a:moveTo>
                <a:lnTo>
                  <a:pt x="1162050" y="0"/>
                </a:lnTo>
                <a:cubicBezTo>
                  <a:pt x="1204134" y="0"/>
                  <a:pt x="1238250" y="34116"/>
                  <a:pt x="1238250" y="76200"/>
                </a:cubicBezTo>
                <a:lnTo>
                  <a:pt x="1238250" y="342900"/>
                </a:lnTo>
                <a:cubicBezTo>
                  <a:pt x="1238250" y="384984"/>
                  <a:pt x="1204134" y="419100"/>
                  <a:pt x="116205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27" name="TextBox 27"/>
          <p:cNvSpPr txBox="1"/>
          <p:nvPr/>
        </p:nvSpPr>
        <p:spPr>
          <a:xfrm>
            <a:off x="10843075" y="1304449"/>
            <a:ext cx="6975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Chat 聊天</a:t>
            </a:r>
          </a:p>
        </p:txBody>
      </p:sp>
      <p:sp>
        <p:nvSpPr>
          <p:cNvPr id="28" name="Freeform 28"/>
          <p:cNvSpPr/>
          <p:nvPr/>
        </p:nvSpPr>
        <p:spPr>
          <a:xfrm>
            <a:off x="10572750" y="1666875"/>
            <a:ext cx="1238250" cy="419100"/>
          </a:xfrm>
          <a:custGeom>
            <a:avLst/>
            <a:gdLst/>
            <a:ahLst/>
            <a:cxnLst/>
            <a:rect l="l" t="t" r="r" b="b"/>
            <a:pathLst>
              <a:path w="1238250" h="419100">
                <a:moveTo>
                  <a:pt x="76200" y="0"/>
                </a:moveTo>
                <a:lnTo>
                  <a:pt x="1162050" y="0"/>
                </a:lnTo>
                <a:cubicBezTo>
                  <a:pt x="1204134" y="0"/>
                  <a:pt x="1238250" y="34116"/>
                  <a:pt x="1238250" y="76200"/>
                </a:cubicBezTo>
                <a:lnTo>
                  <a:pt x="1238250" y="342900"/>
                </a:lnTo>
                <a:cubicBezTo>
                  <a:pt x="1238250" y="384984"/>
                  <a:pt x="1204134" y="419100"/>
                  <a:pt x="116205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29" name="TextBox 29"/>
          <p:cNvSpPr txBox="1"/>
          <p:nvPr/>
        </p:nvSpPr>
        <p:spPr>
          <a:xfrm>
            <a:off x="10843075" y="1828324"/>
            <a:ext cx="6975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Read 已读</a:t>
            </a:r>
          </a:p>
        </p:txBody>
      </p:sp>
      <p:sp>
        <p:nvSpPr>
          <p:cNvPr id="30" name="Freeform 30"/>
          <p:cNvSpPr/>
          <p:nvPr/>
        </p:nvSpPr>
        <p:spPr>
          <a:xfrm>
            <a:off x="10572750" y="2190750"/>
            <a:ext cx="1238250" cy="419100"/>
          </a:xfrm>
          <a:custGeom>
            <a:avLst/>
            <a:gdLst/>
            <a:ahLst/>
            <a:cxnLst/>
            <a:rect l="l" t="t" r="r" b="b"/>
            <a:pathLst>
              <a:path w="1238250" h="419100">
                <a:moveTo>
                  <a:pt x="76200" y="0"/>
                </a:moveTo>
                <a:lnTo>
                  <a:pt x="1162050" y="0"/>
                </a:lnTo>
                <a:cubicBezTo>
                  <a:pt x="1204134" y="0"/>
                  <a:pt x="1238250" y="34116"/>
                  <a:pt x="1238250" y="76200"/>
                </a:cubicBezTo>
                <a:lnTo>
                  <a:pt x="1238250" y="342900"/>
                </a:lnTo>
                <a:cubicBezTo>
                  <a:pt x="1238250" y="384984"/>
                  <a:pt x="1204134" y="419100"/>
                  <a:pt x="116205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31" name="TextBox 31"/>
          <p:cNvSpPr txBox="1"/>
          <p:nvPr/>
        </p:nvSpPr>
        <p:spPr>
          <a:xfrm>
            <a:off x="10861765" y="2352199"/>
            <a:ext cx="6602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Ping 心跳</a:t>
            </a:r>
          </a:p>
        </p:txBody>
      </p:sp>
      <p:sp>
        <p:nvSpPr>
          <p:cNvPr id="32" name="Line 32"/>
          <p:cNvSpPr/>
          <p:nvPr/>
        </p:nvSpPr>
        <p:spPr>
          <a:xfrm flipH="1">
            <a:off x="2476500" y="2952750"/>
            <a:ext cx="8096250" cy="1"/>
          </a:xfrm>
          <a:prstGeom prst="line">
            <a:avLst/>
          </a:prstGeom>
          <a:noFill/>
          <a:ln w="14288">
            <a:solidFill>
              <a:srgbClr val="2E7D32"/>
            </a:solidFill>
            <a:tailEnd type="triangle" w="lg" len="lg"/>
          </a:ln>
        </p:spPr>
      </p:sp>
      <p:sp>
        <p:nvSpPr>
          <p:cNvPr id="33" name="TextBox 33"/>
          <p:cNvSpPr txBox="1"/>
          <p:nvPr/>
        </p:nvSpPr>
        <p:spPr>
          <a:xfrm>
            <a:off x="5749028" y="2816066"/>
            <a:ext cx="15511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消息推送 / 已读回执 / PONG</a:t>
            </a:r>
          </a:p>
        </p:txBody>
      </p:sp>
      <p:sp>
        <p:nvSpPr>
          <p:cNvPr id="34" name="Line 34"/>
          <p:cNvSpPr/>
          <p:nvPr/>
        </p:nvSpPr>
        <p:spPr>
          <a:xfrm>
            <a:off x="571500" y="3381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16892" y="35528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核心特性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6308" y="4005739"/>
            <a:ext cx="58329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心跳保活：客户端每 30s 发 PING，服务端回 PONG，60s 超时断线检测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6308" y="4339114"/>
            <a:ext cx="681056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未读管理：每个会话独立维护未读数，Redis 全局总未读（im:unread:{userId}）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6308" y="4672489"/>
            <a:ext cx="595398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已读回执：接收方读取消息后推送 READ 帧，发送方收到 READ_ACK 确认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6308" y="5005864"/>
            <a:ext cx="543258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离线通知：接收方离线时写入站内通知，上线后可在消息中心查看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6308" y="5339239"/>
            <a:ext cx="636365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业务卡片：商品卡片（「我想要」自动发送）、订单卡片（创建订单后推送）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6308" y="5672614"/>
            <a:ext cx="485532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踢下线：服务端主动推送 FORCE_OFFLINE 帧（封号场景）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920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06 / 10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571500" y="381000"/>
            <a:ext cx="57150" cy="304800"/>
          </a:xfrm>
          <a:custGeom>
            <a:avLst/>
            <a:gdLst/>
            <a:ahLst/>
            <a:cxnLst/>
            <a:rect l="l" t="t" r="r" b="b"/>
            <a:pathLst>
              <a:path w="57150" h="3048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76225"/>
                </a:lnTo>
                <a:cubicBezTo>
                  <a:pt x="57150" y="292007"/>
                  <a:pt x="44357" y="304800"/>
                  <a:pt x="28575" y="304800"/>
                </a:cubicBezTo>
                <a:lnTo>
                  <a:pt x="28575" y="304800"/>
                </a:lnTo>
                <a:cubicBezTo>
                  <a:pt x="12793" y="304800"/>
                  <a:pt x="0" y="292007"/>
                  <a:pt x="0" y="2762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6957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关键技术亮点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952500"/>
            <a:ext cx="3429000" cy="5334000"/>
          </a:xfrm>
          <a:custGeom>
            <a:avLst/>
            <a:gdLst/>
            <a:ahLst/>
            <a:cxnLst/>
            <a:rect l="l" t="t" r="r" b="b"/>
            <a:pathLst>
              <a:path w="3429000" h="53340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5181600"/>
                </a:lnTo>
                <a:cubicBezTo>
                  <a:pt x="3429000" y="5265768"/>
                  <a:pt x="3360768" y="5334000"/>
                  <a:pt x="3276600" y="5334000"/>
                </a:cubicBezTo>
                <a:lnTo>
                  <a:pt x="152400" y="5334000"/>
                </a:lnTo>
                <a:cubicBezTo>
                  <a:pt x="68232" y="5334000"/>
                  <a:pt x="0" y="5265768"/>
                  <a:pt x="0" y="5181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7" name="Freeform 7"/>
          <p:cNvSpPr/>
          <p:nvPr/>
        </p:nvSpPr>
        <p:spPr>
          <a:xfrm>
            <a:off x="571500" y="952500"/>
            <a:ext cx="3429000" cy="533400"/>
          </a:xfrm>
          <a:custGeom>
            <a:avLst/>
            <a:gdLst/>
            <a:ahLst/>
            <a:cxnLst/>
            <a:rect l="l" t="t" r="r" b="b"/>
            <a:pathLst>
              <a:path w="3429000" h="5334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381000"/>
                </a:lnTo>
                <a:cubicBezTo>
                  <a:pt x="3429000" y="465168"/>
                  <a:pt x="3360768" y="533400"/>
                  <a:pt x="3276600" y="533400"/>
                </a:cubicBezTo>
                <a:lnTo>
                  <a:pt x="152400" y="533400"/>
                </a:lnTo>
                <a:cubicBezTo>
                  <a:pt x="68232" y="533400"/>
                  <a:pt x="0" y="465168"/>
                  <a:pt x="0" y="3810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3429000" cy="1524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484852" y="1133475"/>
            <a:ext cx="16022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Redis 分布式锁</a:t>
            </a:r>
          </a:p>
        </p:txBody>
      </p:sp>
      <p:sp>
        <p:nvSpPr>
          <p:cNvPr id="10" name="Freeform 10"/>
          <p:cNvSpPr/>
          <p:nvPr/>
        </p:nvSpPr>
        <p:spPr>
          <a:xfrm>
            <a:off x="1972574" y="1704975"/>
            <a:ext cx="398233" cy="381204"/>
          </a:xfrm>
          <a:custGeom>
            <a:avLst/>
            <a:gdLst/>
            <a:ahLst/>
            <a:cxnLst/>
            <a:rect l="l" t="t" r="r" b="b"/>
            <a:pathLst>
              <a:path w="398233" h="381204">
                <a:moveTo>
                  <a:pt x="199088" y="0"/>
                </a:moveTo>
                <a:lnTo>
                  <a:pt x="201336" y="133"/>
                </a:lnTo>
                <a:lnTo>
                  <a:pt x="202459" y="286"/>
                </a:lnTo>
                <a:lnTo>
                  <a:pt x="203622" y="533"/>
                </a:lnTo>
                <a:lnTo>
                  <a:pt x="205736" y="1181"/>
                </a:lnTo>
                <a:cubicBezTo>
                  <a:pt x="207197" y="1720"/>
                  <a:pt x="208585" y="2436"/>
                  <a:pt x="209870" y="3315"/>
                </a:cubicBezTo>
                <a:lnTo>
                  <a:pt x="211851" y="4877"/>
                </a:lnTo>
                <a:lnTo>
                  <a:pt x="216709" y="9030"/>
                </a:lnTo>
                <a:cubicBezTo>
                  <a:pt x="255139" y="40949"/>
                  <a:pt x="303708" y="58089"/>
                  <a:pt x="353659" y="57360"/>
                </a:cubicBezTo>
                <a:lnTo>
                  <a:pt x="360174" y="57169"/>
                </a:lnTo>
                <a:cubicBezTo>
                  <a:pt x="368940" y="56769"/>
                  <a:pt x="376845" y="62409"/>
                  <a:pt x="379320" y="70828"/>
                </a:cubicBezTo>
                <a:cubicBezTo>
                  <a:pt x="398233" y="135165"/>
                  <a:pt x="390247" y="204422"/>
                  <a:pt x="357186" y="262766"/>
                </a:cubicBezTo>
                <a:cubicBezTo>
                  <a:pt x="324126" y="321110"/>
                  <a:pt x="268818" y="363552"/>
                  <a:pt x="203907" y="380390"/>
                </a:cubicBezTo>
                <a:cubicBezTo>
                  <a:pt x="200771" y="381204"/>
                  <a:pt x="197480" y="381204"/>
                  <a:pt x="194344" y="380390"/>
                </a:cubicBezTo>
                <a:cubicBezTo>
                  <a:pt x="129430" y="363556"/>
                  <a:pt x="74117" y="321116"/>
                  <a:pt x="41053" y="262771"/>
                </a:cubicBezTo>
                <a:cubicBezTo>
                  <a:pt x="7989" y="204427"/>
                  <a:pt x="0" y="135168"/>
                  <a:pt x="18913" y="70828"/>
                </a:cubicBezTo>
                <a:cubicBezTo>
                  <a:pt x="21387" y="62409"/>
                  <a:pt x="29292" y="56769"/>
                  <a:pt x="38058" y="57169"/>
                </a:cubicBezTo>
                <a:cubicBezTo>
                  <a:pt x="90207" y="59553"/>
                  <a:pt x="141367" y="42386"/>
                  <a:pt x="181524" y="9030"/>
                </a:cubicBezTo>
                <a:lnTo>
                  <a:pt x="186534" y="4743"/>
                </a:lnTo>
                <a:lnTo>
                  <a:pt x="188362" y="3315"/>
                </a:lnTo>
                <a:cubicBezTo>
                  <a:pt x="189647" y="2436"/>
                  <a:pt x="191036" y="1720"/>
                  <a:pt x="192496" y="1181"/>
                </a:cubicBezTo>
                <a:lnTo>
                  <a:pt x="194630" y="533"/>
                </a:lnTo>
                <a:cubicBezTo>
                  <a:pt x="195377" y="353"/>
                  <a:pt x="196134" y="219"/>
                  <a:pt x="196897" y="133"/>
                </a:cubicBezTo>
                <a:lnTo>
                  <a:pt x="199088" y="0"/>
                </a:lnTo>
                <a:close/>
                <a:moveTo>
                  <a:pt x="199126" y="133350"/>
                </a:moveTo>
                <a:cubicBezTo>
                  <a:pt x="179188" y="133344"/>
                  <a:pt x="162616" y="148710"/>
                  <a:pt x="161121" y="168592"/>
                </a:cubicBezTo>
                <a:lnTo>
                  <a:pt x="161026" y="171450"/>
                </a:lnTo>
                <a:lnTo>
                  <a:pt x="161121" y="174308"/>
                </a:lnTo>
                <a:cubicBezTo>
                  <a:pt x="162075" y="186862"/>
                  <a:pt x="169169" y="198135"/>
                  <a:pt x="180076" y="204426"/>
                </a:cubicBezTo>
                <a:lnTo>
                  <a:pt x="180076" y="238125"/>
                </a:lnTo>
                <a:lnTo>
                  <a:pt x="180209" y="240354"/>
                </a:lnTo>
                <a:cubicBezTo>
                  <a:pt x="181400" y="250363"/>
                  <a:pt x="190180" y="257712"/>
                  <a:pt x="200242" y="257121"/>
                </a:cubicBezTo>
                <a:cubicBezTo>
                  <a:pt x="210304" y="256530"/>
                  <a:pt x="218165" y="248204"/>
                  <a:pt x="218176" y="238125"/>
                </a:cubicBezTo>
                <a:lnTo>
                  <a:pt x="218195" y="204445"/>
                </a:lnTo>
                <a:cubicBezTo>
                  <a:pt x="233131" y="195820"/>
                  <a:pt x="240411" y="178238"/>
                  <a:pt x="235942" y="161580"/>
                </a:cubicBezTo>
                <a:cubicBezTo>
                  <a:pt x="231474" y="144921"/>
                  <a:pt x="216373" y="133342"/>
                  <a:pt x="199126" y="13335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26680" y="2299335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订单创建防并发</a:t>
            </a:r>
          </a:p>
        </p:txBody>
      </p:sp>
      <p:sp>
        <p:nvSpPr>
          <p:cNvPr id="12" name="Freeform 12"/>
          <p:cNvSpPr/>
          <p:nvPr/>
        </p:nvSpPr>
        <p:spPr>
          <a:xfrm>
            <a:off x="857250" y="2619375"/>
            <a:ext cx="2857500" cy="381000"/>
          </a:xfrm>
          <a:custGeom>
            <a:avLst/>
            <a:gdLst/>
            <a:ahLst/>
            <a:cxnLst/>
            <a:rect l="l" t="t" r="r" b="b"/>
            <a:pathLst>
              <a:path w="2857500" h="38100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04800"/>
                </a:lnTo>
                <a:cubicBezTo>
                  <a:pt x="2857500" y="346884"/>
                  <a:pt x="2823384" y="381000"/>
                  <a:pt x="27813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07186" y="2753678"/>
            <a:ext cx="23576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Key: product:lock:{productId}</a:t>
            </a:r>
          </a:p>
        </p:txBody>
      </p:sp>
      <p:sp>
        <p:nvSpPr>
          <p:cNvPr id="14" name="Freeform 14"/>
          <p:cNvSpPr/>
          <p:nvPr/>
        </p:nvSpPr>
        <p:spPr>
          <a:xfrm>
            <a:off x="857250" y="3095625"/>
            <a:ext cx="2857500" cy="381000"/>
          </a:xfrm>
          <a:custGeom>
            <a:avLst/>
            <a:gdLst/>
            <a:ahLst/>
            <a:cxnLst/>
            <a:rect l="l" t="t" r="r" b="b"/>
            <a:pathLst>
              <a:path w="2857500" h="38100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04800"/>
                </a:lnTo>
                <a:cubicBezTo>
                  <a:pt x="2857500" y="346884"/>
                  <a:pt x="2823384" y="381000"/>
                  <a:pt x="27813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590246" y="3229928"/>
            <a:ext cx="13915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TTL: 30 秒自动释放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571875"/>
            <a:ext cx="2857500" cy="381000"/>
          </a:xfrm>
          <a:custGeom>
            <a:avLst/>
            <a:gdLst/>
            <a:ahLst/>
            <a:cxnLst/>
            <a:rect l="l" t="t" r="r" b="b"/>
            <a:pathLst>
              <a:path w="2857500" h="38100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04800"/>
                </a:lnTo>
                <a:cubicBezTo>
                  <a:pt x="2857500" y="346884"/>
                  <a:pt x="2823384" y="381000"/>
                  <a:pt x="27813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99198" y="3706178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同一商品同时只有一个有效订单</a:t>
            </a:r>
          </a:p>
        </p:txBody>
      </p:sp>
      <p:sp>
        <p:nvSpPr>
          <p:cNvPr id="18" name="Freeform 18"/>
          <p:cNvSpPr/>
          <p:nvPr/>
        </p:nvSpPr>
        <p:spPr>
          <a:xfrm>
            <a:off x="857250" y="4191000"/>
            <a:ext cx="2857500" cy="476250"/>
          </a:xfrm>
          <a:custGeom>
            <a:avLst/>
            <a:gdLst/>
            <a:ahLst/>
            <a:cxnLst/>
            <a:rect l="l" t="t" r="r" b="b"/>
            <a:pathLst>
              <a:path w="2857500" h="47625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400050"/>
                </a:lnTo>
                <a:cubicBezTo>
                  <a:pt x="2857500" y="442134"/>
                  <a:pt x="2823384" y="476250"/>
                  <a:pt x="27813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789605" y="42872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解决并发下单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89605" y="44777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防止超卖问题</a:t>
            </a:r>
          </a:p>
        </p:txBody>
      </p:sp>
      <p:sp>
        <p:nvSpPr>
          <p:cNvPr id="21" name="Freeform 21"/>
          <p:cNvSpPr/>
          <p:nvPr/>
        </p:nvSpPr>
        <p:spPr>
          <a:xfrm>
            <a:off x="4381500" y="952500"/>
            <a:ext cx="3429000" cy="5334000"/>
          </a:xfrm>
          <a:custGeom>
            <a:avLst/>
            <a:gdLst/>
            <a:ahLst/>
            <a:cxnLst/>
            <a:rect l="l" t="t" r="r" b="b"/>
            <a:pathLst>
              <a:path w="3429000" h="53340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5181600"/>
                </a:lnTo>
                <a:cubicBezTo>
                  <a:pt x="3429000" y="5265768"/>
                  <a:pt x="3360768" y="5334000"/>
                  <a:pt x="3276600" y="5334000"/>
                </a:cubicBezTo>
                <a:lnTo>
                  <a:pt x="152400" y="5334000"/>
                </a:lnTo>
                <a:cubicBezTo>
                  <a:pt x="68232" y="5334000"/>
                  <a:pt x="0" y="5265768"/>
                  <a:pt x="0" y="5181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22" name="Freeform 22"/>
          <p:cNvSpPr/>
          <p:nvPr/>
        </p:nvSpPr>
        <p:spPr>
          <a:xfrm>
            <a:off x="4381500" y="952500"/>
            <a:ext cx="3429000" cy="533400"/>
          </a:xfrm>
          <a:custGeom>
            <a:avLst/>
            <a:gdLst/>
            <a:ahLst/>
            <a:cxnLst/>
            <a:rect l="l" t="t" r="r" b="b"/>
            <a:pathLst>
              <a:path w="3429000" h="5334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381000"/>
                </a:lnTo>
                <a:cubicBezTo>
                  <a:pt x="3429000" y="465168"/>
                  <a:pt x="3360768" y="533400"/>
                  <a:pt x="3276600" y="533400"/>
                </a:cubicBezTo>
                <a:lnTo>
                  <a:pt x="152400" y="533400"/>
                </a:lnTo>
                <a:cubicBezTo>
                  <a:pt x="68232" y="533400"/>
                  <a:pt x="0" y="465168"/>
                  <a:pt x="0" y="3810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4381500" y="1333500"/>
            <a:ext cx="3429000" cy="15240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386864" y="11334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定时任务体系</a:t>
            </a:r>
          </a:p>
        </p:txBody>
      </p:sp>
      <p:sp>
        <p:nvSpPr>
          <p:cNvPr id="25" name="Freeform 25"/>
          <p:cNvSpPr/>
          <p:nvPr/>
        </p:nvSpPr>
        <p:spPr>
          <a:xfrm>
            <a:off x="5867398" y="1696442"/>
            <a:ext cx="401133" cy="402699"/>
          </a:xfrm>
          <a:custGeom>
            <a:avLst/>
            <a:gdLst/>
            <a:ahLst/>
            <a:cxnLst/>
            <a:rect l="l" t="t" r="r" b="b"/>
            <a:pathLst>
              <a:path w="401133" h="402699">
                <a:moveTo>
                  <a:pt x="285752" y="34060"/>
                </a:moveTo>
                <a:cubicBezTo>
                  <a:pt x="365816" y="80285"/>
                  <a:pt x="401133" y="177321"/>
                  <a:pt x="369513" y="264194"/>
                </a:cubicBezTo>
                <a:cubicBezTo>
                  <a:pt x="337893" y="351068"/>
                  <a:pt x="248463" y="402699"/>
                  <a:pt x="157419" y="386643"/>
                </a:cubicBezTo>
                <a:cubicBezTo>
                  <a:pt x="66375" y="370588"/>
                  <a:pt x="0" y="291482"/>
                  <a:pt x="2" y="199033"/>
                </a:cubicBezTo>
                <a:lnTo>
                  <a:pt x="98" y="192861"/>
                </a:lnTo>
                <a:cubicBezTo>
                  <a:pt x="2268" y="125938"/>
                  <a:pt x="39413" y="65068"/>
                  <a:pt x="97936" y="32534"/>
                </a:cubicBezTo>
                <a:cubicBezTo>
                  <a:pt x="156459" y="0"/>
                  <a:pt x="227766" y="579"/>
                  <a:pt x="285752" y="34060"/>
                </a:cubicBezTo>
                <a:moveTo>
                  <a:pt x="182863" y="216483"/>
                </a:moveTo>
                <a:lnTo>
                  <a:pt x="183854" y="216883"/>
                </a:lnTo>
                <a:lnTo>
                  <a:pt x="185378" y="217378"/>
                </a:lnTo>
                <a:lnTo>
                  <a:pt x="186902" y="217740"/>
                </a:lnTo>
                <a:lnTo>
                  <a:pt x="188273" y="217950"/>
                </a:lnTo>
                <a:lnTo>
                  <a:pt x="190502" y="218083"/>
                </a:lnTo>
                <a:lnTo>
                  <a:pt x="191950" y="218026"/>
                </a:lnTo>
                <a:lnTo>
                  <a:pt x="194522" y="217645"/>
                </a:lnTo>
                <a:lnTo>
                  <a:pt x="196084" y="217264"/>
                </a:lnTo>
                <a:lnTo>
                  <a:pt x="198046" y="216521"/>
                </a:lnTo>
                <a:lnTo>
                  <a:pt x="199437" y="215854"/>
                </a:lnTo>
                <a:lnTo>
                  <a:pt x="200923" y="214978"/>
                </a:lnTo>
                <a:lnTo>
                  <a:pt x="202066" y="214178"/>
                </a:lnTo>
                <a:lnTo>
                  <a:pt x="203590" y="212864"/>
                </a:lnTo>
                <a:lnTo>
                  <a:pt x="205171" y="211187"/>
                </a:lnTo>
                <a:lnTo>
                  <a:pt x="206352" y="209606"/>
                </a:lnTo>
                <a:lnTo>
                  <a:pt x="244452" y="152456"/>
                </a:lnTo>
                <a:cubicBezTo>
                  <a:pt x="250291" y="143702"/>
                  <a:pt x="247929" y="131873"/>
                  <a:pt x="239175" y="126034"/>
                </a:cubicBezTo>
                <a:cubicBezTo>
                  <a:pt x="230422" y="120194"/>
                  <a:pt x="218592" y="122557"/>
                  <a:pt x="212753" y="131310"/>
                </a:cubicBezTo>
                <a:lnTo>
                  <a:pt x="209552" y="136092"/>
                </a:lnTo>
                <a:lnTo>
                  <a:pt x="209552" y="103783"/>
                </a:lnTo>
                <a:cubicBezTo>
                  <a:pt x="209551" y="94125"/>
                  <a:pt x="202323" y="85997"/>
                  <a:pt x="192731" y="84867"/>
                </a:cubicBezTo>
                <a:lnTo>
                  <a:pt x="190502" y="84733"/>
                </a:lnTo>
                <a:cubicBezTo>
                  <a:pt x="179981" y="84733"/>
                  <a:pt x="171452" y="93262"/>
                  <a:pt x="171452" y="103783"/>
                </a:cubicBezTo>
                <a:lnTo>
                  <a:pt x="171452" y="199529"/>
                </a:lnTo>
                <a:lnTo>
                  <a:pt x="171624" y="201529"/>
                </a:lnTo>
                <a:lnTo>
                  <a:pt x="172005" y="203567"/>
                </a:lnTo>
                <a:lnTo>
                  <a:pt x="172767" y="206025"/>
                </a:lnTo>
                <a:lnTo>
                  <a:pt x="173681" y="207968"/>
                </a:lnTo>
                <a:lnTo>
                  <a:pt x="174557" y="209454"/>
                </a:lnTo>
                <a:lnTo>
                  <a:pt x="175358" y="210597"/>
                </a:lnTo>
                <a:lnTo>
                  <a:pt x="176672" y="212121"/>
                </a:lnTo>
                <a:lnTo>
                  <a:pt x="178348" y="213702"/>
                </a:lnTo>
                <a:lnTo>
                  <a:pt x="179930" y="214883"/>
                </a:lnTo>
                <a:lnTo>
                  <a:pt x="181644" y="215892"/>
                </a:ln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188248" y="2299335"/>
            <a:ext cx="18155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6 个 @Scheduled 任务</a:t>
            </a:r>
          </a:p>
        </p:txBody>
      </p:sp>
      <p:sp>
        <p:nvSpPr>
          <p:cNvPr id="27" name="Freeform 27"/>
          <p:cNvSpPr/>
          <p:nvPr/>
        </p:nvSpPr>
        <p:spPr>
          <a:xfrm>
            <a:off x="4667250" y="2619375"/>
            <a:ext cx="2857500" cy="333375"/>
          </a:xfrm>
          <a:custGeom>
            <a:avLst/>
            <a:gdLst/>
            <a:ahLst/>
            <a:cxnLst/>
            <a:rect l="l" t="t" r="r" b="b"/>
            <a:pathLst>
              <a:path w="2857500" h="333375">
                <a:moveTo>
                  <a:pt x="57150" y="0"/>
                </a:moveTo>
                <a:lnTo>
                  <a:pt x="2800350" y="0"/>
                </a:lnTo>
                <a:cubicBezTo>
                  <a:pt x="2831913" y="0"/>
                  <a:pt x="2857500" y="25587"/>
                  <a:pt x="2857500" y="57150"/>
                </a:cubicBezTo>
                <a:lnTo>
                  <a:pt x="2857500" y="276225"/>
                </a:lnTo>
                <a:cubicBezTo>
                  <a:pt x="2857500" y="307788"/>
                  <a:pt x="2831913" y="333375"/>
                  <a:pt x="2800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279065" y="2742724"/>
            <a:ext cx="16338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订单超时取消 — 每 5 分钟</a:t>
            </a:r>
          </a:p>
        </p:txBody>
      </p:sp>
      <p:sp>
        <p:nvSpPr>
          <p:cNvPr id="29" name="Freeform 29"/>
          <p:cNvSpPr/>
          <p:nvPr/>
        </p:nvSpPr>
        <p:spPr>
          <a:xfrm>
            <a:off x="4667250" y="3028950"/>
            <a:ext cx="2857500" cy="333375"/>
          </a:xfrm>
          <a:custGeom>
            <a:avLst/>
            <a:gdLst/>
            <a:ahLst/>
            <a:cxnLst/>
            <a:rect l="l" t="t" r="r" b="b"/>
            <a:pathLst>
              <a:path w="2857500" h="333375">
                <a:moveTo>
                  <a:pt x="57150" y="0"/>
                </a:moveTo>
                <a:lnTo>
                  <a:pt x="2800350" y="0"/>
                </a:lnTo>
                <a:cubicBezTo>
                  <a:pt x="2831913" y="0"/>
                  <a:pt x="2857500" y="25587"/>
                  <a:pt x="2857500" y="57150"/>
                </a:cubicBezTo>
                <a:lnTo>
                  <a:pt x="2857500" y="276225"/>
                </a:lnTo>
                <a:cubicBezTo>
                  <a:pt x="2857500" y="307788"/>
                  <a:pt x="2831913" y="333375"/>
                  <a:pt x="2800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111746" y="3152299"/>
            <a:ext cx="19685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订单自动确认 — 每天凌晨 2:00</a:t>
            </a:r>
          </a:p>
        </p:txBody>
      </p:sp>
      <p:sp>
        <p:nvSpPr>
          <p:cNvPr id="31" name="Freeform 31"/>
          <p:cNvSpPr/>
          <p:nvPr/>
        </p:nvSpPr>
        <p:spPr>
          <a:xfrm>
            <a:off x="4667250" y="3438525"/>
            <a:ext cx="2857500" cy="333375"/>
          </a:xfrm>
          <a:custGeom>
            <a:avLst/>
            <a:gdLst/>
            <a:ahLst/>
            <a:cxnLst/>
            <a:rect l="l" t="t" r="r" b="b"/>
            <a:pathLst>
              <a:path w="2857500" h="333375">
                <a:moveTo>
                  <a:pt x="57150" y="0"/>
                </a:moveTo>
                <a:lnTo>
                  <a:pt x="2800350" y="0"/>
                </a:lnTo>
                <a:cubicBezTo>
                  <a:pt x="2831913" y="0"/>
                  <a:pt x="2857500" y="25587"/>
                  <a:pt x="2857500" y="57150"/>
                </a:cubicBezTo>
                <a:lnTo>
                  <a:pt x="2857500" y="276225"/>
                </a:lnTo>
                <a:cubicBezTo>
                  <a:pt x="2857500" y="307788"/>
                  <a:pt x="2831913" y="333375"/>
                  <a:pt x="2800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254145" y="3561874"/>
            <a:ext cx="16837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自动好评 — 每天凌晨 3:00</a:t>
            </a:r>
          </a:p>
        </p:txBody>
      </p:sp>
      <p:sp>
        <p:nvSpPr>
          <p:cNvPr id="33" name="Freeform 33"/>
          <p:cNvSpPr/>
          <p:nvPr/>
        </p:nvSpPr>
        <p:spPr>
          <a:xfrm>
            <a:off x="4667250" y="3848100"/>
            <a:ext cx="2857500" cy="333375"/>
          </a:xfrm>
          <a:custGeom>
            <a:avLst/>
            <a:gdLst/>
            <a:ahLst/>
            <a:cxnLst/>
            <a:rect l="l" t="t" r="r" b="b"/>
            <a:pathLst>
              <a:path w="2857500" h="333375">
                <a:moveTo>
                  <a:pt x="57150" y="0"/>
                </a:moveTo>
                <a:lnTo>
                  <a:pt x="2800350" y="0"/>
                </a:lnTo>
                <a:cubicBezTo>
                  <a:pt x="2831913" y="0"/>
                  <a:pt x="2857500" y="25587"/>
                  <a:pt x="2857500" y="57150"/>
                </a:cubicBezTo>
                <a:lnTo>
                  <a:pt x="2857500" y="276225"/>
                </a:lnTo>
                <a:cubicBezTo>
                  <a:pt x="2857500" y="307788"/>
                  <a:pt x="2831913" y="333375"/>
                  <a:pt x="2800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232785" y="3971449"/>
            <a:ext cx="17264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评价提醒 — 每天上午 10:00</a:t>
            </a:r>
          </a:p>
        </p:txBody>
      </p:sp>
      <p:sp>
        <p:nvSpPr>
          <p:cNvPr id="35" name="Freeform 35"/>
          <p:cNvSpPr/>
          <p:nvPr/>
        </p:nvSpPr>
        <p:spPr>
          <a:xfrm>
            <a:off x="4667250" y="4257675"/>
            <a:ext cx="2857500" cy="333375"/>
          </a:xfrm>
          <a:custGeom>
            <a:avLst/>
            <a:gdLst/>
            <a:ahLst/>
            <a:cxnLst/>
            <a:rect l="l" t="t" r="r" b="b"/>
            <a:pathLst>
              <a:path w="2857500" h="333375">
                <a:moveTo>
                  <a:pt x="57150" y="0"/>
                </a:moveTo>
                <a:lnTo>
                  <a:pt x="2800350" y="0"/>
                </a:lnTo>
                <a:cubicBezTo>
                  <a:pt x="2831913" y="0"/>
                  <a:pt x="2857500" y="25587"/>
                  <a:pt x="2857500" y="57150"/>
                </a:cubicBezTo>
                <a:lnTo>
                  <a:pt x="2857500" y="276225"/>
                </a:lnTo>
                <a:cubicBezTo>
                  <a:pt x="2857500" y="307788"/>
                  <a:pt x="2831913" y="333375"/>
                  <a:pt x="2800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111746" y="4381024"/>
            <a:ext cx="19685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商品自动下架 — 每天凌晨 4:00</a:t>
            </a:r>
          </a:p>
        </p:txBody>
      </p:sp>
      <p:sp>
        <p:nvSpPr>
          <p:cNvPr id="37" name="Freeform 37"/>
          <p:cNvSpPr/>
          <p:nvPr/>
        </p:nvSpPr>
        <p:spPr>
          <a:xfrm>
            <a:off x="4667250" y="4667250"/>
            <a:ext cx="2857500" cy="333375"/>
          </a:xfrm>
          <a:custGeom>
            <a:avLst/>
            <a:gdLst/>
            <a:ahLst/>
            <a:cxnLst/>
            <a:rect l="l" t="t" r="r" b="b"/>
            <a:pathLst>
              <a:path w="2857500" h="333375">
                <a:moveTo>
                  <a:pt x="57150" y="0"/>
                </a:moveTo>
                <a:lnTo>
                  <a:pt x="2800350" y="0"/>
                </a:lnTo>
                <a:cubicBezTo>
                  <a:pt x="2831913" y="0"/>
                  <a:pt x="2857500" y="25587"/>
                  <a:pt x="2857500" y="57150"/>
                </a:cubicBezTo>
                <a:lnTo>
                  <a:pt x="2857500" y="276225"/>
                </a:lnTo>
                <a:cubicBezTo>
                  <a:pt x="2857500" y="307788"/>
                  <a:pt x="2831913" y="333375"/>
                  <a:pt x="2800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111746" y="4790599"/>
            <a:ext cx="19685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账号注销清理 — 每天凌晨 5:00</a:t>
            </a:r>
          </a:p>
        </p:txBody>
      </p:sp>
      <p:sp>
        <p:nvSpPr>
          <p:cNvPr id="39" name="Freeform 39"/>
          <p:cNvSpPr/>
          <p:nvPr/>
        </p:nvSpPr>
        <p:spPr>
          <a:xfrm>
            <a:off x="4667250" y="5143500"/>
            <a:ext cx="2857500" cy="476250"/>
          </a:xfrm>
          <a:custGeom>
            <a:avLst/>
            <a:gdLst/>
            <a:ahLst/>
            <a:cxnLst/>
            <a:rect l="l" t="t" r="r" b="b"/>
            <a:pathLst>
              <a:path w="2857500" h="47625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400050"/>
                </a:lnTo>
                <a:cubicBezTo>
                  <a:pt x="2857500" y="442134"/>
                  <a:pt x="2823384" y="476250"/>
                  <a:pt x="27813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136672" y="5239702"/>
            <a:ext cx="19186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application.yml 配置开关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277564" y="5430202"/>
            <a:ext cx="16368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无需修改代码即可控制</a:t>
            </a:r>
          </a:p>
        </p:txBody>
      </p:sp>
      <p:sp>
        <p:nvSpPr>
          <p:cNvPr id="42" name="Freeform 42"/>
          <p:cNvSpPr/>
          <p:nvPr/>
        </p:nvSpPr>
        <p:spPr>
          <a:xfrm>
            <a:off x="8191500" y="952500"/>
            <a:ext cx="3429000" cy="5334000"/>
          </a:xfrm>
          <a:custGeom>
            <a:avLst/>
            <a:gdLst/>
            <a:ahLst/>
            <a:cxnLst/>
            <a:rect l="l" t="t" r="r" b="b"/>
            <a:pathLst>
              <a:path w="3429000" h="53340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5181600"/>
                </a:lnTo>
                <a:cubicBezTo>
                  <a:pt x="3429000" y="5265768"/>
                  <a:pt x="3360768" y="5334000"/>
                  <a:pt x="3276600" y="5334000"/>
                </a:cubicBezTo>
                <a:lnTo>
                  <a:pt x="152400" y="5334000"/>
                </a:lnTo>
                <a:cubicBezTo>
                  <a:pt x="68232" y="5334000"/>
                  <a:pt x="0" y="5265768"/>
                  <a:pt x="0" y="5181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43" name="Freeform 43"/>
          <p:cNvSpPr/>
          <p:nvPr/>
        </p:nvSpPr>
        <p:spPr>
          <a:xfrm>
            <a:off x="8191500" y="952500"/>
            <a:ext cx="3429000" cy="533400"/>
          </a:xfrm>
          <a:custGeom>
            <a:avLst/>
            <a:gdLst/>
            <a:ahLst/>
            <a:cxnLst/>
            <a:rect l="l" t="t" r="r" b="b"/>
            <a:pathLst>
              <a:path w="3429000" h="533400">
                <a:moveTo>
                  <a:pt x="152400" y="0"/>
                </a:moveTo>
                <a:lnTo>
                  <a:pt x="3276600" y="0"/>
                </a:lnTo>
                <a:cubicBezTo>
                  <a:pt x="3360768" y="0"/>
                  <a:pt x="3429000" y="68232"/>
                  <a:pt x="3429000" y="152400"/>
                </a:cubicBezTo>
                <a:lnTo>
                  <a:pt x="3429000" y="381000"/>
                </a:lnTo>
                <a:cubicBezTo>
                  <a:pt x="3429000" y="465168"/>
                  <a:pt x="3360768" y="533400"/>
                  <a:pt x="3276600" y="533400"/>
                </a:cubicBezTo>
                <a:lnTo>
                  <a:pt x="152400" y="533400"/>
                </a:lnTo>
                <a:cubicBezTo>
                  <a:pt x="68232" y="533400"/>
                  <a:pt x="0" y="465168"/>
                  <a:pt x="0" y="3810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8191500" y="1333500"/>
            <a:ext cx="3429000" cy="15240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196864" y="11334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多级缓存策略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9696449" y="1704975"/>
            <a:ext cx="342901" cy="381000"/>
            <a:chOff x="9696449" y="1704975"/>
            <a:chExt cx="342901" cy="381000"/>
          </a:xfrm>
        </p:grpSpPr>
        <p:sp>
          <p:nvSpPr>
            <p:cNvPr id="46" name="Freeform 46"/>
            <p:cNvSpPr/>
            <p:nvPr/>
          </p:nvSpPr>
          <p:spPr>
            <a:xfrm>
              <a:off x="9696450" y="1966551"/>
              <a:ext cx="342900" cy="119424"/>
            </a:xfrm>
            <a:custGeom>
              <a:avLst/>
              <a:gdLst/>
              <a:ahLst/>
              <a:cxnLst/>
              <a:rect l="l" t="t" r="r" b="b"/>
              <a:pathLst>
                <a:path w="342900" h="119424">
                  <a:moveTo>
                    <a:pt x="0" y="0"/>
                  </a:moveTo>
                  <a:cubicBezTo>
                    <a:pt x="37490" y="28708"/>
                    <a:pt x="99708" y="43224"/>
                    <a:pt x="171450" y="43224"/>
                  </a:cubicBezTo>
                  <a:cubicBezTo>
                    <a:pt x="243078" y="43224"/>
                    <a:pt x="305276" y="28746"/>
                    <a:pt x="342900" y="324"/>
                  </a:cubicBezTo>
                  <a:lnTo>
                    <a:pt x="342900" y="43224"/>
                  </a:lnTo>
                  <a:cubicBezTo>
                    <a:pt x="342900" y="89421"/>
                    <a:pt x="268700" y="118205"/>
                    <a:pt x="177298" y="119386"/>
                  </a:cubicBezTo>
                  <a:lnTo>
                    <a:pt x="171450" y="119424"/>
                  </a:lnTo>
                  <a:cubicBezTo>
                    <a:pt x="77381" y="119424"/>
                    <a:pt x="0" y="90411"/>
                    <a:pt x="0" y="43224"/>
                  </a:cubicBezTo>
                  <a:close/>
                </a:path>
              </a:pathLst>
            </a:custGeom>
            <a:solidFill>
              <a:srgbClr val="0D47A1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696450" y="1852251"/>
              <a:ext cx="342900" cy="119424"/>
            </a:xfrm>
            <a:custGeom>
              <a:avLst/>
              <a:gdLst/>
              <a:ahLst/>
              <a:cxnLst/>
              <a:rect l="l" t="t" r="r" b="b"/>
              <a:pathLst>
                <a:path w="342900" h="119424">
                  <a:moveTo>
                    <a:pt x="0" y="0"/>
                  </a:moveTo>
                  <a:cubicBezTo>
                    <a:pt x="37490" y="28708"/>
                    <a:pt x="99708" y="43224"/>
                    <a:pt x="171450" y="43224"/>
                  </a:cubicBezTo>
                  <a:cubicBezTo>
                    <a:pt x="243078" y="43224"/>
                    <a:pt x="305276" y="28746"/>
                    <a:pt x="342900" y="324"/>
                  </a:cubicBezTo>
                  <a:lnTo>
                    <a:pt x="342900" y="43224"/>
                  </a:lnTo>
                  <a:cubicBezTo>
                    <a:pt x="342900" y="90411"/>
                    <a:pt x="265519" y="119424"/>
                    <a:pt x="171450" y="119424"/>
                  </a:cubicBezTo>
                  <a:cubicBezTo>
                    <a:pt x="80048" y="119424"/>
                    <a:pt x="4382" y="92031"/>
                    <a:pt x="400" y="47130"/>
                  </a:cubicBezTo>
                  <a:lnTo>
                    <a:pt x="95" y="45206"/>
                  </a:lnTo>
                  <a:lnTo>
                    <a:pt x="0" y="43224"/>
                  </a:lnTo>
                  <a:close/>
                </a:path>
              </a:pathLst>
            </a:custGeom>
            <a:solidFill>
              <a:srgbClr val="0D47A1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696449" y="1704975"/>
              <a:ext cx="342901" cy="152400"/>
            </a:xfrm>
            <a:custGeom>
              <a:avLst/>
              <a:gdLst/>
              <a:ahLst/>
              <a:cxnLst/>
              <a:rect l="l" t="t" r="r" b="b"/>
              <a:pathLst>
                <a:path w="342901" h="152400">
                  <a:moveTo>
                    <a:pt x="171451" y="0"/>
                  </a:moveTo>
                  <a:cubicBezTo>
                    <a:pt x="191283" y="0"/>
                    <a:pt x="210390" y="1295"/>
                    <a:pt x="228163" y="3772"/>
                  </a:cubicBezTo>
                  <a:lnTo>
                    <a:pt x="237098" y="5124"/>
                  </a:lnTo>
                  <a:cubicBezTo>
                    <a:pt x="247766" y="6902"/>
                    <a:pt x="257837" y="9112"/>
                    <a:pt x="267311" y="11754"/>
                  </a:cubicBezTo>
                  <a:lnTo>
                    <a:pt x="275693" y="14249"/>
                  </a:lnTo>
                  <a:lnTo>
                    <a:pt x="277122" y="14707"/>
                  </a:lnTo>
                  <a:cubicBezTo>
                    <a:pt x="282306" y="16411"/>
                    <a:pt x="287422" y="18318"/>
                    <a:pt x="292457" y="20422"/>
                  </a:cubicBezTo>
                  <a:lnTo>
                    <a:pt x="296248" y="22060"/>
                  </a:lnTo>
                  <a:cubicBezTo>
                    <a:pt x="303043" y="25133"/>
                    <a:pt x="309183" y="28499"/>
                    <a:pt x="314669" y="32156"/>
                  </a:cubicBezTo>
                  <a:cubicBezTo>
                    <a:pt x="316765" y="33553"/>
                    <a:pt x="318752" y="34982"/>
                    <a:pt x="320632" y="36443"/>
                  </a:cubicBezTo>
                  <a:cubicBezTo>
                    <a:pt x="325393" y="40137"/>
                    <a:pt x="329675" y="44412"/>
                    <a:pt x="333376" y="49168"/>
                  </a:cubicBezTo>
                  <a:lnTo>
                    <a:pt x="335110" y="51606"/>
                  </a:lnTo>
                  <a:cubicBezTo>
                    <a:pt x="335999" y="52940"/>
                    <a:pt x="336818" y="54280"/>
                    <a:pt x="337567" y="55626"/>
                  </a:cubicBezTo>
                  <a:lnTo>
                    <a:pt x="338901" y="58274"/>
                  </a:lnTo>
                  <a:cubicBezTo>
                    <a:pt x="340971" y="62719"/>
                    <a:pt x="342241" y="67354"/>
                    <a:pt x="342711" y="72180"/>
                  </a:cubicBezTo>
                  <a:lnTo>
                    <a:pt x="342901" y="76200"/>
                  </a:lnTo>
                  <a:cubicBezTo>
                    <a:pt x="342901" y="123387"/>
                    <a:pt x="265520" y="152400"/>
                    <a:pt x="171451" y="152400"/>
                  </a:cubicBezTo>
                  <a:cubicBezTo>
                    <a:pt x="80050" y="152400"/>
                    <a:pt x="4383" y="125006"/>
                    <a:pt x="402" y="80105"/>
                  </a:cubicBezTo>
                  <a:cubicBezTo>
                    <a:pt x="134" y="78821"/>
                    <a:pt x="0" y="77512"/>
                    <a:pt x="1" y="76200"/>
                  </a:cubicBezTo>
                  <a:lnTo>
                    <a:pt x="97" y="74219"/>
                  </a:lnTo>
                  <a:lnTo>
                    <a:pt x="402" y="72314"/>
                  </a:lnTo>
                  <a:cubicBezTo>
                    <a:pt x="4307" y="28384"/>
                    <a:pt x="76792" y="1200"/>
                    <a:pt x="165508" y="38"/>
                  </a:cubicBezTo>
                  <a:close/>
                </a:path>
              </a:pathLst>
            </a:custGeom>
            <a:solidFill>
              <a:srgbClr val="0D47A1"/>
            </a:solidFill>
            <a:ln>
              <a:noFill/>
            </a:ln>
          </p:spPr>
        </p:sp>
      </p:grpSp>
      <p:sp>
        <p:nvSpPr>
          <p:cNvPr id="50" name="TextBox 50"/>
          <p:cNvSpPr txBox="1"/>
          <p:nvPr/>
        </p:nvSpPr>
        <p:spPr>
          <a:xfrm>
            <a:off x="9145467" y="2299335"/>
            <a:ext cx="15210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Cache-Aside 模式</a:t>
            </a:r>
          </a:p>
        </p:txBody>
      </p:sp>
      <p:sp>
        <p:nvSpPr>
          <p:cNvPr id="51" name="Freeform 51"/>
          <p:cNvSpPr/>
          <p:nvPr/>
        </p:nvSpPr>
        <p:spPr>
          <a:xfrm>
            <a:off x="8477250" y="2619375"/>
            <a:ext cx="2857500" cy="523875"/>
          </a:xfrm>
          <a:custGeom>
            <a:avLst/>
            <a:gdLst/>
            <a:ahLst/>
            <a:cxnLst/>
            <a:rect l="l" t="t" r="r" b="b"/>
            <a:pathLst>
              <a:path w="2857500" h="52387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447675"/>
                </a:lnTo>
                <a:cubicBezTo>
                  <a:pt x="2857500" y="489759"/>
                  <a:pt x="2823384" y="523875"/>
                  <a:pt x="2781300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9236508" y="2706052"/>
            <a:ext cx="13389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防穿透 — 缓存空值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033605" y="2931795"/>
            <a:ext cx="17447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null 值缓存 5 分钟，TTL 缩短</a:t>
            </a:r>
          </a:p>
        </p:txBody>
      </p:sp>
      <p:sp>
        <p:nvSpPr>
          <p:cNvPr id="54" name="Freeform 54"/>
          <p:cNvSpPr/>
          <p:nvPr/>
        </p:nvSpPr>
        <p:spPr>
          <a:xfrm>
            <a:off x="8477250" y="3286125"/>
            <a:ext cx="2857500" cy="523875"/>
          </a:xfrm>
          <a:custGeom>
            <a:avLst/>
            <a:gdLst/>
            <a:ahLst/>
            <a:cxnLst/>
            <a:rect l="l" t="t" r="r" b="b"/>
            <a:pathLst>
              <a:path w="2857500" h="52387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447675"/>
                </a:lnTo>
                <a:cubicBezTo>
                  <a:pt x="2857500" y="489759"/>
                  <a:pt x="2823384" y="523875"/>
                  <a:pt x="2781300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240533" y="3372802"/>
            <a:ext cx="13309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防雪崩 — 随机 TTL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974455" y="3598545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TTL + random(60~300) 秒偏移</a:t>
            </a:r>
          </a:p>
        </p:txBody>
      </p:sp>
      <p:sp>
        <p:nvSpPr>
          <p:cNvPr id="57" name="Freeform 57"/>
          <p:cNvSpPr/>
          <p:nvPr/>
        </p:nvSpPr>
        <p:spPr>
          <a:xfrm>
            <a:off x="8477250" y="3952875"/>
            <a:ext cx="2857500" cy="523875"/>
          </a:xfrm>
          <a:custGeom>
            <a:avLst/>
            <a:gdLst/>
            <a:ahLst/>
            <a:cxnLst/>
            <a:rect l="l" t="t" r="r" b="b"/>
            <a:pathLst>
              <a:path w="2857500" h="52387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447675"/>
                </a:lnTo>
                <a:cubicBezTo>
                  <a:pt x="2857500" y="489759"/>
                  <a:pt x="2823384" y="523875"/>
                  <a:pt x="2781300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075488" y="4039552"/>
            <a:ext cx="16610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主动失效 — 更新即删除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171622" y="426529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数据变更时同步清除缓存</a:t>
            </a:r>
          </a:p>
        </p:txBody>
      </p:sp>
      <p:sp>
        <p:nvSpPr>
          <p:cNvPr id="60" name="Freeform 60"/>
          <p:cNvSpPr/>
          <p:nvPr/>
        </p:nvSpPr>
        <p:spPr>
          <a:xfrm>
            <a:off x="8477250" y="4714875"/>
            <a:ext cx="2857500" cy="571500"/>
          </a:xfrm>
          <a:custGeom>
            <a:avLst/>
            <a:gdLst/>
            <a:ahLst/>
            <a:cxnLst/>
            <a:rect l="l" t="t" r="r" b="b"/>
            <a:pathLst>
              <a:path w="2857500" h="57150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495300"/>
                </a:lnTo>
                <a:cubicBezTo>
                  <a:pt x="2857500" y="537384"/>
                  <a:pt x="2823384" y="571500"/>
                  <a:pt x="27813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9090260" y="4823460"/>
            <a:ext cx="16314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20+ Redis 缓存 Key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992945" y="5085874"/>
            <a:ext cx="18261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覆盖用户/商品/分类/会话等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3920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07 / 10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3606" y="35623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系统演示</a:t>
            </a:r>
          </a:p>
        </p:txBody>
      </p:sp>
      <p:sp>
        <p:nvSpPr>
          <p:cNvPr id="5" name="Line 5"/>
          <p:cNvSpPr/>
          <p:nvPr/>
        </p:nvSpPr>
        <p:spPr>
          <a:xfrm>
            <a:off x="5143500" y="80962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2338864" y="10763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微信小程序端</a:t>
            </a:r>
          </a:p>
        </p:txBody>
      </p:sp>
      <p:sp>
        <p:nvSpPr>
          <p:cNvPr id="7" name="Freeform 7"/>
          <p:cNvSpPr/>
          <p:nvPr/>
        </p:nvSpPr>
        <p:spPr>
          <a:xfrm>
            <a:off x="1619250" y="1381125"/>
            <a:ext cx="2857500" cy="4953000"/>
          </a:xfrm>
          <a:custGeom>
            <a:avLst/>
            <a:gdLst/>
            <a:ahLst/>
            <a:cxnLst/>
            <a:rect l="l" t="t" r="r" b="b"/>
            <a:pathLst>
              <a:path w="2857500" h="4953000">
                <a:moveTo>
                  <a:pt x="228600" y="0"/>
                </a:moveTo>
                <a:lnTo>
                  <a:pt x="2628900" y="0"/>
                </a:lnTo>
                <a:cubicBezTo>
                  <a:pt x="2755152" y="0"/>
                  <a:pt x="2857500" y="102348"/>
                  <a:pt x="2857500" y="228600"/>
                </a:cubicBezTo>
                <a:lnTo>
                  <a:pt x="2857500" y="4724400"/>
                </a:lnTo>
                <a:cubicBezTo>
                  <a:pt x="2857500" y="4850652"/>
                  <a:pt x="2755152" y="4953000"/>
                  <a:pt x="2628900" y="4953000"/>
                </a:cubicBezTo>
                <a:lnTo>
                  <a:pt x="228600" y="4953000"/>
                </a:lnTo>
                <a:cubicBezTo>
                  <a:pt x="102348" y="4953000"/>
                  <a:pt x="0" y="4850652"/>
                  <a:pt x="0" y="47244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5F7FA"/>
          </a:solidFill>
          <a:ln w="19050">
            <a:solidFill>
              <a:srgbClr val="E0E0E0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762125" y="1714500"/>
            <a:ext cx="2571750" cy="4286250"/>
          </a:xfrm>
          <a:custGeom>
            <a:avLst/>
            <a:gdLst/>
            <a:ahLst/>
            <a:cxnLst/>
            <a:rect l="l" t="t" r="r" b="b"/>
            <a:pathLst>
              <a:path w="2571750" h="4286250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4210050"/>
                </a:lnTo>
                <a:cubicBezTo>
                  <a:pt x="2571750" y="4252134"/>
                  <a:pt x="2537634" y="4286250"/>
                  <a:pt x="2495550" y="4286250"/>
                </a:cubicBezTo>
                <a:lnTo>
                  <a:pt x="76200" y="4286250"/>
                </a:lnTo>
                <a:cubicBezTo>
                  <a:pt x="34116" y="4286250"/>
                  <a:pt x="0" y="4252134"/>
                  <a:pt x="0" y="421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762125" y="5667375"/>
            <a:ext cx="2571750" cy="333375"/>
          </a:xfrm>
          <a:prstGeom prst="rect">
            <a:avLst/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138362" y="58054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首页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28938" y="58054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发布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19512" y="58054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消息</a:t>
            </a:r>
          </a:p>
        </p:txBody>
      </p:sp>
      <p:sp>
        <p:nvSpPr>
          <p:cNvPr id="13" name="Freeform 13"/>
          <p:cNvSpPr/>
          <p:nvPr/>
        </p:nvSpPr>
        <p:spPr>
          <a:xfrm>
            <a:off x="1762125" y="1714500"/>
            <a:ext cx="2571750" cy="238125"/>
          </a:xfrm>
          <a:custGeom>
            <a:avLst/>
            <a:gdLst/>
            <a:ahLst/>
            <a:cxnLst/>
            <a:rect l="l" t="t" r="r" b="b"/>
            <a:pathLst>
              <a:path w="2571750" h="238125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161925"/>
                </a:lnTo>
                <a:cubicBezTo>
                  <a:pt x="2571750" y="204009"/>
                  <a:pt x="2537634" y="238125"/>
                  <a:pt x="2495550" y="238125"/>
                </a:cubicBezTo>
                <a:lnTo>
                  <a:pt x="76200" y="238125"/>
                </a:lnTo>
                <a:cubicBezTo>
                  <a:pt x="34116" y="238125"/>
                  <a:pt x="0" y="204009"/>
                  <a:pt x="0" y="1619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796540" y="17968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轻院二手</a:t>
            </a:r>
          </a:p>
        </p:txBody>
      </p:sp>
      <p:sp>
        <p:nvSpPr>
          <p:cNvPr id="15" name="Freeform 15"/>
          <p:cNvSpPr/>
          <p:nvPr/>
        </p:nvSpPr>
        <p:spPr>
          <a:xfrm>
            <a:off x="1857375" y="2047875"/>
            <a:ext cx="2381250" cy="762000"/>
          </a:xfrm>
          <a:custGeom>
            <a:avLst/>
            <a:gdLst/>
            <a:ahLst/>
            <a:cxnLst/>
            <a:rect l="l" t="t" r="r" b="b"/>
            <a:pathLst>
              <a:path w="2381250" h="76200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685800"/>
                </a:lnTo>
                <a:cubicBezTo>
                  <a:pt x="2381250" y="727884"/>
                  <a:pt x="2347134" y="762000"/>
                  <a:pt x="230505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602802" y="2379345"/>
            <a:ext cx="8903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0CAF9"/>
                </a:solidFill>
                <a:latin typeface="Arial"/>
                <a:ea typeface="Microsoft YaHei"/>
                <a:cs typeface="Arial"/>
              </a:rPr>
              <a:t>Banner 运营位</a:t>
            </a:r>
          </a:p>
        </p:txBody>
      </p:sp>
      <p:sp>
        <p:nvSpPr>
          <p:cNvPr id="17" name="Ellipse 17"/>
          <p:cNvSpPr/>
          <p:nvPr/>
        </p:nvSpPr>
        <p:spPr>
          <a:xfrm>
            <a:off x="2000250" y="2857500"/>
            <a:ext cx="381000" cy="381000"/>
          </a:xfrm>
          <a:prstGeom prst="ellipse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2667000" y="2857500"/>
            <a:ext cx="381000" cy="381000"/>
          </a:xfrm>
          <a:prstGeom prst="ellipse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3333750" y="2857500"/>
            <a:ext cx="381000" cy="381000"/>
          </a:xfrm>
          <a:prstGeom prst="ellipse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4000500" y="2857500"/>
            <a:ext cx="381000" cy="381000"/>
          </a:xfrm>
          <a:prstGeom prst="ellipse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083594" y="3308509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书籍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50344" y="3308509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服饰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17094" y="3308509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电子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083844" y="3308509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运动</a:t>
            </a:r>
          </a:p>
        </p:txBody>
      </p:sp>
      <p:sp>
        <p:nvSpPr>
          <p:cNvPr id="25" name="Freeform 25"/>
          <p:cNvSpPr/>
          <p:nvPr/>
        </p:nvSpPr>
        <p:spPr>
          <a:xfrm>
            <a:off x="1857375" y="3524250"/>
            <a:ext cx="1123950" cy="952500"/>
          </a:xfrm>
          <a:custGeom>
            <a:avLst/>
            <a:gdLst/>
            <a:ahLst/>
            <a:cxnLst/>
            <a:rect l="l" t="t" r="r" b="b"/>
            <a:pathLst>
              <a:path w="1123950" h="952500">
                <a:moveTo>
                  <a:pt x="57150" y="0"/>
                </a:moveTo>
                <a:lnTo>
                  <a:pt x="1066800" y="0"/>
                </a:lnTo>
                <a:cubicBezTo>
                  <a:pt x="1098363" y="0"/>
                  <a:pt x="1123950" y="25587"/>
                  <a:pt x="1123950" y="57150"/>
                </a:cubicBezTo>
                <a:lnTo>
                  <a:pt x="1123950" y="895350"/>
                </a:lnTo>
                <a:cubicBezTo>
                  <a:pt x="1123950" y="926913"/>
                  <a:pt x="1098363" y="952500"/>
                  <a:pt x="106680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3114675" y="3524250"/>
            <a:ext cx="1123950" cy="952500"/>
          </a:xfrm>
          <a:custGeom>
            <a:avLst/>
            <a:gdLst/>
            <a:ahLst/>
            <a:cxnLst/>
            <a:rect l="l" t="t" r="r" b="b"/>
            <a:pathLst>
              <a:path w="1123950" h="952500">
                <a:moveTo>
                  <a:pt x="57150" y="0"/>
                </a:moveTo>
                <a:lnTo>
                  <a:pt x="1066800" y="0"/>
                </a:lnTo>
                <a:cubicBezTo>
                  <a:pt x="1098363" y="0"/>
                  <a:pt x="1123950" y="25587"/>
                  <a:pt x="1123950" y="57150"/>
                </a:cubicBezTo>
                <a:lnTo>
                  <a:pt x="1123950" y="895350"/>
                </a:lnTo>
                <a:cubicBezTo>
                  <a:pt x="1123950" y="926913"/>
                  <a:pt x="1098363" y="952500"/>
                  <a:pt x="106680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1857375" y="4572000"/>
            <a:ext cx="1123950" cy="952500"/>
          </a:xfrm>
          <a:custGeom>
            <a:avLst/>
            <a:gdLst/>
            <a:ahLst/>
            <a:cxnLst/>
            <a:rect l="l" t="t" r="r" b="b"/>
            <a:pathLst>
              <a:path w="1123950" h="952500">
                <a:moveTo>
                  <a:pt x="57150" y="0"/>
                </a:moveTo>
                <a:lnTo>
                  <a:pt x="1066800" y="0"/>
                </a:lnTo>
                <a:cubicBezTo>
                  <a:pt x="1098363" y="0"/>
                  <a:pt x="1123950" y="25587"/>
                  <a:pt x="1123950" y="57150"/>
                </a:cubicBezTo>
                <a:lnTo>
                  <a:pt x="1123950" y="895350"/>
                </a:lnTo>
                <a:cubicBezTo>
                  <a:pt x="1123950" y="926913"/>
                  <a:pt x="1098363" y="952500"/>
                  <a:pt x="106680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3114675" y="4572000"/>
            <a:ext cx="1123950" cy="952500"/>
          </a:xfrm>
          <a:custGeom>
            <a:avLst/>
            <a:gdLst/>
            <a:ahLst/>
            <a:cxnLst/>
            <a:rect l="l" t="t" r="r" b="b"/>
            <a:pathLst>
              <a:path w="1123950" h="952500">
                <a:moveTo>
                  <a:pt x="57150" y="0"/>
                </a:moveTo>
                <a:lnTo>
                  <a:pt x="1066800" y="0"/>
                </a:lnTo>
                <a:cubicBezTo>
                  <a:pt x="1098363" y="0"/>
                  <a:pt x="1123950" y="25587"/>
                  <a:pt x="1123950" y="57150"/>
                </a:cubicBezTo>
                <a:lnTo>
                  <a:pt x="1123950" y="895350"/>
                </a:lnTo>
                <a:cubicBezTo>
                  <a:pt x="1123950" y="926913"/>
                  <a:pt x="1098363" y="952500"/>
                  <a:pt x="106680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190750" y="396716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商品卡片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48050" y="396716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商品卡片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190750" y="501491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商品卡片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448050" y="501491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商品卡片</a:t>
            </a:r>
          </a:p>
        </p:txBody>
      </p:sp>
      <p:sp>
        <p:nvSpPr>
          <p:cNvPr id="33" name="Line 33"/>
          <p:cNvSpPr/>
          <p:nvPr/>
        </p:nvSpPr>
        <p:spPr>
          <a:xfrm>
            <a:off x="6096000" y="1381125"/>
            <a:ext cx="9525" cy="4524375"/>
          </a:xfrm>
          <a:custGeom>
            <a:avLst/>
            <a:gdLst/>
            <a:ahLst/>
            <a:cxnLst/>
            <a:rect l="l" t="t" r="r" b="b"/>
            <a:pathLst>
              <a:path w="9525" h="4524375">
                <a:moveTo>
                  <a:pt x="0" y="0"/>
                </a:moveTo>
                <a:lnTo>
                  <a:pt x="0" y="4524375"/>
                </a:lnTo>
              </a:path>
            </a:pathLst>
          </a:custGeom>
          <a:noFill/>
          <a:ln w="9525">
            <a:solidFill>
              <a:srgbClr val="E0E0E0"/>
            </a:solidFill>
            <a:custDash>
              <a:ds d="600000" sp="400000"/>
            </a:custDash>
          </a:ln>
        </p:spPr>
      </p:sp>
      <p:sp>
        <p:nvSpPr>
          <p:cNvPr id="34" name="TextBox 34"/>
          <p:cNvSpPr txBox="1"/>
          <p:nvPr/>
        </p:nvSpPr>
        <p:spPr>
          <a:xfrm>
            <a:off x="8664892" y="1076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管理后台</a:t>
            </a:r>
          </a:p>
        </p:txBody>
      </p:sp>
      <p:sp>
        <p:nvSpPr>
          <p:cNvPr id="35" name="Freeform 35"/>
          <p:cNvSpPr/>
          <p:nvPr/>
        </p:nvSpPr>
        <p:spPr>
          <a:xfrm>
            <a:off x="6477000" y="1381125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5143500" h="3429000">
                <a:moveTo>
                  <a:pt x="95250" y="0"/>
                </a:moveTo>
                <a:lnTo>
                  <a:pt x="5048250" y="0"/>
                </a:lnTo>
                <a:cubicBezTo>
                  <a:pt x="5100855" y="0"/>
                  <a:pt x="5143500" y="42645"/>
                  <a:pt x="5143500" y="95250"/>
                </a:cubicBezTo>
                <a:lnTo>
                  <a:pt x="5143500" y="3333750"/>
                </a:lnTo>
                <a:cubicBezTo>
                  <a:pt x="5143500" y="3386355"/>
                  <a:pt x="5100855" y="3429000"/>
                  <a:pt x="5048250" y="3429000"/>
                </a:cubicBezTo>
                <a:lnTo>
                  <a:pt x="95250" y="3429000"/>
                </a:lnTo>
                <a:cubicBezTo>
                  <a:pt x="42645" y="3429000"/>
                  <a:pt x="0" y="3386355"/>
                  <a:pt x="0" y="3333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19050">
            <a:solidFill>
              <a:srgbClr val="E0E0E0"/>
            </a:solidFill>
          </a:ln>
        </p:spPr>
      </p:sp>
      <p:sp>
        <p:nvSpPr>
          <p:cNvPr id="36" name="Freeform 36"/>
          <p:cNvSpPr/>
          <p:nvPr/>
        </p:nvSpPr>
        <p:spPr>
          <a:xfrm>
            <a:off x="6477000" y="1381125"/>
            <a:ext cx="5143500" cy="285750"/>
          </a:xfrm>
          <a:custGeom>
            <a:avLst/>
            <a:gdLst/>
            <a:ahLst/>
            <a:cxnLst/>
            <a:rect l="l" t="t" r="r" b="b"/>
            <a:pathLst>
              <a:path w="5143500" h="285750">
                <a:moveTo>
                  <a:pt x="95250" y="0"/>
                </a:moveTo>
                <a:lnTo>
                  <a:pt x="5048250" y="0"/>
                </a:lnTo>
                <a:cubicBezTo>
                  <a:pt x="5100855" y="0"/>
                  <a:pt x="5143500" y="42645"/>
                  <a:pt x="5143500" y="95250"/>
                </a:cubicBezTo>
                <a:lnTo>
                  <a:pt x="5143500" y="190500"/>
                </a:lnTo>
                <a:cubicBezTo>
                  <a:pt x="5143500" y="243105"/>
                  <a:pt x="5100855" y="285750"/>
                  <a:pt x="5048250" y="285750"/>
                </a:cubicBezTo>
                <a:lnTo>
                  <a:pt x="95250" y="285750"/>
                </a:lnTo>
                <a:cubicBezTo>
                  <a:pt x="42645" y="285750"/>
                  <a:pt x="0" y="243105"/>
                  <a:pt x="0" y="190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6667500" y="1476375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6858000" y="1476375"/>
            <a:ext cx="95250" cy="9525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7048500" y="1476375"/>
            <a:ext cx="95250" cy="9525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7334250" y="1457325"/>
            <a:ext cx="1905000" cy="133350"/>
          </a:xfrm>
          <a:custGeom>
            <a:avLst/>
            <a:gdLst/>
            <a:ahLst/>
            <a:cxnLst/>
            <a:rect l="l" t="t" r="r" b="b"/>
            <a:pathLst>
              <a:path w="1905000" h="133350">
                <a:moveTo>
                  <a:pt x="66675" y="0"/>
                </a:moveTo>
                <a:lnTo>
                  <a:pt x="1838325" y="0"/>
                </a:lnTo>
                <a:cubicBezTo>
                  <a:pt x="1875149" y="0"/>
                  <a:pt x="1905000" y="29851"/>
                  <a:pt x="1905000" y="66675"/>
                </a:cubicBezTo>
                <a:lnTo>
                  <a:pt x="1905000" y="66675"/>
                </a:lnTo>
                <a:cubicBezTo>
                  <a:pt x="1905000" y="103499"/>
                  <a:pt x="1875149" y="133350"/>
                  <a:pt x="1838325" y="133350"/>
                </a:cubicBezTo>
                <a:lnTo>
                  <a:pt x="66675" y="133350"/>
                </a:lnTo>
                <a:cubicBezTo>
                  <a:pt x="29851" y="133350"/>
                  <a:pt x="0" y="103499"/>
                  <a:pt x="0" y="666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974616" y="1497330"/>
            <a:ext cx="62426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localhost:5173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477000" y="1666875"/>
            <a:ext cx="952500" cy="3143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724650" y="182403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数据概览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724650" y="206216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商品审核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724650" y="230028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认证审核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724650" y="253841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用户管理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724650" y="277653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订单管理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724650" y="301466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举报处理</a:t>
            </a:r>
          </a:p>
        </p:txBody>
      </p:sp>
      <p:sp>
        <p:nvSpPr>
          <p:cNvPr id="49" name="Rectangle 49"/>
          <p:cNvSpPr/>
          <p:nvPr/>
        </p:nvSpPr>
        <p:spPr>
          <a:xfrm>
            <a:off x="7429500" y="1666875"/>
            <a:ext cx="4191000" cy="3143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0" name="Freeform 50"/>
          <p:cNvSpPr/>
          <p:nvPr/>
        </p:nvSpPr>
        <p:spPr>
          <a:xfrm>
            <a:off x="7524750" y="1762125"/>
            <a:ext cx="952500" cy="571500"/>
          </a:xfrm>
          <a:custGeom>
            <a:avLst/>
            <a:gdLst/>
            <a:ahLst/>
            <a:cxnLst/>
            <a:rect l="l" t="t" r="r" b="b"/>
            <a:pathLst>
              <a:path w="952500" h="571500">
                <a:moveTo>
                  <a:pt x="57150" y="0"/>
                </a:moveTo>
                <a:lnTo>
                  <a:pt x="895350" y="0"/>
                </a:lnTo>
                <a:cubicBezTo>
                  <a:pt x="926913" y="0"/>
                  <a:pt x="952500" y="25587"/>
                  <a:pt x="952500" y="57150"/>
                </a:cubicBezTo>
                <a:lnTo>
                  <a:pt x="952500" y="514350"/>
                </a:lnTo>
                <a:cubicBezTo>
                  <a:pt x="952500" y="545913"/>
                  <a:pt x="926913" y="571500"/>
                  <a:pt x="8953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 w="9525">
            <a:solidFill>
              <a:srgbClr val="90CAF9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7833941" y="1870710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98%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893844" y="2136934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后端</a:t>
            </a:r>
          </a:p>
        </p:txBody>
      </p:sp>
      <p:sp>
        <p:nvSpPr>
          <p:cNvPr id="53" name="Freeform 53"/>
          <p:cNvSpPr/>
          <p:nvPr/>
        </p:nvSpPr>
        <p:spPr>
          <a:xfrm>
            <a:off x="8572500" y="1762125"/>
            <a:ext cx="952500" cy="571500"/>
          </a:xfrm>
          <a:custGeom>
            <a:avLst/>
            <a:gdLst/>
            <a:ahLst/>
            <a:cxnLst/>
            <a:rect l="l" t="t" r="r" b="b"/>
            <a:pathLst>
              <a:path w="952500" h="571500">
                <a:moveTo>
                  <a:pt x="57150" y="0"/>
                </a:moveTo>
                <a:lnTo>
                  <a:pt x="895350" y="0"/>
                </a:lnTo>
                <a:cubicBezTo>
                  <a:pt x="926913" y="0"/>
                  <a:pt x="952500" y="25587"/>
                  <a:pt x="952500" y="57150"/>
                </a:cubicBezTo>
                <a:lnTo>
                  <a:pt x="952500" y="514350"/>
                </a:lnTo>
                <a:cubicBezTo>
                  <a:pt x="952500" y="545913"/>
                  <a:pt x="926913" y="571500"/>
                  <a:pt x="8953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5E9"/>
          </a:solidFill>
          <a:ln w="9525">
            <a:solidFill>
              <a:srgbClr val="A5D6A7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8881691" y="1870710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99%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892302" y="2136934"/>
            <a:ext cx="31289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管理端</a:t>
            </a:r>
          </a:p>
        </p:txBody>
      </p:sp>
      <p:sp>
        <p:nvSpPr>
          <p:cNvPr id="56" name="Freeform 56"/>
          <p:cNvSpPr/>
          <p:nvPr/>
        </p:nvSpPr>
        <p:spPr>
          <a:xfrm>
            <a:off x="9620250" y="1762125"/>
            <a:ext cx="952500" cy="571500"/>
          </a:xfrm>
          <a:custGeom>
            <a:avLst/>
            <a:gdLst/>
            <a:ahLst/>
            <a:cxnLst/>
            <a:rect l="l" t="t" r="r" b="b"/>
            <a:pathLst>
              <a:path w="952500" h="571500">
                <a:moveTo>
                  <a:pt x="57150" y="0"/>
                </a:moveTo>
                <a:lnTo>
                  <a:pt x="895350" y="0"/>
                </a:lnTo>
                <a:cubicBezTo>
                  <a:pt x="926913" y="0"/>
                  <a:pt x="952500" y="25587"/>
                  <a:pt x="952500" y="57150"/>
                </a:cubicBezTo>
                <a:lnTo>
                  <a:pt x="952500" y="514350"/>
                </a:lnTo>
                <a:cubicBezTo>
                  <a:pt x="952500" y="545913"/>
                  <a:pt x="926913" y="571500"/>
                  <a:pt x="8953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3E0"/>
          </a:solidFill>
          <a:ln w="9525">
            <a:solidFill>
              <a:srgbClr val="FFB74D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929441" y="1870710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96%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940052" y="2136934"/>
            <a:ext cx="31289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小程序</a:t>
            </a:r>
          </a:p>
        </p:txBody>
      </p:sp>
      <p:sp>
        <p:nvSpPr>
          <p:cNvPr id="59" name="Freeform 59"/>
          <p:cNvSpPr/>
          <p:nvPr/>
        </p:nvSpPr>
        <p:spPr>
          <a:xfrm>
            <a:off x="7524750" y="2476500"/>
            <a:ext cx="4000500" cy="1143000"/>
          </a:xfrm>
          <a:custGeom>
            <a:avLst/>
            <a:gdLst/>
            <a:ahLst/>
            <a:cxnLst/>
            <a:rect l="l" t="t" r="r" b="b"/>
            <a:pathLst>
              <a:path w="4000500" h="1143000">
                <a:moveTo>
                  <a:pt x="57150" y="0"/>
                </a:moveTo>
                <a:lnTo>
                  <a:pt x="3943350" y="0"/>
                </a:lnTo>
                <a:cubicBezTo>
                  <a:pt x="3974913" y="0"/>
                  <a:pt x="4000500" y="25587"/>
                  <a:pt x="4000500" y="57150"/>
                </a:cubicBezTo>
                <a:lnTo>
                  <a:pt x="4000500" y="1085850"/>
                </a:lnTo>
                <a:cubicBezTo>
                  <a:pt x="4000500" y="1117413"/>
                  <a:pt x="3974913" y="1143000"/>
                  <a:pt x="3943350" y="1143000"/>
                </a:cubicBezTo>
                <a:lnTo>
                  <a:pt x="57150" y="1143000"/>
                </a:lnTo>
                <a:cubicBezTo>
                  <a:pt x="25587" y="1143000"/>
                  <a:pt x="0" y="1117413"/>
                  <a:pt x="0" y="1085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8846487" y="2998470"/>
            <a:ext cx="13570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ECharts 数据图表区域</a:t>
            </a:r>
          </a:p>
        </p:txBody>
      </p:sp>
      <p:sp>
        <p:nvSpPr>
          <p:cNvPr id="61" name="Freeform 61"/>
          <p:cNvSpPr/>
          <p:nvPr/>
        </p:nvSpPr>
        <p:spPr>
          <a:xfrm>
            <a:off x="7524750" y="3762375"/>
            <a:ext cx="4000500" cy="952500"/>
          </a:xfrm>
          <a:custGeom>
            <a:avLst/>
            <a:gdLst/>
            <a:ahLst/>
            <a:cxnLst/>
            <a:rect l="l" t="t" r="r" b="b"/>
            <a:pathLst>
              <a:path w="4000500" h="952500">
                <a:moveTo>
                  <a:pt x="57150" y="0"/>
                </a:moveTo>
                <a:lnTo>
                  <a:pt x="3943350" y="0"/>
                </a:lnTo>
                <a:cubicBezTo>
                  <a:pt x="3974913" y="0"/>
                  <a:pt x="4000500" y="25587"/>
                  <a:pt x="4000500" y="57150"/>
                </a:cubicBezTo>
                <a:lnTo>
                  <a:pt x="4000500" y="895350"/>
                </a:lnTo>
                <a:cubicBezTo>
                  <a:pt x="4000500" y="926913"/>
                  <a:pt x="3974913" y="952500"/>
                  <a:pt x="394335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8987790" y="418909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审核管理表格区域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486727" y="5093018"/>
            <a:ext cx="3218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微信小程序 + 管理后台双端完整实现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085874" y="54111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实际运行效果请参见现场演示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3920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08 / 10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571500" y="381000"/>
            <a:ext cx="57150" cy="304800"/>
          </a:xfrm>
          <a:custGeom>
            <a:avLst/>
            <a:gdLst/>
            <a:ahLst/>
            <a:cxnLst/>
            <a:rect l="l" t="t" r="r" b="b"/>
            <a:pathLst>
              <a:path w="57150" h="3048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76225"/>
                </a:lnTo>
                <a:cubicBezTo>
                  <a:pt x="57150" y="292007"/>
                  <a:pt x="44357" y="304800"/>
                  <a:pt x="28575" y="304800"/>
                </a:cubicBezTo>
                <a:lnTo>
                  <a:pt x="28575" y="304800"/>
                </a:lnTo>
                <a:cubicBezTo>
                  <a:pt x="12793" y="304800"/>
                  <a:pt x="0" y="292007"/>
                  <a:pt x="0" y="2762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31520" y="369570"/>
            <a:ext cx="2637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项目总结与成果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952500"/>
            <a:ext cx="5334000" cy="2190750"/>
          </a:xfrm>
          <a:custGeom>
            <a:avLst/>
            <a:gdLst/>
            <a:ahLst/>
            <a:cxnLst/>
            <a:rect l="l" t="t" r="r" b="b"/>
            <a:pathLst>
              <a:path w="5334000" h="2190750">
                <a:moveTo>
                  <a:pt x="152400" y="0"/>
                </a:moveTo>
                <a:lnTo>
                  <a:pt x="5181600" y="0"/>
                </a:lnTo>
                <a:cubicBezTo>
                  <a:pt x="5265768" y="0"/>
                  <a:pt x="5334000" y="68232"/>
                  <a:pt x="5334000" y="152400"/>
                </a:cubicBezTo>
                <a:lnTo>
                  <a:pt x="5334000" y="2038350"/>
                </a:lnTo>
                <a:cubicBezTo>
                  <a:pt x="5334000" y="2122518"/>
                  <a:pt x="5265768" y="2190750"/>
                  <a:pt x="5181600" y="2190750"/>
                </a:cubicBezTo>
                <a:lnTo>
                  <a:pt x="152400" y="2190750"/>
                </a:lnTo>
                <a:cubicBezTo>
                  <a:pt x="68232" y="2190750"/>
                  <a:pt x="0" y="2122518"/>
                  <a:pt x="0" y="2038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7" name="Freeform 7"/>
          <p:cNvSpPr/>
          <p:nvPr/>
        </p:nvSpPr>
        <p:spPr>
          <a:xfrm>
            <a:off x="723900" y="1143000"/>
            <a:ext cx="57150" cy="666750"/>
          </a:xfrm>
          <a:custGeom>
            <a:avLst/>
            <a:gdLst/>
            <a:ahLst/>
            <a:cxnLst/>
            <a:rect l="l" t="t" r="r" b="b"/>
            <a:pathLst>
              <a:path w="57150" h="666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638175"/>
                </a:lnTo>
                <a:cubicBezTo>
                  <a:pt x="57150" y="653957"/>
                  <a:pt x="44357" y="666750"/>
                  <a:pt x="28575" y="666750"/>
                </a:cubicBezTo>
                <a:lnTo>
                  <a:pt x="28575" y="666750"/>
                </a:lnTo>
                <a:cubicBezTo>
                  <a:pt x="12793" y="666750"/>
                  <a:pt x="0" y="653957"/>
                  <a:pt x="0" y="638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35355" y="12639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后端服务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9165" y="1553528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Spring Boot 3.3.7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540" y="1958340"/>
            <a:ext cx="93162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98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49830" y="224980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%</a:t>
            </a:r>
          </a:p>
        </p:txBody>
      </p:sp>
      <p:sp>
        <p:nvSpPr>
          <p:cNvPr id="12" name="Freeform 12"/>
          <p:cNvSpPr/>
          <p:nvPr/>
        </p:nvSpPr>
        <p:spPr>
          <a:xfrm>
            <a:off x="952500" y="271462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0"/>
                </a:moveTo>
                <a:lnTo>
                  <a:pt x="104775" y="0"/>
                </a:lnTo>
                <a:cubicBezTo>
                  <a:pt x="162641" y="0"/>
                  <a:pt x="209550" y="46909"/>
                  <a:pt x="209550" y="104775"/>
                </a:cubicBezTo>
                <a:lnTo>
                  <a:pt x="209550" y="104775"/>
                </a:lnTo>
                <a:cubicBezTo>
                  <a:pt x="209550" y="162641"/>
                  <a:pt x="162641" y="209550"/>
                  <a:pt x="1047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999511" y="2775842"/>
            <a:ext cx="122754" cy="87116"/>
          </a:xfrm>
          <a:custGeom>
            <a:avLst/>
            <a:gdLst/>
            <a:ahLst/>
            <a:cxnLst/>
            <a:rect l="l" t="t" r="r" b="b"/>
            <a:pathLst>
              <a:path w="122754" h="87116">
                <a:moveTo>
                  <a:pt x="119965" y="2789"/>
                </a:moveTo>
                <a:cubicBezTo>
                  <a:pt x="122754" y="5578"/>
                  <a:pt x="122754" y="10100"/>
                  <a:pt x="119965" y="12890"/>
                </a:cubicBezTo>
                <a:lnTo>
                  <a:pt x="48527" y="84328"/>
                </a:lnTo>
                <a:cubicBezTo>
                  <a:pt x="45738" y="87116"/>
                  <a:pt x="41216" y="87116"/>
                  <a:pt x="38426" y="84328"/>
                </a:cubicBezTo>
                <a:lnTo>
                  <a:pt x="2707" y="48609"/>
                </a:lnTo>
                <a:cubicBezTo>
                  <a:pt x="0" y="45806"/>
                  <a:pt x="39" y="41350"/>
                  <a:pt x="2794" y="38595"/>
                </a:cubicBezTo>
                <a:cubicBezTo>
                  <a:pt x="5550" y="35839"/>
                  <a:pt x="10005" y="35800"/>
                  <a:pt x="12809" y="38508"/>
                </a:cubicBezTo>
                <a:lnTo>
                  <a:pt x="43477" y="69176"/>
                </a:lnTo>
                <a:lnTo>
                  <a:pt x="109864" y="2789"/>
                </a:lnTo>
                <a:cubicBezTo>
                  <a:pt x="112653" y="0"/>
                  <a:pt x="117175" y="0"/>
                  <a:pt x="119965" y="2789"/>
                </a:cubicBezTo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43012" y="2764631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核心业务 API 全部完成</a:t>
            </a:r>
          </a:p>
        </p:txBody>
      </p:sp>
      <p:sp>
        <p:nvSpPr>
          <p:cNvPr id="15" name="Freeform 15"/>
          <p:cNvSpPr/>
          <p:nvPr/>
        </p:nvSpPr>
        <p:spPr>
          <a:xfrm>
            <a:off x="6286500" y="952500"/>
            <a:ext cx="5334000" cy="2190750"/>
          </a:xfrm>
          <a:custGeom>
            <a:avLst/>
            <a:gdLst/>
            <a:ahLst/>
            <a:cxnLst/>
            <a:rect l="l" t="t" r="r" b="b"/>
            <a:pathLst>
              <a:path w="5334000" h="2190750">
                <a:moveTo>
                  <a:pt x="152400" y="0"/>
                </a:moveTo>
                <a:lnTo>
                  <a:pt x="5181600" y="0"/>
                </a:lnTo>
                <a:cubicBezTo>
                  <a:pt x="5265768" y="0"/>
                  <a:pt x="5334000" y="68232"/>
                  <a:pt x="5334000" y="152400"/>
                </a:cubicBezTo>
                <a:lnTo>
                  <a:pt x="5334000" y="2038350"/>
                </a:lnTo>
                <a:cubicBezTo>
                  <a:pt x="5334000" y="2122518"/>
                  <a:pt x="5265768" y="2190750"/>
                  <a:pt x="5181600" y="2190750"/>
                </a:cubicBezTo>
                <a:lnTo>
                  <a:pt x="152400" y="2190750"/>
                </a:lnTo>
                <a:cubicBezTo>
                  <a:pt x="68232" y="2190750"/>
                  <a:pt x="0" y="2122518"/>
                  <a:pt x="0" y="2038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16" name="Freeform 16"/>
          <p:cNvSpPr/>
          <p:nvPr/>
        </p:nvSpPr>
        <p:spPr>
          <a:xfrm>
            <a:off x="6438900" y="1143000"/>
            <a:ext cx="57150" cy="666750"/>
          </a:xfrm>
          <a:custGeom>
            <a:avLst/>
            <a:gdLst/>
            <a:ahLst/>
            <a:cxnLst/>
            <a:rect l="l" t="t" r="r" b="b"/>
            <a:pathLst>
              <a:path w="57150" h="666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638175"/>
                </a:lnTo>
                <a:cubicBezTo>
                  <a:pt x="57150" y="653957"/>
                  <a:pt x="44357" y="666750"/>
                  <a:pt x="28575" y="666750"/>
                </a:cubicBezTo>
                <a:lnTo>
                  <a:pt x="28575" y="666750"/>
                </a:lnTo>
                <a:cubicBezTo>
                  <a:pt x="12793" y="666750"/>
                  <a:pt x="0" y="653957"/>
                  <a:pt x="0" y="638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650355" y="12639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管理后台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54165" y="1553528"/>
            <a:ext cx="15141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Vue 3 + Element Plus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06540" y="1958340"/>
            <a:ext cx="93162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99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64830" y="224980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%</a:t>
            </a:r>
          </a:p>
        </p:txBody>
      </p:sp>
      <p:sp>
        <p:nvSpPr>
          <p:cNvPr id="21" name="Freeform 21"/>
          <p:cNvSpPr/>
          <p:nvPr/>
        </p:nvSpPr>
        <p:spPr>
          <a:xfrm>
            <a:off x="6667500" y="271462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0"/>
                </a:moveTo>
                <a:lnTo>
                  <a:pt x="104775" y="0"/>
                </a:lnTo>
                <a:cubicBezTo>
                  <a:pt x="162641" y="0"/>
                  <a:pt x="209550" y="46909"/>
                  <a:pt x="209550" y="104775"/>
                </a:cubicBezTo>
                <a:lnTo>
                  <a:pt x="209550" y="104775"/>
                </a:lnTo>
                <a:cubicBezTo>
                  <a:pt x="209550" y="162641"/>
                  <a:pt x="162641" y="209550"/>
                  <a:pt x="1047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6714511" y="2775842"/>
            <a:ext cx="122754" cy="87116"/>
          </a:xfrm>
          <a:custGeom>
            <a:avLst/>
            <a:gdLst/>
            <a:ahLst/>
            <a:cxnLst/>
            <a:rect l="l" t="t" r="r" b="b"/>
            <a:pathLst>
              <a:path w="122754" h="87116">
                <a:moveTo>
                  <a:pt x="119965" y="2789"/>
                </a:moveTo>
                <a:cubicBezTo>
                  <a:pt x="122754" y="5578"/>
                  <a:pt x="122754" y="10100"/>
                  <a:pt x="119965" y="12890"/>
                </a:cubicBezTo>
                <a:lnTo>
                  <a:pt x="48527" y="84328"/>
                </a:lnTo>
                <a:cubicBezTo>
                  <a:pt x="45738" y="87116"/>
                  <a:pt x="41216" y="87116"/>
                  <a:pt x="38426" y="84328"/>
                </a:cubicBezTo>
                <a:lnTo>
                  <a:pt x="2707" y="48609"/>
                </a:lnTo>
                <a:cubicBezTo>
                  <a:pt x="0" y="45806"/>
                  <a:pt x="39" y="41350"/>
                  <a:pt x="2794" y="38595"/>
                </a:cubicBezTo>
                <a:cubicBezTo>
                  <a:pt x="5550" y="35839"/>
                  <a:pt x="10005" y="35800"/>
                  <a:pt x="12809" y="38508"/>
                </a:cubicBezTo>
                <a:lnTo>
                  <a:pt x="43477" y="69176"/>
                </a:lnTo>
                <a:lnTo>
                  <a:pt x="109864" y="2789"/>
                </a:lnTo>
                <a:cubicBezTo>
                  <a:pt x="112653" y="0"/>
                  <a:pt x="117175" y="0"/>
                  <a:pt x="119965" y="2789"/>
                </a:cubicBezTo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958012" y="2764631"/>
            <a:ext cx="16962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12 个管理页面全部完成</a:t>
            </a:r>
          </a:p>
        </p:txBody>
      </p:sp>
      <p:sp>
        <p:nvSpPr>
          <p:cNvPr id="24" name="Freeform 24"/>
          <p:cNvSpPr/>
          <p:nvPr/>
        </p:nvSpPr>
        <p:spPr>
          <a:xfrm>
            <a:off x="571500" y="3429000"/>
            <a:ext cx="5334000" cy="2190750"/>
          </a:xfrm>
          <a:custGeom>
            <a:avLst/>
            <a:gdLst/>
            <a:ahLst/>
            <a:cxnLst/>
            <a:rect l="l" t="t" r="r" b="b"/>
            <a:pathLst>
              <a:path w="5334000" h="2190750">
                <a:moveTo>
                  <a:pt x="152400" y="0"/>
                </a:moveTo>
                <a:lnTo>
                  <a:pt x="5181600" y="0"/>
                </a:lnTo>
                <a:cubicBezTo>
                  <a:pt x="5265768" y="0"/>
                  <a:pt x="5334000" y="68232"/>
                  <a:pt x="5334000" y="152400"/>
                </a:cubicBezTo>
                <a:lnTo>
                  <a:pt x="5334000" y="2038350"/>
                </a:lnTo>
                <a:cubicBezTo>
                  <a:pt x="5334000" y="2122518"/>
                  <a:pt x="5265768" y="2190750"/>
                  <a:pt x="5181600" y="2190750"/>
                </a:cubicBezTo>
                <a:lnTo>
                  <a:pt x="152400" y="2190750"/>
                </a:lnTo>
                <a:cubicBezTo>
                  <a:pt x="68232" y="2190750"/>
                  <a:pt x="0" y="2122518"/>
                  <a:pt x="0" y="2038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25" name="Freeform 25"/>
          <p:cNvSpPr/>
          <p:nvPr/>
        </p:nvSpPr>
        <p:spPr>
          <a:xfrm>
            <a:off x="723900" y="3619500"/>
            <a:ext cx="57150" cy="666750"/>
          </a:xfrm>
          <a:custGeom>
            <a:avLst/>
            <a:gdLst/>
            <a:ahLst/>
            <a:cxnLst/>
            <a:rect l="l" t="t" r="r" b="b"/>
            <a:pathLst>
              <a:path w="57150" h="666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638175"/>
                </a:lnTo>
                <a:cubicBezTo>
                  <a:pt x="57150" y="653957"/>
                  <a:pt x="44357" y="666750"/>
                  <a:pt x="28575" y="666750"/>
                </a:cubicBezTo>
                <a:lnTo>
                  <a:pt x="28575" y="666750"/>
                </a:lnTo>
                <a:cubicBezTo>
                  <a:pt x="12793" y="666750"/>
                  <a:pt x="0" y="653957"/>
                  <a:pt x="0" y="638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35355" y="374046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微信小程序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9165" y="4030028"/>
            <a:ext cx="11384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uni-app + Vue 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1540" y="4434840"/>
            <a:ext cx="93162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96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49830" y="472630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%</a:t>
            </a:r>
          </a:p>
        </p:txBody>
      </p:sp>
      <p:sp>
        <p:nvSpPr>
          <p:cNvPr id="30" name="Freeform 30"/>
          <p:cNvSpPr/>
          <p:nvPr/>
        </p:nvSpPr>
        <p:spPr>
          <a:xfrm>
            <a:off x="952500" y="519112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0"/>
                </a:moveTo>
                <a:lnTo>
                  <a:pt x="104775" y="0"/>
                </a:lnTo>
                <a:cubicBezTo>
                  <a:pt x="162641" y="0"/>
                  <a:pt x="209550" y="46909"/>
                  <a:pt x="209550" y="104775"/>
                </a:cubicBezTo>
                <a:lnTo>
                  <a:pt x="209550" y="104775"/>
                </a:lnTo>
                <a:cubicBezTo>
                  <a:pt x="209550" y="162641"/>
                  <a:pt x="162641" y="209550"/>
                  <a:pt x="1047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999511" y="5252342"/>
            <a:ext cx="122754" cy="87116"/>
          </a:xfrm>
          <a:custGeom>
            <a:avLst/>
            <a:gdLst/>
            <a:ahLst/>
            <a:cxnLst/>
            <a:rect l="l" t="t" r="r" b="b"/>
            <a:pathLst>
              <a:path w="122754" h="87116">
                <a:moveTo>
                  <a:pt x="119965" y="2789"/>
                </a:moveTo>
                <a:cubicBezTo>
                  <a:pt x="122754" y="5578"/>
                  <a:pt x="122754" y="10100"/>
                  <a:pt x="119965" y="12890"/>
                </a:cubicBezTo>
                <a:lnTo>
                  <a:pt x="48527" y="84328"/>
                </a:lnTo>
                <a:cubicBezTo>
                  <a:pt x="45738" y="87116"/>
                  <a:pt x="41216" y="87116"/>
                  <a:pt x="38426" y="84328"/>
                </a:cubicBezTo>
                <a:lnTo>
                  <a:pt x="2707" y="48609"/>
                </a:lnTo>
                <a:cubicBezTo>
                  <a:pt x="0" y="45806"/>
                  <a:pt x="39" y="41350"/>
                  <a:pt x="2794" y="38595"/>
                </a:cubicBezTo>
                <a:cubicBezTo>
                  <a:pt x="5550" y="35839"/>
                  <a:pt x="10005" y="35800"/>
                  <a:pt x="12809" y="38508"/>
                </a:cubicBezTo>
                <a:lnTo>
                  <a:pt x="43477" y="69176"/>
                </a:lnTo>
                <a:lnTo>
                  <a:pt x="109864" y="2789"/>
                </a:lnTo>
                <a:cubicBezTo>
                  <a:pt x="112653" y="0"/>
                  <a:pt x="117175" y="0"/>
                  <a:pt x="119965" y="2789"/>
                </a:cubicBezTo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243012" y="5241131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核心业务流程全部完成</a:t>
            </a:r>
          </a:p>
        </p:txBody>
      </p:sp>
      <p:sp>
        <p:nvSpPr>
          <p:cNvPr id="33" name="Freeform 33"/>
          <p:cNvSpPr/>
          <p:nvPr/>
        </p:nvSpPr>
        <p:spPr>
          <a:xfrm>
            <a:off x="6286500" y="3429000"/>
            <a:ext cx="5334000" cy="2190750"/>
          </a:xfrm>
          <a:custGeom>
            <a:avLst/>
            <a:gdLst/>
            <a:ahLst/>
            <a:cxnLst/>
            <a:rect l="l" t="t" r="r" b="b"/>
            <a:pathLst>
              <a:path w="5334000" h="2190750">
                <a:moveTo>
                  <a:pt x="152400" y="0"/>
                </a:moveTo>
                <a:lnTo>
                  <a:pt x="5181600" y="0"/>
                </a:lnTo>
                <a:cubicBezTo>
                  <a:pt x="5265768" y="0"/>
                  <a:pt x="5334000" y="68232"/>
                  <a:pt x="5334000" y="152400"/>
                </a:cubicBezTo>
                <a:lnTo>
                  <a:pt x="5334000" y="2038350"/>
                </a:lnTo>
                <a:cubicBezTo>
                  <a:pt x="5334000" y="2122518"/>
                  <a:pt x="5265768" y="2190750"/>
                  <a:pt x="5181600" y="2190750"/>
                </a:cubicBezTo>
                <a:lnTo>
                  <a:pt x="152400" y="2190750"/>
                </a:lnTo>
                <a:cubicBezTo>
                  <a:pt x="68232" y="2190750"/>
                  <a:pt x="0" y="2122518"/>
                  <a:pt x="0" y="2038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34" name="Freeform 34"/>
          <p:cNvSpPr/>
          <p:nvPr/>
        </p:nvSpPr>
        <p:spPr>
          <a:xfrm>
            <a:off x="6438900" y="3619500"/>
            <a:ext cx="57150" cy="666750"/>
          </a:xfrm>
          <a:custGeom>
            <a:avLst/>
            <a:gdLst/>
            <a:ahLst/>
            <a:cxnLst/>
            <a:rect l="l" t="t" r="r" b="b"/>
            <a:pathLst>
              <a:path w="57150" h="666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638175"/>
                </a:lnTo>
                <a:cubicBezTo>
                  <a:pt x="57150" y="653957"/>
                  <a:pt x="44357" y="666750"/>
                  <a:pt x="28575" y="666750"/>
                </a:cubicBezTo>
                <a:lnTo>
                  <a:pt x="28575" y="666750"/>
                </a:lnTo>
                <a:cubicBezTo>
                  <a:pt x="12793" y="666750"/>
                  <a:pt x="0" y="653957"/>
                  <a:pt x="0" y="638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650355" y="37404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核心功能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165" y="403002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全栈完整交付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06540" y="4434840"/>
            <a:ext cx="93162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021955" y="4726305"/>
            <a:ext cx="6491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+ 项</a:t>
            </a:r>
          </a:p>
        </p:txBody>
      </p:sp>
      <p:sp>
        <p:nvSpPr>
          <p:cNvPr id="39" name="Freeform 39"/>
          <p:cNvSpPr/>
          <p:nvPr/>
        </p:nvSpPr>
        <p:spPr>
          <a:xfrm>
            <a:off x="6667500" y="519112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0"/>
                </a:moveTo>
                <a:lnTo>
                  <a:pt x="104775" y="0"/>
                </a:lnTo>
                <a:cubicBezTo>
                  <a:pt x="162641" y="0"/>
                  <a:pt x="209550" y="46909"/>
                  <a:pt x="209550" y="104775"/>
                </a:cubicBezTo>
                <a:lnTo>
                  <a:pt x="209550" y="104775"/>
                </a:lnTo>
                <a:cubicBezTo>
                  <a:pt x="209550" y="162641"/>
                  <a:pt x="162641" y="209550"/>
                  <a:pt x="1047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6714511" y="5252342"/>
            <a:ext cx="122754" cy="87116"/>
          </a:xfrm>
          <a:custGeom>
            <a:avLst/>
            <a:gdLst/>
            <a:ahLst/>
            <a:cxnLst/>
            <a:rect l="l" t="t" r="r" b="b"/>
            <a:pathLst>
              <a:path w="122754" h="87116">
                <a:moveTo>
                  <a:pt x="119965" y="2789"/>
                </a:moveTo>
                <a:cubicBezTo>
                  <a:pt x="122754" y="5578"/>
                  <a:pt x="122754" y="10100"/>
                  <a:pt x="119965" y="12890"/>
                </a:cubicBezTo>
                <a:lnTo>
                  <a:pt x="48527" y="84328"/>
                </a:lnTo>
                <a:cubicBezTo>
                  <a:pt x="45738" y="87116"/>
                  <a:pt x="41216" y="87116"/>
                  <a:pt x="38426" y="84328"/>
                </a:cubicBezTo>
                <a:lnTo>
                  <a:pt x="2707" y="48609"/>
                </a:lnTo>
                <a:cubicBezTo>
                  <a:pt x="0" y="45806"/>
                  <a:pt x="39" y="41350"/>
                  <a:pt x="2794" y="38595"/>
                </a:cubicBezTo>
                <a:cubicBezTo>
                  <a:pt x="5550" y="35839"/>
                  <a:pt x="10005" y="35800"/>
                  <a:pt x="12809" y="38508"/>
                </a:cubicBezTo>
                <a:lnTo>
                  <a:pt x="43477" y="69176"/>
                </a:lnTo>
                <a:lnTo>
                  <a:pt x="109864" y="2789"/>
                </a:lnTo>
                <a:cubicBezTo>
                  <a:pt x="112653" y="0"/>
                  <a:pt x="117175" y="0"/>
                  <a:pt x="119965" y="2789"/>
                </a:cubicBezTo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958012" y="5241131"/>
            <a:ext cx="2296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登录/认证/商品/IM/订单/评价</a:t>
            </a:r>
          </a:p>
        </p:txBody>
      </p:sp>
      <p:sp>
        <p:nvSpPr>
          <p:cNvPr id="42" name="Line 42"/>
          <p:cNvSpPr/>
          <p:nvPr/>
        </p:nvSpPr>
        <p:spPr>
          <a:xfrm>
            <a:off x="571500" y="5810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2781490" y="6014085"/>
            <a:ext cx="66290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登录注册 | 校园认证 | 商品管理 | IM 通讯 | 订单交易 | 评价系统 | 举报处理 | 后台管理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904172" y="6299835"/>
            <a:ext cx="63836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A5A7A"/>
                </a:solidFill>
                <a:latin typeface="Arial"/>
                <a:ea typeface="Microsoft YaHei"/>
                <a:cs typeface="Arial"/>
              </a:rPr>
              <a:t>WebSocket 自建 IM | Redis 分布式锁 | 定时任务 | 多级缓存 | JWT 认证 | 数据统计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920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09 / 10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6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6F00">
                  <a:alpha val="10000"/>
                </a:srgbClr>
              </a:gs>
              <a:gs pos="100000">
                <a:srgbClr val="FF6F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2667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6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0" y="4191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6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737866" y="2659380"/>
            <a:ext cx="671626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感谢各位老师的指导与聆听</a:t>
            </a:r>
          </a:p>
        </p:txBody>
      </p:sp>
      <p:sp>
        <p:nvSpPr>
          <p:cNvPr id="8" name="Line 8"/>
          <p:cNvSpPr/>
          <p:nvPr/>
        </p:nvSpPr>
        <p:spPr>
          <a:xfrm>
            <a:off x="4667250" y="34290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>
            <a:solidFill>
              <a:srgbClr val="FF6F0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647146" y="3727132"/>
            <a:ext cx="489770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>
                    <a:alpha val="80000"/>
                  </a:srgbClr>
                </a:solidFill>
                <a:latin typeface="Arial"/>
                <a:ea typeface="Microsoft YaHei"/>
                <a:cs typeface="Arial"/>
              </a:rPr>
              <a:t>轻院二手交易平台 — 校园二手交易微信小程序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47294" y="4331018"/>
            <a:ext cx="32974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广东轻工职业技术大学 | 2026 年 5 月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953750" y="61912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>
            <a:srgbClr val="FF6F00">
              <a:alpha val="12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476250" y="6286500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238125" y="0"/>
                </a:moveTo>
                <a:lnTo>
                  <a:pt x="238125" y="0"/>
                </a:lnTo>
                <a:cubicBezTo>
                  <a:pt x="369638" y="0"/>
                  <a:pt x="476250" y="106612"/>
                  <a:pt x="476250" y="238125"/>
                </a:cubicBezTo>
                <a:lnTo>
                  <a:pt x="476250" y="238125"/>
                </a:lnTo>
                <a:cubicBezTo>
                  <a:pt x="476250" y="369638"/>
                  <a:pt x="369638" y="476250"/>
                  <a:pt x="238125" y="476250"/>
                </a:cubicBezTo>
                <a:lnTo>
                  <a:pt x="238125" y="476250"/>
                </a:lnTo>
                <a:cubicBezTo>
                  <a:pt x="106612" y="476250"/>
                  <a:pt x="0" y="369638"/>
                  <a:pt x="0" y="23812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>
            <a:srgbClr val="FFFFFF">
              <a:alpha val="4000"/>
            </a:srgbClr>
          </a:solidFill>
          <a:ln>
            <a:noFill/>
          </a:ln>
        </p:spPr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